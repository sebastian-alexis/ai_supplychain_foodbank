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 nothing</c:v>
                </c:pt>
              </c:strCache>
            </c:strRef>
          </c:tx>
          <c:spPr>
            <a:solidFill>
              <a:srgbClr val="64757A"/>
            </a:solidFill>
            <a:effectLst/>
          </c:spPr>
          <c:invertIfNegative val="0"/>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cat>
            <c:multiLvlStrRef>
              <c:f>Sheet1!$A$2:$A$3</c:f>
              <c:multiLvlStrCache>
                <c:ptCount val="2"/>
                <c:lvl>
                  <c:pt idx="0">
                    <c:v>Served</c:v>
                  </c:pt>
                  <c:pt idx="1">
                    <c:v>Unmet</c:v>
                  </c:pt>
                </c:lvl>
              </c:multiLvlStrCache>
            </c:multiLvlStrRef>
          </c:cat>
          <c:val>
            <c:numRef>
              <c:f>Sheet1!$B$2:$B$3</c:f>
              <c:numCache>
                <c:formatCode>General</c:formatCode>
                <c:ptCount val="2"/>
                <c:pt idx="0">
                  <c:v>10122.5</c:v>
                </c:pt>
                <c:pt idx="1">
                  <c:v>2477.5</c:v>
                </c:pt>
              </c:numCache>
            </c:numRef>
          </c:val>
        </c:ser>
        <c:ser>
          <c:idx val="1"/>
          <c:order val="1"/>
          <c:tx>
            <c:strRef>
              <c:f>Sheet1!$C$1</c:f>
              <c:strCache>
                <c:ptCount val="1"/>
                <c:pt idx="0">
                  <c:v>Recommended</c:v>
                </c:pt>
              </c:strCache>
            </c:strRef>
          </c:tx>
          <c:spPr>
            <a:solidFill>
              <a:srgbClr val="1D6B62"/>
            </a:solidFill>
            <a:effectLst/>
          </c:spPr>
          <c:invertIfNegative val="0"/>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cat>
            <c:multiLvlStrRef>
              <c:f>Sheet1!$A$2:$A$3</c:f>
              <c:multiLvlStrCache>
                <c:ptCount val="2"/>
                <c:lvl>
                  <c:pt idx="0">
                    <c:v>Served</c:v>
                  </c:pt>
                  <c:pt idx="1">
                    <c:v>Unmet</c:v>
                  </c:pt>
                </c:lvl>
              </c:multiLvlStrCache>
            </c:multiLvlStrRef>
          </c:cat>
          <c:val>
            <c:numRef>
              <c:f>Sheet1!$C$2:$C$3</c:f>
              <c:numCache>
                <c:formatCode>General</c:formatCode>
                <c:ptCount val="2"/>
                <c:pt idx="0">
                  <c:v>11922.5</c:v>
                </c:pt>
                <c:pt idx="1">
                  <c:v>677.5</c:v>
                </c:pt>
              </c:numCache>
            </c:numRef>
          </c:val>
        </c:ser>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3000"/>
          <c:min val="0"/>
        </c:scaling>
        <c:delete val="0"/>
        <c:axPos val="l"/>
        <c:majorGridlines>
          <c:spPr>
            <a:ln w="12700" cap="flat">
              <a:solidFill>
                <a:srgbClr val="88888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250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FoodShock is a decision-support command center for food-bank recall response. The core promise is not autonomous execution: it is faster, traceable analysis ending at a human approval gate. All operational data in this demonstration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public-record counts are evidence of volume, not a claim about food-bank-specific incident frequency. The network scale comes from the SF-Marin Food Bank annual report and illustrates why perishable inventory and distributed pantry demand complicate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is not summarization. It is a relational join across notice fields and operational records, followed by constrained recovery planning. FoodShock makes each join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boundary is deliberate: language-model output cannot directly mutate inventory or approve a plan. Approval revalidates plan identity, payload integrity, and hard constraints inside the state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not a mockup. It is the public Streamlit deployment. Verbatim excerpts remain alongside structured fields so a reviewer can challenge extraction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plan adds 1,800 pounds served, cuts unmet demand by the same amount, raises the worst pantry fill rate by 21.8 percentage points, and eliminates 180 disrupted boxes for 990 dollars. The runtime is a measured software run; the manual-time comparator remains hypothetical and is intentionally excluded from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is idempotent, rejects unknown or stale plans, revalidates plan lines, and re-checks hard constraints. Communications are scoped to implicated lot IDs instead of broadcasting generic recall language to unaffected recipients.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does not report extraction accuracy because a valid Anthropic credential was unavailable. The gold set and scorer are committed so the run can be reproduced once access exists. The operational results are also explicitly synthetic and not operator-validated.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next step is a bounded shadow pilot. The goal is to validate the workflow and evidence loop with operators before making impact claims. The public demo and source code are available from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ODSHOCK">
    <p:bg>
      <p:bgPr>
        <a:solidFill>
          <a:srgbClr val="F4F0E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Text 1"/>
          <p:cNvSpPr/>
          <p:nvPr/>
        </p:nvSpPr>
        <p:spPr>
          <a:xfrm>
            <a:off x="621792" y="256032"/>
            <a:ext cx="347472" cy="274320"/>
          </a:xfrm>
          <a:prstGeom prst="rect">
            <a:avLst/>
          </a:prstGeom>
          <a:solidFill>
            <a:srgbClr val="143B37"/>
          </a:solidFill>
          <a:ln/>
        </p:spPr>
        <p:txBody>
          <a:bodyPr wrap="square" lIns="0" tIns="0" rIns="0" bIns="0" rtlCol="0" anchor="ctr"/>
          <a:lstStyle/>
          <a:p>
            <a:pPr algn="ctr" indent="0" marL="0">
              <a:buNone/>
            </a:pPr>
            <a:r>
              <a:rPr lang="en-US" sz="1000" b="1" dirty="0">
                <a:solidFill>
                  <a:srgbClr val="FFFDF8"/>
                </a:solidFill>
                <a:latin typeface="Aptos" pitchFamily="34" charset="0"/>
                <a:ea typeface="Aptos" pitchFamily="34" charset="-122"/>
                <a:cs typeface="Aptos" pitchFamily="34" charset="-120"/>
              </a:rPr>
              <a:t>FS</a:t>
            </a:r>
            <a:endParaRPr lang="en-US" sz="1000" dirty="0"/>
          </a:p>
        </p:txBody>
      </p:sp>
      <p:sp>
        <p:nvSpPr>
          <p:cNvPr id="4" name="Text 2"/>
          <p:cNvSpPr/>
          <p:nvPr/>
        </p:nvSpPr>
        <p:spPr>
          <a:xfrm>
            <a:off x="1033272" y="237744"/>
            <a:ext cx="1143000" cy="292608"/>
          </a:xfrm>
          <a:prstGeom prst="rect">
            <a:avLst/>
          </a:prstGeom>
          <a:noFill/>
          <a:ln/>
        </p:spPr>
        <p:txBody>
          <a:bodyPr wrap="square" lIns="0" tIns="0" rIns="0" bIns="0" rtlCol="0" anchor="ctr"/>
          <a:lstStyle/>
          <a:p>
            <a:pPr indent="0" marL="0">
              <a:buNone/>
            </a:pPr>
            <a:r>
              <a:rPr lang="en-US" sz="1100" b="1" dirty="0">
                <a:solidFill>
                  <a:srgbClr val="143B37"/>
                </a:solidFill>
                <a:latin typeface="Aptos" pitchFamily="34" charset="0"/>
                <a:ea typeface="Aptos" pitchFamily="34" charset="-122"/>
                <a:cs typeface="Aptos" pitchFamily="34" charset="-120"/>
              </a:rPr>
              <a:t>FoodShock</a:t>
            </a:r>
            <a:endParaRPr lang="en-US" sz="110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foodshock.sebastianalexi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pi.fda.gov/food/enforcement.json?search=recall_initiation_date:%5B20240101%2BTO%2B20241231%5D&amp;count=event_id&amp;limit=1000" TargetMode="External"/><Relationship Id="rId2" Type="http://schemas.openxmlformats.org/officeDocument/2006/relationships/hyperlink" Target="https://www.fsis.usda.gov/fsis/api/recall/v/1" TargetMode="External"/><Relationship Id="rId3" Type="http://schemas.openxmlformats.org/officeDocument/2006/relationships/hyperlink" Target="https://www.cdc.gov/ecoli/outbreaks/e-coli-O157.html" TargetMode="External"/><Relationship Id="rId4" Type="http://schemas.openxmlformats.org/officeDocument/2006/relationships/hyperlink" Target="https://www.sfmfoodbank.org/annual-report-2023-2024/" TargetMode="External"/><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rifoodbank.org/wp-content/uploads/2023/06/Food-Safety-Recall-Process-doc.pdf" TargetMode="External"/><Relationship Id="rId2" Type="http://schemas.openxmlformats.org/officeDocument/2006/relationships/hyperlink" Target="https://mannafoodbank.org/agency-access-and-information/product-recalls/" TargetMode="Externa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Sebastian-Alexis/ai_supplychain_foodbank#readme" TargetMode="External"/><Relationship Id="rId2" Type="http://schemas.openxmlformats.org/officeDocument/2006/relationships/hyperlink" Target="https://github.com/Sebastian-Alexis/ai_supplychain_foodbank/blob/main/foodshock/engine.py" TargetMode="Externa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foodshock.sebastianalexis.com" TargetMode="External"/><Relationship Id="rId3" Type="http://schemas.openxmlformats.org/officeDocument/2006/relationships/hyperlink" Target="https://github.com/Sebastian-Alexis/ai_supplychain_foodbank/blob/main/foodshock/extraction.py" TargetMode="External"/><Relationship Id="rId1" Type="http://schemas.openxmlformats.org/officeDocument/2006/relationships/image" Target="../media/image-5-1.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Sebastian-Alexis/ai_supplychain_foodbank/blob/main/foodshock/demo.py" TargetMode="External"/><Relationship Id="rId3" Type="http://schemas.openxmlformats.org/officeDocument/2006/relationships/hyperlink" Target="https://github.com/Sebastian-Alexis/ai_supplychain_foodbank/tree/main/data" TargetMode="External"/><Relationship Id="rId1" Type="http://schemas.openxmlformats.org/officeDocument/2006/relationships/chart" Target="/ppt/charts/chart1.xm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foodshock.sebastianalexis.com" TargetMode="External"/><Relationship Id="rId3" Type="http://schemas.openxmlformats.org/officeDocument/2006/relationships/hyperlink" Target="https://github.com/Sebastian-Alexis/ai_supplychain_foodbank/blob/main/tests/test_agent.py" TargetMode="External"/><Relationship Id="rId1" Type="http://schemas.openxmlformats.org/officeDocument/2006/relationships/image" Target="../media/image-7-1.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Sebastian-Alexis/ai_supplychain_foodbank/blob/main/data/eval/gold.json" TargetMode="External"/><Relationship Id="rId2" Type="http://schemas.openxmlformats.org/officeDocument/2006/relationships/hyperlink" Target="https://github.com/Sebastian-Alexis/ai_supplychain_foodbank/blob/main/foodshock/eval_extraction.py" TargetMode="External"/><Relationship Id="rId3" Type="http://schemas.openxmlformats.org/officeDocument/2006/relationships/hyperlink" Target="https://github.com/Sebastian-Alexis/ai_supplychain_foodbank/tree/main/tests"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foodshock.sebastianalexis.com" TargetMode="External"/><Relationship Id="rId3" Type="http://schemas.openxmlformats.org/officeDocument/2006/relationships/hyperlink" Target="https://foodshock.sebastianalexis.com" TargetMode="External"/><Relationship Id="rId4" Type="http://schemas.openxmlformats.org/officeDocument/2006/relationships/hyperlink" Target="https://github.com/Sebastian-Alexis/ai_supplychain_foodbank" TargetMode="External"/><Relationship Id="rId5" Type="http://schemas.openxmlformats.org/officeDocument/2006/relationships/hyperlink" Target="https://api.fda.gov/food/enforcement.json" TargetMode="External"/><Relationship Id="rId6" Type="http://schemas.openxmlformats.org/officeDocument/2006/relationships/hyperlink" Target="https://www.fsis.usda.gov/recalls" TargetMode="External"/><Relationship Id="rId7" Type="http://schemas.openxmlformats.org/officeDocument/2006/relationships/hyperlink" Target="https://www.cdc.gov/ecoli/outbreaks/e-coli-O157.html" TargetMode="External"/><Relationship Id="rId8" Type="http://schemas.openxmlformats.org/officeDocument/2006/relationships/hyperlink" Target="https://www.sfmfoodbank.org/annual-report-2023-2024/" TargetMode="External"/><Relationship Id="rId9" Type="http://schemas.openxmlformats.org/officeDocument/2006/relationships/hyperlink" Target="https://rifoodbank.org/wp-content/uploads/2023/06/Food-Safety-Recall-Process-doc.pdf" TargetMode="External"/><Relationship Id="rId1" Type="http://schemas.openxmlformats.org/officeDocument/2006/relationships/image" Target="../media/image-9-1.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B37"/>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Shape 1"/>
          <p:cNvSpPr/>
          <p:nvPr/>
        </p:nvSpPr>
        <p:spPr>
          <a:xfrm>
            <a:off x="7269480" y="0"/>
            <a:ext cx="4919472" cy="6858000"/>
          </a:xfrm>
          <a:prstGeom prst="rect">
            <a:avLst/>
          </a:prstGeom>
          <a:solidFill>
            <a:srgbClr val="0E302D"/>
          </a:solidFill>
          <a:ln w="12700">
            <a:solidFill>
              <a:srgbClr val="0E302D"/>
            </a:solidFill>
            <a:prstDash val="solid"/>
          </a:ln>
        </p:spPr>
      </p:sp>
      <p:sp>
        <p:nvSpPr>
          <p:cNvPr id="4" name="Shape 2"/>
          <p:cNvSpPr/>
          <p:nvPr/>
        </p:nvSpPr>
        <p:spPr>
          <a:xfrm>
            <a:off x="658368" y="548640"/>
            <a:ext cx="438912" cy="438912"/>
          </a:xfrm>
          <a:prstGeom prst="rect">
            <a:avLst/>
          </a:prstGeom>
          <a:solidFill>
            <a:srgbClr val="FFFDF8">
              <a:alpha val="0"/>
            </a:srgbClr>
          </a:solidFill>
          <a:ln w="12700">
            <a:solidFill>
              <a:srgbClr val="FFFDF8"/>
            </a:solidFill>
            <a:prstDash val="solid"/>
          </a:ln>
        </p:spPr>
      </p:sp>
      <p:sp>
        <p:nvSpPr>
          <p:cNvPr id="5" name="Text 3"/>
          <p:cNvSpPr/>
          <p:nvPr/>
        </p:nvSpPr>
        <p:spPr>
          <a:xfrm>
            <a:off x="658368" y="594360"/>
            <a:ext cx="438912" cy="292608"/>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FS</a:t>
            </a:r>
            <a:endParaRPr lang="en-US" sz="1100" dirty="0"/>
          </a:p>
        </p:txBody>
      </p:sp>
      <p:sp>
        <p:nvSpPr>
          <p:cNvPr id="6" name="Text 4"/>
          <p:cNvSpPr/>
          <p:nvPr/>
        </p:nvSpPr>
        <p:spPr>
          <a:xfrm>
            <a:off x="1261872" y="576072"/>
            <a:ext cx="1645920" cy="329184"/>
          </a:xfrm>
          <a:prstGeom prst="rect">
            <a:avLst/>
          </a:prstGeom>
          <a:noFill/>
          <a:ln/>
        </p:spPr>
        <p:txBody>
          <a:bodyPr wrap="square" lIns="0" tIns="0" rIns="0" bIns="0" rtlCol="0" anchor="ctr">
            <a:normAutofit/>
          </a:bodyPr>
          <a:lstStyle/>
          <a:p>
            <a:pPr indent="0" marL="0">
              <a:buNone/>
            </a:pPr>
            <a:r>
              <a:rPr lang="en-US" sz="1500" b="1" dirty="0">
                <a:solidFill>
                  <a:srgbClr val="FFFDF8"/>
                </a:solidFill>
                <a:latin typeface="Aptos" pitchFamily="34" charset="0"/>
                <a:ea typeface="Aptos" pitchFamily="34" charset="-122"/>
                <a:cs typeface="Aptos" pitchFamily="34" charset="-120"/>
              </a:rPr>
              <a:t>FoodShock</a:t>
            </a:r>
            <a:endParaRPr lang="en-US" sz="1500" dirty="0"/>
          </a:p>
        </p:txBody>
      </p:sp>
      <p:sp>
        <p:nvSpPr>
          <p:cNvPr id="7" name="Text 5"/>
          <p:cNvSpPr/>
          <p:nvPr/>
        </p:nvSpPr>
        <p:spPr>
          <a:xfrm>
            <a:off x="658368" y="1417320"/>
            <a:ext cx="5303520" cy="274320"/>
          </a:xfrm>
          <a:prstGeom prst="rect">
            <a:avLst/>
          </a:prstGeom>
          <a:noFill/>
          <a:ln/>
        </p:spPr>
        <p:txBody>
          <a:bodyPr wrap="square" lIns="0" tIns="0" rIns="0" bIns="0" rtlCol="0" anchor="ctr">
            <a:normAutofit/>
          </a:bodyPr>
          <a:lstStyle/>
          <a:p>
            <a:pPr indent="0" marL="0">
              <a:buNone/>
            </a:pPr>
            <a:r>
              <a:rPr lang="en-US" sz="1050" b="1" spc="150" kern="0" dirty="0">
                <a:solidFill>
                  <a:srgbClr val="78B7A9"/>
                </a:solidFill>
                <a:latin typeface="Aptos" pitchFamily="34" charset="0"/>
                <a:ea typeface="Aptos" pitchFamily="34" charset="-122"/>
                <a:cs typeface="Aptos" pitchFamily="34" charset="-120"/>
              </a:rPr>
              <a:t>RECALL RESPONSE COMMAND CENTER</a:t>
            </a:r>
            <a:endParaRPr lang="en-US" sz="1050" dirty="0"/>
          </a:p>
        </p:txBody>
      </p:sp>
      <p:sp>
        <p:nvSpPr>
          <p:cNvPr id="8" name="Text 6"/>
          <p:cNvSpPr/>
          <p:nvPr/>
        </p:nvSpPr>
        <p:spPr>
          <a:xfrm>
            <a:off x="658368" y="1783080"/>
            <a:ext cx="6400800" cy="1298448"/>
          </a:xfrm>
          <a:prstGeom prst="rect">
            <a:avLst/>
          </a:prstGeom>
          <a:noFill/>
          <a:ln/>
        </p:spPr>
        <p:txBody>
          <a:bodyPr wrap="square" lIns="0" tIns="0" rIns="0" bIns="0" rtlCol="0" anchor="t">
            <a:normAutofit/>
          </a:bodyPr>
          <a:lstStyle/>
          <a:p>
            <a:pPr indent="0" marL="0">
              <a:buNone/>
            </a:pPr>
            <a:r>
              <a:rPr lang="en-US" sz="3700" b="1" dirty="0">
                <a:solidFill>
                  <a:srgbClr val="FFFDF8"/>
                </a:solidFill>
                <a:latin typeface="Aptos Display" pitchFamily="34" charset="0"/>
                <a:ea typeface="Aptos Display" pitchFamily="34" charset="-122"/>
                <a:cs typeface="Aptos Display" pitchFamily="34" charset="-120"/>
              </a:rPr>
              <a:t>From recall notice to</a:t>
            </a:r>
            <a:endParaRPr lang="en-US" sz="3700" dirty="0"/>
          </a:p>
          <a:p>
            <a:pPr indent="0" marL="0">
              <a:buNone/>
            </a:pPr>
            <a:r>
              <a:rPr lang="en-US" sz="3700" b="1" dirty="0">
                <a:solidFill>
                  <a:srgbClr val="FFFDF8"/>
                </a:solidFill>
                <a:latin typeface="Aptos Display" pitchFamily="34" charset="0"/>
                <a:ea typeface="Aptos Display" pitchFamily="34" charset="-122"/>
                <a:cs typeface="Aptos Display" pitchFamily="34" charset="-120"/>
              </a:rPr>
              <a:t>human-approved recovery plan.</a:t>
            </a:r>
            <a:endParaRPr lang="en-US" sz="3700" dirty="0"/>
          </a:p>
        </p:txBody>
      </p:sp>
      <p:sp>
        <p:nvSpPr>
          <p:cNvPr id="9" name="Text 7"/>
          <p:cNvSpPr/>
          <p:nvPr/>
        </p:nvSpPr>
        <p:spPr>
          <a:xfrm>
            <a:off x="658368" y="3456432"/>
            <a:ext cx="5989320" cy="914400"/>
          </a:xfrm>
          <a:prstGeom prst="rect">
            <a:avLst/>
          </a:prstGeom>
          <a:noFill/>
          <a:ln/>
        </p:spPr>
        <p:txBody>
          <a:bodyPr wrap="square" lIns="0" tIns="0" rIns="0" bIns="0" rtlCol="0" anchor="t">
            <a:normAutofit/>
          </a:bodyPr>
          <a:lstStyle/>
          <a:p>
            <a:pPr indent="0" marL="0">
              <a:buNone/>
            </a:pPr>
            <a:r>
              <a:rPr lang="en-US" sz="1800" dirty="0">
                <a:solidFill>
                  <a:srgbClr val="D7E7E1"/>
                </a:solidFill>
                <a:latin typeface="Aptos" pitchFamily="34" charset="0"/>
                <a:ea typeface="Aptos" pitchFamily="34" charset="-122"/>
                <a:cs typeface="Aptos" pitchFamily="34" charset="-120"/>
              </a:rPr>
              <a:t>Trace implicated lots and inbound orders, quantify seven-day supply risk, then optimize a feasible response before anything executes.</a:t>
            </a:r>
            <a:endParaRPr lang="en-US" sz="1800" dirty="0"/>
          </a:p>
        </p:txBody>
      </p:sp>
      <p:sp>
        <p:nvSpPr>
          <p:cNvPr id="10" name="Shape 8"/>
          <p:cNvSpPr/>
          <p:nvPr/>
        </p:nvSpPr>
        <p:spPr>
          <a:xfrm>
            <a:off x="7726680" y="1344168"/>
            <a:ext cx="621792" cy="621792"/>
          </a:xfrm>
          <a:prstGeom prst="ellipse">
            <a:avLst/>
          </a:prstGeom>
          <a:solidFill>
            <a:srgbClr val="1D6B62"/>
          </a:solidFill>
          <a:ln w="12700">
            <a:solidFill>
              <a:srgbClr val="FFFDF8">
                <a:alpha val="55000"/>
              </a:srgbClr>
            </a:solidFill>
            <a:prstDash val="solid"/>
          </a:ln>
        </p:spPr>
      </p:sp>
      <p:sp>
        <p:nvSpPr>
          <p:cNvPr id="11" name="Text 9"/>
          <p:cNvSpPr/>
          <p:nvPr/>
        </p:nvSpPr>
        <p:spPr>
          <a:xfrm>
            <a:off x="772668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2" name="Text 10"/>
          <p:cNvSpPr/>
          <p:nvPr/>
        </p:nvSpPr>
        <p:spPr>
          <a:xfrm>
            <a:off x="755294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NOTICE</a:t>
            </a:r>
            <a:endParaRPr lang="en-US" sz="1000" dirty="0"/>
          </a:p>
        </p:txBody>
      </p:sp>
      <p:sp>
        <p:nvSpPr>
          <p:cNvPr id="13" name="Text 11"/>
          <p:cNvSpPr/>
          <p:nvPr/>
        </p:nvSpPr>
        <p:spPr>
          <a:xfrm>
            <a:off x="749808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extract</a:t>
            </a:r>
            <a:endParaRPr lang="en-US" sz="850" dirty="0"/>
          </a:p>
        </p:txBody>
      </p:sp>
      <p:sp>
        <p:nvSpPr>
          <p:cNvPr id="14" name="Shape 12"/>
          <p:cNvSpPr/>
          <p:nvPr/>
        </p:nvSpPr>
        <p:spPr>
          <a:xfrm>
            <a:off x="8385048" y="1655064"/>
            <a:ext cx="310896" cy="0"/>
          </a:xfrm>
          <a:prstGeom prst="line">
            <a:avLst/>
          </a:prstGeom>
          <a:noFill/>
          <a:ln w="16510">
            <a:solidFill>
              <a:srgbClr val="78B7A9"/>
            </a:solidFill>
            <a:prstDash val="solid"/>
            <a:headEnd type="none"/>
            <a:tailEnd type="triangle"/>
          </a:ln>
        </p:spPr>
      </p:sp>
      <p:sp>
        <p:nvSpPr>
          <p:cNvPr id="15" name="Shape 13"/>
          <p:cNvSpPr/>
          <p:nvPr/>
        </p:nvSpPr>
        <p:spPr>
          <a:xfrm>
            <a:off x="8732520" y="1344168"/>
            <a:ext cx="621792" cy="621792"/>
          </a:xfrm>
          <a:prstGeom prst="ellipse">
            <a:avLst/>
          </a:prstGeom>
          <a:solidFill>
            <a:srgbClr val="1D6B62"/>
          </a:solidFill>
          <a:ln w="12700">
            <a:solidFill>
              <a:srgbClr val="FFFDF8">
                <a:alpha val="55000"/>
              </a:srgbClr>
            </a:solidFill>
            <a:prstDash val="solid"/>
          </a:ln>
        </p:spPr>
      </p:sp>
      <p:sp>
        <p:nvSpPr>
          <p:cNvPr id="16" name="Text 14"/>
          <p:cNvSpPr/>
          <p:nvPr/>
        </p:nvSpPr>
        <p:spPr>
          <a:xfrm>
            <a:off x="873252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7" name="Text 15"/>
          <p:cNvSpPr/>
          <p:nvPr/>
        </p:nvSpPr>
        <p:spPr>
          <a:xfrm>
            <a:off x="855878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TRACE</a:t>
            </a:r>
            <a:endParaRPr lang="en-US" sz="1000" dirty="0"/>
          </a:p>
        </p:txBody>
      </p:sp>
      <p:sp>
        <p:nvSpPr>
          <p:cNvPr id="18" name="Text 16"/>
          <p:cNvSpPr/>
          <p:nvPr/>
        </p:nvSpPr>
        <p:spPr>
          <a:xfrm>
            <a:off x="850392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lots + POs</a:t>
            </a:r>
            <a:endParaRPr lang="en-US" sz="850" dirty="0"/>
          </a:p>
        </p:txBody>
      </p:sp>
      <p:sp>
        <p:nvSpPr>
          <p:cNvPr id="19" name="Shape 17"/>
          <p:cNvSpPr/>
          <p:nvPr/>
        </p:nvSpPr>
        <p:spPr>
          <a:xfrm>
            <a:off x="9390888" y="1655064"/>
            <a:ext cx="310896" cy="0"/>
          </a:xfrm>
          <a:prstGeom prst="line">
            <a:avLst/>
          </a:prstGeom>
          <a:noFill/>
          <a:ln w="16510">
            <a:solidFill>
              <a:srgbClr val="78B7A9"/>
            </a:solidFill>
            <a:prstDash val="solid"/>
            <a:headEnd type="none"/>
            <a:tailEnd type="triangle"/>
          </a:ln>
        </p:spPr>
      </p:sp>
      <p:sp>
        <p:nvSpPr>
          <p:cNvPr id="20" name="Shape 18"/>
          <p:cNvSpPr/>
          <p:nvPr/>
        </p:nvSpPr>
        <p:spPr>
          <a:xfrm>
            <a:off x="9738360" y="1344168"/>
            <a:ext cx="621792" cy="621792"/>
          </a:xfrm>
          <a:prstGeom prst="ellipse">
            <a:avLst/>
          </a:prstGeom>
          <a:solidFill>
            <a:srgbClr val="1D6B62"/>
          </a:solidFill>
          <a:ln w="12700">
            <a:solidFill>
              <a:srgbClr val="FFFDF8">
                <a:alpha val="55000"/>
              </a:srgbClr>
            </a:solidFill>
            <a:prstDash val="solid"/>
          </a:ln>
        </p:spPr>
      </p:sp>
      <p:sp>
        <p:nvSpPr>
          <p:cNvPr id="21" name="Text 19"/>
          <p:cNvSpPr/>
          <p:nvPr/>
        </p:nvSpPr>
        <p:spPr>
          <a:xfrm>
            <a:off x="973836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2" name="Text 20"/>
          <p:cNvSpPr/>
          <p:nvPr/>
        </p:nvSpPr>
        <p:spPr>
          <a:xfrm>
            <a:off x="956462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REPLAN</a:t>
            </a:r>
            <a:endParaRPr lang="en-US" sz="1000" dirty="0"/>
          </a:p>
        </p:txBody>
      </p:sp>
      <p:sp>
        <p:nvSpPr>
          <p:cNvPr id="23" name="Text 21"/>
          <p:cNvSpPr/>
          <p:nvPr/>
        </p:nvSpPr>
        <p:spPr>
          <a:xfrm>
            <a:off x="950976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LP + FEFO</a:t>
            </a:r>
            <a:endParaRPr lang="en-US" sz="850" dirty="0"/>
          </a:p>
        </p:txBody>
      </p:sp>
      <p:sp>
        <p:nvSpPr>
          <p:cNvPr id="24" name="Shape 22"/>
          <p:cNvSpPr/>
          <p:nvPr/>
        </p:nvSpPr>
        <p:spPr>
          <a:xfrm>
            <a:off x="10396728" y="1655064"/>
            <a:ext cx="310896" cy="0"/>
          </a:xfrm>
          <a:prstGeom prst="line">
            <a:avLst/>
          </a:prstGeom>
          <a:noFill/>
          <a:ln w="16510">
            <a:solidFill>
              <a:srgbClr val="78B7A9"/>
            </a:solidFill>
            <a:prstDash val="solid"/>
            <a:headEnd type="none"/>
            <a:tailEnd type="triangle"/>
          </a:ln>
        </p:spPr>
      </p:sp>
      <p:sp>
        <p:nvSpPr>
          <p:cNvPr id="25" name="Shape 23"/>
          <p:cNvSpPr/>
          <p:nvPr/>
        </p:nvSpPr>
        <p:spPr>
          <a:xfrm>
            <a:off x="10744200" y="1344168"/>
            <a:ext cx="621792" cy="621792"/>
          </a:xfrm>
          <a:prstGeom prst="ellipse">
            <a:avLst/>
          </a:prstGeom>
          <a:solidFill>
            <a:srgbClr val="B94735"/>
          </a:solidFill>
          <a:ln w="12700">
            <a:solidFill>
              <a:srgbClr val="FFFDF8">
                <a:alpha val="55000"/>
              </a:srgbClr>
            </a:solidFill>
            <a:prstDash val="solid"/>
          </a:ln>
        </p:spPr>
      </p:sp>
      <p:sp>
        <p:nvSpPr>
          <p:cNvPr id="26" name="Text 24"/>
          <p:cNvSpPr/>
          <p:nvPr/>
        </p:nvSpPr>
        <p:spPr>
          <a:xfrm>
            <a:off x="1074420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7" name="Text 25"/>
          <p:cNvSpPr/>
          <p:nvPr/>
        </p:nvSpPr>
        <p:spPr>
          <a:xfrm>
            <a:off x="1057046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APPROVE</a:t>
            </a:r>
            <a:endParaRPr lang="en-US" sz="1000" dirty="0"/>
          </a:p>
        </p:txBody>
      </p:sp>
      <p:sp>
        <p:nvSpPr>
          <p:cNvPr id="28" name="Text 26"/>
          <p:cNvSpPr/>
          <p:nvPr/>
        </p:nvSpPr>
        <p:spPr>
          <a:xfrm>
            <a:off x="1051560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human gate</a:t>
            </a:r>
            <a:endParaRPr lang="en-US" sz="850" dirty="0"/>
          </a:p>
        </p:txBody>
      </p:sp>
      <p:sp>
        <p:nvSpPr>
          <p:cNvPr id="29" name="Shape 27"/>
          <p:cNvSpPr/>
          <p:nvPr/>
        </p:nvSpPr>
        <p:spPr>
          <a:xfrm>
            <a:off x="7726680" y="3246120"/>
            <a:ext cx="1188720" cy="1325880"/>
          </a:xfrm>
          <a:prstGeom prst="roundRect">
            <a:avLst>
              <a:gd name="adj" fmla="val 6154"/>
            </a:avLst>
          </a:prstGeom>
          <a:solidFill>
            <a:srgbClr val="FFFDF8"/>
          </a:solidFill>
          <a:ln w="12700">
            <a:solidFill>
              <a:srgbClr val="D9D2C2"/>
            </a:solidFill>
            <a:prstDash val="solid"/>
          </a:ln>
        </p:spPr>
      </p:sp>
      <p:sp>
        <p:nvSpPr>
          <p:cNvPr id="30" name="Shape 28"/>
          <p:cNvSpPr/>
          <p:nvPr/>
        </p:nvSpPr>
        <p:spPr>
          <a:xfrm>
            <a:off x="7726680" y="3246120"/>
            <a:ext cx="73152" cy="1325880"/>
          </a:xfrm>
          <a:prstGeom prst="rect">
            <a:avLst/>
          </a:prstGeom>
          <a:solidFill>
            <a:srgbClr val="78B7A9"/>
          </a:solidFill>
          <a:ln w="12700">
            <a:solidFill>
              <a:srgbClr val="78B7A9"/>
            </a:solidFill>
            <a:prstDash val="solid"/>
          </a:ln>
        </p:spPr>
      </p:sp>
      <p:sp>
        <p:nvSpPr>
          <p:cNvPr id="31" name="Text 29"/>
          <p:cNvSpPr/>
          <p:nvPr/>
        </p:nvSpPr>
        <p:spPr>
          <a:xfrm>
            <a:off x="79095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0.81s</a:t>
            </a:r>
            <a:endParaRPr lang="en-US" sz="2500" dirty="0"/>
          </a:p>
        </p:txBody>
      </p:sp>
      <p:sp>
        <p:nvSpPr>
          <p:cNvPr id="32" name="Text 30"/>
          <p:cNvSpPr/>
          <p:nvPr/>
        </p:nvSpPr>
        <p:spPr>
          <a:xfrm>
            <a:off x="79095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planning time</a:t>
            </a:r>
            <a:endParaRPr lang="en-US" sz="1050" dirty="0"/>
          </a:p>
        </p:txBody>
      </p:sp>
      <p:sp>
        <p:nvSpPr>
          <p:cNvPr id="33" name="Text 31"/>
          <p:cNvSpPr/>
          <p:nvPr/>
        </p:nvSpPr>
        <p:spPr>
          <a:xfrm>
            <a:off x="79095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latest seeded run</a:t>
            </a:r>
            <a:endParaRPr lang="en-US" sz="850" dirty="0"/>
          </a:p>
        </p:txBody>
      </p:sp>
      <p:sp>
        <p:nvSpPr>
          <p:cNvPr id="34" name="Shape 32"/>
          <p:cNvSpPr/>
          <p:nvPr/>
        </p:nvSpPr>
        <p:spPr>
          <a:xfrm>
            <a:off x="9098280" y="3246120"/>
            <a:ext cx="1188720" cy="1325880"/>
          </a:xfrm>
          <a:prstGeom prst="roundRect">
            <a:avLst>
              <a:gd name="adj" fmla="val 6154"/>
            </a:avLst>
          </a:prstGeom>
          <a:solidFill>
            <a:srgbClr val="FFFDF8"/>
          </a:solidFill>
          <a:ln w="12700">
            <a:solidFill>
              <a:srgbClr val="D9D2C2"/>
            </a:solidFill>
            <a:prstDash val="solid"/>
          </a:ln>
        </p:spPr>
      </p:sp>
      <p:sp>
        <p:nvSpPr>
          <p:cNvPr id="35" name="Shape 33"/>
          <p:cNvSpPr/>
          <p:nvPr/>
        </p:nvSpPr>
        <p:spPr>
          <a:xfrm>
            <a:off x="9098280" y="3246120"/>
            <a:ext cx="73152" cy="1325880"/>
          </a:xfrm>
          <a:prstGeom prst="rect">
            <a:avLst/>
          </a:prstGeom>
          <a:solidFill>
            <a:srgbClr val="B94735"/>
          </a:solidFill>
          <a:ln w="12700">
            <a:solidFill>
              <a:srgbClr val="B94735"/>
            </a:solidFill>
            <a:prstDash val="solid"/>
          </a:ln>
        </p:spPr>
      </p:sp>
      <p:sp>
        <p:nvSpPr>
          <p:cNvPr id="36" name="Text 34"/>
          <p:cNvSpPr/>
          <p:nvPr/>
        </p:nvSpPr>
        <p:spPr>
          <a:xfrm>
            <a:off x="92811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+1,800</a:t>
            </a:r>
            <a:endParaRPr lang="en-US" sz="2500" dirty="0"/>
          </a:p>
        </p:txBody>
      </p:sp>
      <p:sp>
        <p:nvSpPr>
          <p:cNvPr id="37" name="Text 35"/>
          <p:cNvSpPr/>
          <p:nvPr/>
        </p:nvSpPr>
        <p:spPr>
          <a:xfrm>
            <a:off x="92811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lb served</a:t>
            </a:r>
            <a:endParaRPr lang="en-US" sz="1050" dirty="0"/>
          </a:p>
        </p:txBody>
      </p:sp>
      <p:sp>
        <p:nvSpPr>
          <p:cNvPr id="38" name="Text 36"/>
          <p:cNvSpPr/>
          <p:nvPr/>
        </p:nvSpPr>
        <p:spPr>
          <a:xfrm>
            <a:off x="92811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vs baseline</a:t>
            </a:r>
            <a:endParaRPr lang="en-US" sz="850" dirty="0"/>
          </a:p>
        </p:txBody>
      </p:sp>
      <p:sp>
        <p:nvSpPr>
          <p:cNvPr id="39" name="Shape 37"/>
          <p:cNvSpPr/>
          <p:nvPr/>
        </p:nvSpPr>
        <p:spPr>
          <a:xfrm>
            <a:off x="10469880" y="3246120"/>
            <a:ext cx="1188720" cy="1325880"/>
          </a:xfrm>
          <a:prstGeom prst="roundRect">
            <a:avLst>
              <a:gd name="adj" fmla="val 6154"/>
            </a:avLst>
          </a:prstGeom>
          <a:solidFill>
            <a:srgbClr val="FFFDF8"/>
          </a:solidFill>
          <a:ln w="12700">
            <a:solidFill>
              <a:srgbClr val="D9D2C2"/>
            </a:solidFill>
            <a:prstDash val="solid"/>
          </a:ln>
        </p:spPr>
      </p:sp>
      <p:sp>
        <p:nvSpPr>
          <p:cNvPr id="40" name="Shape 38"/>
          <p:cNvSpPr/>
          <p:nvPr/>
        </p:nvSpPr>
        <p:spPr>
          <a:xfrm>
            <a:off x="10469880" y="3246120"/>
            <a:ext cx="73152" cy="1325880"/>
          </a:xfrm>
          <a:prstGeom prst="rect">
            <a:avLst/>
          </a:prstGeom>
          <a:solidFill>
            <a:srgbClr val="78B7A9"/>
          </a:solidFill>
          <a:ln w="12700">
            <a:solidFill>
              <a:srgbClr val="78B7A9"/>
            </a:solidFill>
            <a:prstDash val="solid"/>
          </a:ln>
        </p:spPr>
      </p:sp>
      <p:sp>
        <p:nvSpPr>
          <p:cNvPr id="41" name="Text 39"/>
          <p:cNvSpPr/>
          <p:nvPr/>
        </p:nvSpPr>
        <p:spPr>
          <a:xfrm>
            <a:off x="106527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a:t>
            </a:r>
            <a:endParaRPr lang="en-US" sz="2500" dirty="0"/>
          </a:p>
        </p:txBody>
      </p:sp>
      <p:sp>
        <p:nvSpPr>
          <p:cNvPr id="42" name="Text 40"/>
          <p:cNvSpPr/>
          <p:nvPr/>
        </p:nvSpPr>
        <p:spPr>
          <a:xfrm>
            <a:off x="106527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violations</a:t>
            </a:r>
            <a:endParaRPr lang="en-US" sz="1050" dirty="0"/>
          </a:p>
        </p:txBody>
      </p:sp>
      <p:sp>
        <p:nvSpPr>
          <p:cNvPr id="43" name="Text 41"/>
          <p:cNvSpPr/>
          <p:nvPr/>
        </p:nvSpPr>
        <p:spPr>
          <a:xfrm>
            <a:off x="106527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hard constraints</a:t>
            </a:r>
            <a:endParaRPr lang="en-US" sz="850" dirty="0"/>
          </a:p>
        </p:txBody>
      </p:sp>
      <p:sp>
        <p:nvSpPr>
          <p:cNvPr id="44" name="Shape 42"/>
          <p:cNvSpPr/>
          <p:nvPr/>
        </p:nvSpPr>
        <p:spPr>
          <a:xfrm>
            <a:off x="7726680" y="5074920"/>
            <a:ext cx="1005840" cy="274320"/>
          </a:xfrm>
          <a:prstGeom prst="roundRect">
            <a:avLst/>
          </a:prstGeom>
          <a:solidFill>
            <a:srgbClr val="B94735"/>
          </a:solidFill>
          <a:ln w="12700">
            <a:solidFill>
              <a:srgbClr val="B94735"/>
            </a:solidFill>
            <a:prstDash val="solid"/>
          </a:ln>
        </p:spPr>
      </p:sp>
      <p:sp>
        <p:nvSpPr>
          <p:cNvPr id="45" name="Text 43"/>
          <p:cNvSpPr/>
          <p:nvPr/>
        </p:nvSpPr>
        <p:spPr>
          <a:xfrm>
            <a:off x="7799832" y="5102352"/>
            <a:ext cx="85953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LIVE DEMO</a:t>
            </a:r>
            <a:endParaRPr lang="en-US" sz="900" dirty="0"/>
          </a:p>
        </p:txBody>
      </p:sp>
      <p:sp>
        <p:nvSpPr>
          <p:cNvPr id="46" name="Text 44">
            <a:hlinkClick r:id="rId1" tooltip=""/>
          </p:cNvPr>
          <p:cNvSpPr/>
          <p:nvPr/>
        </p:nvSpPr>
        <p:spPr>
          <a:xfrm>
            <a:off x="8887968" y="5056632"/>
            <a:ext cx="2761488" cy="320040"/>
          </a:xfrm>
          <a:prstGeom prst="rect">
            <a:avLst/>
          </a:prstGeom>
          <a:noFill/>
          <a:ln/>
        </p:spPr>
        <p:txBody>
          <a:bodyPr wrap="square" lIns="0" tIns="0" rIns="0" bIns="0" rtlCol="0" anchor="ctr">
            <a:normAutofit/>
          </a:bodyPr>
          <a:lstStyle/>
          <a:p>
            <a:pPr indent="0" marL="0">
              <a:buNone/>
            </a:pPr>
            <a:r>
              <a:rPr lang="en-US" sz="1050" b="1" u="sng" dirty="0">
                <a:solidFill>
                  <a:srgbClr val="FFFDF8"/>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foodshock.sebastianalexis.com</a:t>
            </a:r>
            <a:endParaRPr lang="en-US" sz="1050" dirty="0"/>
          </a:p>
        </p:txBody>
      </p:sp>
      <p:sp>
        <p:nvSpPr>
          <p:cNvPr id="47" name="Text 45"/>
          <p:cNvSpPr/>
          <p:nvPr/>
        </p:nvSpPr>
        <p:spPr>
          <a:xfrm>
            <a:off x="658368" y="6327648"/>
            <a:ext cx="6309360" cy="228600"/>
          </a:xfrm>
          <a:prstGeom prst="rect">
            <a:avLst/>
          </a:prstGeom>
          <a:noFill/>
          <a:ln/>
        </p:spPr>
        <p:txBody>
          <a:bodyPr wrap="square" lIns="0" tIns="0" rIns="0" bIns="0" rtlCol="0" anchor="ctr">
            <a:normAutofit/>
          </a:bodyPr>
          <a:lstStyle/>
          <a:p>
            <a:pPr indent="0" marL="0">
              <a:buNone/>
            </a:pPr>
            <a:r>
              <a:rPr lang="en-US" sz="900" dirty="0">
                <a:solidFill>
                  <a:srgbClr val="78B7A9"/>
                </a:solidFill>
                <a:latin typeface="Aptos" pitchFamily="34" charset="0"/>
                <a:ea typeface="Aptos" pitchFamily="34" charset="-122"/>
                <a:cs typeface="Aptos" pitchFamily="34" charset="-120"/>
              </a:rPr>
              <a:t>Synthetic operations data. No client PII. No operator validation claimed.</a:t>
            </a:r>
            <a:endParaRPr lang="en-US" sz="900" dirty="0"/>
          </a:p>
        </p:txBody>
      </p:sp>
      <p:sp>
        <p:nvSpPr>
          <p:cNvPr id="48" name="Text 46"/>
          <p:cNvSpPr/>
          <p:nvPr/>
        </p:nvSpPr>
        <p:spPr>
          <a:xfrm>
            <a:off x="11448288" y="6428232"/>
            <a:ext cx="219456" cy="182880"/>
          </a:xfrm>
          <a:prstGeom prst="rect">
            <a:avLst/>
          </a:prstGeom>
          <a:noFill/>
          <a:ln/>
        </p:spPr>
        <p:txBody>
          <a:bodyPr wrap="square" lIns="0" tIns="0" rIns="0" bIns="0" rtlCol="0" anchor="ctr">
            <a:normAutofit/>
          </a:bodyPr>
          <a:lstStyle/>
          <a:p>
            <a:pPr algn="r" indent="0" marL="0">
              <a:buNone/>
            </a:pPr>
            <a:r>
              <a:rPr lang="en-US" sz="800" dirty="0">
                <a:solidFill>
                  <a:srgbClr val="78B7A9"/>
                </a:solidFill>
                <a:latin typeface="Aptos" pitchFamily="34" charset="0"/>
                <a:ea typeface="Aptos" pitchFamily="34" charset="-122"/>
                <a:cs typeface="Apto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WHY NOW</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Recall volume is high; consequences are operational.</a:t>
            </a:r>
            <a:endParaRPr lang="en-US" sz="3600" dirty="0"/>
          </a:p>
        </p:txBody>
      </p:sp>
      <p:sp>
        <p:nvSpPr>
          <p:cNvPr id="4" name="Text 2"/>
          <p:cNvSpPr/>
          <p:nvPr/>
        </p:nvSpPr>
        <p:spPr>
          <a:xfrm>
            <a:off x="658368" y="1572768"/>
            <a:ext cx="10789920" cy="530352"/>
          </a:xfrm>
          <a:prstGeom prst="rect">
            <a:avLst/>
          </a:prstGeom>
          <a:noFill/>
          <a:ln/>
        </p:spPr>
        <p:txBody>
          <a:bodyPr wrap="square" lIns="0" tIns="0" rIns="0" bIns="0" rtlCol="0" anchor="t">
            <a:normAutofit/>
          </a:bodyPr>
          <a:lstStyle/>
          <a:p>
            <a:pPr indent="0" marL="0">
              <a:buNone/>
            </a:pPr>
            <a:r>
              <a:rPr lang="en-US" sz="1600" dirty="0">
                <a:solidFill>
                  <a:srgbClr val="61706D"/>
                </a:solidFill>
                <a:latin typeface="Aptos" pitchFamily="34" charset="0"/>
                <a:ea typeface="Aptos" pitchFamily="34" charset="-122"/>
                <a:cs typeface="Aptos" pitchFamily="34" charset="-120"/>
              </a:rPr>
              <a:t>Public 2024 records show the scale. A single contaminated ingredient can intersect a perishable, high-throughput food-bank network.</a:t>
            </a:r>
            <a:endParaRPr lang="en-US" sz="1600" dirty="0"/>
          </a:p>
        </p:txBody>
      </p:sp>
      <p:sp>
        <p:nvSpPr>
          <p:cNvPr id="5" name="Shape 3"/>
          <p:cNvSpPr/>
          <p:nvPr/>
        </p:nvSpPr>
        <p:spPr>
          <a:xfrm>
            <a:off x="658368" y="2331720"/>
            <a:ext cx="2057400" cy="1444752"/>
          </a:xfrm>
          <a:prstGeom prst="roundRect">
            <a:avLst>
              <a:gd name="adj" fmla="val 5063"/>
            </a:avLst>
          </a:prstGeom>
          <a:solidFill>
            <a:srgbClr val="FFFDF8"/>
          </a:solidFill>
          <a:ln w="12700">
            <a:solidFill>
              <a:srgbClr val="D9D2C2"/>
            </a:solidFill>
            <a:prstDash val="solid"/>
          </a:ln>
        </p:spPr>
      </p:sp>
      <p:sp>
        <p:nvSpPr>
          <p:cNvPr id="6" name="Shape 4"/>
          <p:cNvSpPr/>
          <p:nvPr/>
        </p:nvSpPr>
        <p:spPr>
          <a:xfrm>
            <a:off x="658368" y="2331720"/>
            <a:ext cx="73152" cy="1444752"/>
          </a:xfrm>
          <a:prstGeom prst="rect">
            <a:avLst/>
          </a:prstGeom>
          <a:solidFill>
            <a:srgbClr val="B94735"/>
          </a:solidFill>
          <a:ln w="12700">
            <a:solidFill>
              <a:srgbClr val="B94735"/>
            </a:solidFill>
            <a:prstDash val="solid"/>
          </a:ln>
        </p:spPr>
      </p:sp>
      <p:sp>
        <p:nvSpPr>
          <p:cNvPr id="7" name="Text 5"/>
          <p:cNvSpPr/>
          <p:nvPr/>
        </p:nvSpPr>
        <p:spPr>
          <a:xfrm>
            <a:off x="841248"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482</a:t>
            </a:r>
            <a:endParaRPr lang="en-US" sz="2500" dirty="0"/>
          </a:p>
        </p:txBody>
      </p:sp>
      <p:sp>
        <p:nvSpPr>
          <p:cNvPr id="8" name="Text 6"/>
          <p:cNvSpPr/>
          <p:nvPr/>
        </p:nvSpPr>
        <p:spPr>
          <a:xfrm>
            <a:off x="841248"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distinct FDA event IDs</a:t>
            </a:r>
            <a:endParaRPr lang="en-US" sz="1050" dirty="0"/>
          </a:p>
        </p:txBody>
      </p:sp>
      <p:sp>
        <p:nvSpPr>
          <p:cNvPr id="9" name="Text 7"/>
          <p:cNvSpPr/>
          <p:nvPr/>
        </p:nvSpPr>
        <p:spPr>
          <a:xfrm>
            <a:off x="841248"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1,387 product records initiated in 2024</a:t>
            </a:r>
            <a:endParaRPr lang="en-US" sz="850" dirty="0"/>
          </a:p>
        </p:txBody>
      </p:sp>
      <p:sp>
        <p:nvSpPr>
          <p:cNvPr id="10" name="Shape 8"/>
          <p:cNvSpPr/>
          <p:nvPr/>
        </p:nvSpPr>
        <p:spPr>
          <a:xfrm>
            <a:off x="2926080" y="2331720"/>
            <a:ext cx="2057400" cy="1444752"/>
          </a:xfrm>
          <a:prstGeom prst="roundRect">
            <a:avLst>
              <a:gd name="adj" fmla="val 5063"/>
            </a:avLst>
          </a:prstGeom>
          <a:solidFill>
            <a:srgbClr val="FFFDF8"/>
          </a:solidFill>
          <a:ln w="12700">
            <a:solidFill>
              <a:srgbClr val="D9D2C2"/>
            </a:solidFill>
            <a:prstDash val="solid"/>
          </a:ln>
        </p:spPr>
      </p:sp>
      <p:sp>
        <p:nvSpPr>
          <p:cNvPr id="11" name="Shape 9"/>
          <p:cNvSpPr/>
          <p:nvPr/>
        </p:nvSpPr>
        <p:spPr>
          <a:xfrm>
            <a:off x="2926080" y="2331720"/>
            <a:ext cx="73152" cy="1444752"/>
          </a:xfrm>
          <a:prstGeom prst="rect">
            <a:avLst/>
          </a:prstGeom>
          <a:solidFill>
            <a:srgbClr val="1D6B62"/>
          </a:solidFill>
          <a:ln w="12700">
            <a:solidFill>
              <a:srgbClr val="1D6B62"/>
            </a:solidFill>
            <a:prstDash val="solid"/>
          </a:ln>
        </p:spPr>
      </p:sp>
      <p:sp>
        <p:nvSpPr>
          <p:cNvPr id="12" name="Text 10"/>
          <p:cNvSpPr/>
          <p:nvPr/>
        </p:nvSpPr>
        <p:spPr>
          <a:xfrm>
            <a:off x="3108960"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34 + 19</a:t>
            </a:r>
            <a:endParaRPr lang="en-US" sz="2500" dirty="0"/>
          </a:p>
        </p:txBody>
      </p:sp>
      <p:sp>
        <p:nvSpPr>
          <p:cNvPr id="13" name="Text 11"/>
          <p:cNvSpPr/>
          <p:nvPr/>
        </p:nvSpPr>
        <p:spPr>
          <a:xfrm>
            <a:off x="3108960"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FSIS recalls + PHAs</a:t>
            </a:r>
            <a:endParaRPr lang="en-US" sz="1050" dirty="0"/>
          </a:p>
        </p:txBody>
      </p:sp>
      <p:sp>
        <p:nvSpPr>
          <p:cNvPr id="14" name="Text 12"/>
          <p:cNvSpPr/>
          <p:nvPr/>
        </p:nvSpPr>
        <p:spPr>
          <a:xfrm>
            <a:off x="3108960"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numbered recalls and public-health alerts</a:t>
            </a:r>
            <a:endParaRPr lang="en-US" sz="850" dirty="0"/>
          </a:p>
        </p:txBody>
      </p:sp>
      <p:sp>
        <p:nvSpPr>
          <p:cNvPr id="15" name="Shape 13"/>
          <p:cNvSpPr/>
          <p:nvPr/>
        </p:nvSpPr>
        <p:spPr>
          <a:xfrm>
            <a:off x="5193792" y="2331720"/>
            <a:ext cx="2057400" cy="1444752"/>
          </a:xfrm>
          <a:prstGeom prst="roundRect">
            <a:avLst>
              <a:gd name="adj" fmla="val 5063"/>
            </a:avLst>
          </a:prstGeom>
          <a:solidFill>
            <a:srgbClr val="FFFDF8"/>
          </a:solidFill>
          <a:ln w="12700">
            <a:solidFill>
              <a:srgbClr val="D9D2C2"/>
            </a:solidFill>
            <a:prstDash val="solid"/>
          </a:ln>
        </p:spPr>
      </p:sp>
      <p:sp>
        <p:nvSpPr>
          <p:cNvPr id="16" name="Shape 14"/>
          <p:cNvSpPr/>
          <p:nvPr/>
        </p:nvSpPr>
        <p:spPr>
          <a:xfrm>
            <a:off x="5193792" y="2331720"/>
            <a:ext cx="73152" cy="1444752"/>
          </a:xfrm>
          <a:prstGeom prst="rect">
            <a:avLst/>
          </a:prstGeom>
          <a:solidFill>
            <a:srgbClr val="B94735"/>
          </a:solidFill>
          <a:ln w="12700">
            <a:solidFill>
              <a:srgbClr val="B94735"/>
            </a:solidFill>
            <a:prstDash val="solid"/>
          </a:ln>
        </p:spPr>
      </p:sp>
      <p:sp>
        <p:nvSpPr>
          <p:cNvPr id="17" name="Text 15"/>
          <p:cNvSpPr/>
          <p:nvPr/>
        </p:nvSpPr>
        <p:spPr>
          <a:xfrm>
            <a:off x="5376672"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104</a:t>
            </a:r>
            <a:endParaRPr lang="en-US" sz="2500" dirty="0"/>
          </a:p>
        </p:txBody>
      </p:sp>
      <p:sp>
        <p:nvSpPr>
          <p:cNvPr id="18" name="Text 16"/>
          <p:cNvSpPr/>
          <p:nvPr/>
        </p:nvSpPr>
        <p:spPr>
          <a:xfrm>
            <a:off x="5376672"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onion-outbreak cases</a:t>
            </a:r>
            <a:endParaRPr lang="en-US" sz="1050" dirty="0"/>
          </a:p>
        </p:txBody>
      </p:sp>
      <p:sp>
        <p:nvSpPr>
          <p:cNvPr id="19" name="Text 17"/>
          <p:cNvSpPr/>
          <p:nvPr/>
        </p:nvSpPr>
        <p:spPr>
          <a:xfrm>
            <a:off x="5376672"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34 hospitalized, 1 death, 14 states</a:t>
            </a:r>
            <a:endParaRPr lang="en-US" sz="850" dirty="0"/>
          </a:p>
        </p:txBody>
      </p:sp>
      <p:sp>
        <p:nvSpPr>
          <p:cNvPr id="20" name="Shape 18"/>
          <p:cNvSpPr/>
          <p:nvPr/>
        </p:nvSpPr>
        <p:spPr>
          <a:xfrm>
            <a:off x="7635240" y="2331720"/>
            <a:ext cx="3913632" cy="3429000"/>
          </a:xfrm>
          <a:prstGeom prst="roundRect">
            <a:avLst>
              <a:gd name="adj" fmla="val 2133"/>
            </a:avLst>
          </a:prstGeom>
          <a:solidFill>
            <a:srgbClr val="143B37"/>
          </a:solidFill>
          <a:ln w="12700">
            <a:solidFill>
              <a:srgbClr val="143B37"/>
            </a:solidFill>
            <a:prstDash val="solid"/>
          </a:ln>
        </p:spPr>
      </p:sp>
      <p:sp>
        <p:nvSpPr>
          <p:cNvPr id="21" name="Text 19"/>
          <p:cNvSpPr/>
          <p:nvPr/>
        </p:nvSpPr>
        <p:spPr>
          <a:xfrm>
            <a:off x="8028432" y="2651760"/>
            <a:ext cx="3108960" cy="310896"/>
          </a:xfrm>
          <a:prstGeom prst="rect">
            <a:avLst/>
          </a:prstGeom>
          <a:noFill/>
          <a:ln/>
        </p:spPr>
        <p:txBody>
          <a:bodyPr wrap="square" lIns="0" tIns="0" rIns="0" bIns="0" rtlCol="0" anchor="ctr">
            <a:normAutofit/>
          </a:bodyPr>
          <a:lstStyle/>
          <a:p>
            <a:pPr indent="0" marL="0">
              <a:buNone/>
            </a:pPr>
            <a:r>
              <a:rPr lang="en-US" sz="1400" b="1" dirty="0">
                <a:solidFill>
                  <a:srgbClr val="FFFDF8"/>
                </a:solidFill>
                <a:latin typeface="Aptos" pitchFamily="34" charset="0"/>
                <a:ea typeface="Aptos" pitchFamily="34" charset="-122"/>
                <a:cs typeface="Aptos" pitchFamily="34" charset="-120"/>
              </a:rPr>
              <a:t>A reference food-bank network</a:t>
            </a:r>
            <a:endParaRPr lang="en-US" sz="1400" dirty="0"/>
          </a:p>
        </p:txBody>
      </p:sp>
      <p:sp>
        <p:nvSpPr>
          <p:cNvPr id="22" name="Text 20"/>
          <p:cNvSpPr/>
          <p:nvPr/>
        </p:nvSpPr>
        <p:spPr>
          <a:xfrm>
            <a:off x="8028432" y="3154680"/>
            <a:ext cx="1828800" cy="475488"/>
          </a:xfrm>
          <a:prstGeom prst="rect">
            <a:avLst/>
          </a:prstGeom>
          <a:noFill/>
          <a:ln/>
        </p:spPr>
        <p:txBody>
          <a:bodyPr wrap="square" lIns="0" tIns="0" rIns="0" bIns="0" rtlCol="0" anchor="ctr">
            <a:normAutofit/>
          </a:bodyPr>
          <a:lstStyle/>
          <a:p>
            <a:pPr indent="0" marL="0">
              <a:buNone/>
            </a:pPr>
            <a:r>
              <a:rPr lang="en-US" sz="3100" b="1" dirty="0">
                <a:solidFill>
                  <a:srgbClr val="FFFDF8"/>
                </a:solidFill>
                <a:latin typeface="Aptos Display" pitchFamily="34" charset="0"/>
                <a:ea typeface="Aptos Display" pitchFamily="34" charset="-122"/>
                <a:cs typeface="Aptos Display" pitchFamily="34" charset="-120"/>
              </a:rPr>
              <a:t>67M lb</a:t>
            </a:r>
            <a:endParaRPr lang="en-US" sz="3100" dirty="0"/>
          </a:p>
        </p:txBody>
      </p:sp>
      <p:sp>
        <p:nvSpPr>
          <p:cNvPr id="23" name="Text 21"/>
          <p:cNvSpPr/>
          <p:nvPr/>
        </p:nvSpPr>
        <p:spPr>
          <a:xfrm>
            <a:off x="9720072" y="3255264"/>
            <a:ext cx="1298448" cy="274320"/>
          </a:xfrm>
          <a:prstGeom prst="rect">
            <a:avLst/>
          </a:prstGeom>
          <a:noFill/>
          <a:ln/>
        </p:spPr>
        <p:txBody>
          <a:bodyPr wrap="square" lIns="0" tIns="0" rIns="0" bIns="0" rtlCol="0" anchor="ctr">
            <a:normAutofit/>
          </a:bodyPr>
          <a:lstStyle/>
          <a:p>
            <a:pPr indent="0" marL="0">
              <a:buNone/>
            </a:pPr>
            <a:r>
              <a:rPr lang="en-US" sz="1050" dirty="0">
                <a:solidFill>
                  <a:srgbClr val="78B7A9"/>
                </a:solidFill>
                <a:latin typeface="Aptos" pitchFamily="34" charset="0"/>
                <a:ea typeface="Aptos" pitchFamily="34" charset="-122"/>
                <a:cs typeface="Aptos" pitchFamily="34" charset="-120"/>
              </a:rPr>
              <a:t>distributed in FY2024</a:t>
            </a:r>
            <a:endParaRPr lang="en-US" sz="1050" dirty="0"/>
          </a:p>
        </p:txBody>
      </p:sp>
      <p:sp>
        <p:nvSpPr>
          <p:cNvPr id="24" name="Text 22"/>
          <p:cNvSpPr/>
          <p:nvPr/>
        </p:nvSpPr>
        <p:spPr>
          <a:xfrm>
            <a:off x="8028432" y="3895344"/>
            <a:ext cx="2194560" cy="228600"/>
          </a:xfrm>
          <a:prstGeom prst="rect">
            <a:avLst/>
          </a:prstGeom>
          <a:noFill/>
          <a:ln/>
        </p:spPr>
        <p:txBody>
          <a:bodyPr wrap="square" lIns="0" tIns="0" rIns="0" bIns="0" rtlCol="0" anchor="ctr">
            <a:normAutofit/>
          </a:bodyPr>
          <a:lstStyle/>
          <a:p>
            <a:pPr indent="0" marL="0">
              <a:buNone/>
            </a:pPr>
            <a:r>
              <a:rPr lang="en-US" sz="1050" b="1" dirty="0">
                <a:solidFill>
                  <a:srgbClr val="FFFDF8"/>
                </a:solidFill>
                <a:latin typeface="Aptos" pitchFamily="34" charset="0"/>
                <a:ea typeface="Aptos" pitchFamily="34" charset="-122"/>
                <a:cs typeface="Aptos" pitchFamily="34" charset="-120"/>
              </a:rPr>
              <a:t>Fresh product share</a:t>
            </a:r>
            <a:endParaRPr lang="en-US" sz="1050" dirty="0"/>
          </a:p>
        </p:txBody>
      </p:sp>
      <p:sp>
        <p:nvSpPr>
          <p:cNvPr id="25" name="Shape 23"/>
          <p:cNvSpPr/>
          <p:nvPr/>
        </p:nvSpPr>
        <p:spPr>
          <a:xfrm>
            <a:off x="8028432" y="4224528"/>
            <a:ext cx="3063240" cy="320040"/>
          </a:xfrm>
          <a:prstGeom prst="roundRect">
            <a:avLst/>
          </a:prstGeom>
          <a:solidFill>
            <a:srgbClr val="48635E"/>
          </a:solidFill>
          <a:ln w="12700">
            <a:solidFill>
              <a:srgbClr val="48635E"/>
            </a:solidFill>
            <a:prstDash val="solid"/>
          </a:ln>
        </p:spPr>
      </p:sp>
      <p:sp>
        <p:nvSpPr>
          <p:cNvPr id="26" name="Shape 24"/>
          <p:cNvSpPr/>
          <p:nvPr/>
        </p:nvSpPr>
        <p:spPr>
          <a:xfrm>
            <a:off x="8028432" y="4224528"/>
            <a:ext cx="2148840" cy="320040"/>
          </a:xfrm>
          <a:prstGeom prst="roundRect">
            <a:avLst/>
          </a:prstGeom>
          <a:solidFill>
            <a:srgbClr val="B94735"/>
          </a:solidFill>
          <a:ln w="12700">
            <a:solidFill>
              <a:srgbClr val="B94735"/>
            </a:solidFill>
            <a:prstDash val="solid"/>
          </a:ln>
        </p:spPr>
      </p:sp>
      <p:sp>
        <p:nvSpPr>
          <p:cNvPr id="27" name="Text 25"/>
          <p:cNvSpPr/>
          <p:nvPr/>
        </p:nvSpPr>
        <p:spPr>
          <a:xfrm>
            <a:off x="9400032" y="4215384"/>
            <a:ext cx="658368" cy="265176"/>
          </a:xfrm>
          <a:prstGeom prst="rect">
            <a:avLst/>
          </a:prstGeom>
          <a:noFill/>
          <a:ln/>
        </p:spPr>
        <p:txBody>
          <a:bodyPr wrap="square" lIns="0" tIns="0" rIns="0" bIns="0" rtlCol="0" anchor="ctr">
            <a:normAutofit/>
          </a:bodyPr>
          <a:lstStyle/>
          <a:p>
            <a:pPr algn="r" indent="0" marL="0">
              <a:buNone/>
            </a:pPr>
            <a:r>
              <a:rPr lang="en-US" sz="1200" b="1" dirty="0">
                <a:solidFill>
                  <a:srgbClr val="FFFDF8"/>
                </a:solidFill>
                <a:latin typeface="Aptos" pitchFamily="34" charset="0"/>
                <a:ea typeface="Aptos" pitchFamily="34" charset="-122"/>
                <a:cs typeface="Aptos" pitchFamily="34" charset="-120"/>
              </a:rPr>
              <a:t>~70%</a:t>
            </a:r>
            <a:endParaRPr lang="en-US" sz="1200" dirty="0"/>
          </a:p>
        </p:txBody>
      </p:sp>
      <p:sp>
        <p:nvSpPr>
          <p:cNvPr id="28" name="Text 26"/>
          <p:cNvSpPr/>
          <p:nvPr/>
        </p:nvSpPr>
        <p:spPr>
          <a:xfrm>
            <a:off x="8028432" y="4828032"/>
            <a:ext cx="1005840" cy="356616"/>
          </a:xfrm>
          <a:prstGeom prst="rect">
            <a:avLst/>
          </a:prstGeom>
          <a:noFill/>
          <a:ln/>
        </p:spPr>
        <p:txBody>
          <a:bodyPr wrap="square" lIns="0" tIns="0" rIns="0" bIns="0" rtlCol="0" anchor="ctr">
            <a:normAutofit/>
          </a:bodyPr>
          <a:lstStyle/>
          <a:p>
            <a:pPr indent="0" marL="0">
              <a:buNone/>
            </a:pPr>
            <a:r>
              <a:rPr lang="en-US" sz="2300" b="1" dirty="0">
                <a:solidFill>
                  <a:srgbClr val="FFFDF8"/>
                </a:solidFill>
                <a:latin typeface="Aptos" pitchFamily="34" charset="0"/>
                <a:ea typeface="Aptos" pitchFamily="34" charset="-122"/>
                <a:cs typeface="Aptos" pitchFamily="34" charset="-120"/>
              </a:rPr>
              <a:t>53k</a:t>
            </a:r>
            <a:endParaRPr lang="en-US" sz="2300" dirty="0"/>
          </a:p>
        </p:txBody>
      </p:sp>
      <p:sp>
        <p:nvSpPr>
          <p:cNvPr id="29" name="Text 27"/>
          <p:cNvSpPr/>
          <p:nvPr/>
        </p:nvSpPr>
        <p:spPr>
          <a:xfrm>
            <a:off x="8028432" y="5230368"/>
            <a:ext cx="1417320" cy="237744"/>
          </a:xfrm>
          <a:prstGeom prst="rect">
            <a:avLst/>
          </a:prstGeom>
          <a:noFill/>
          <a:ln/>
        </p:spPr>
        <p:txBody>
          <a:bodyPr wrap="square" lIns="0" tIns="0" rIns="0" bIns="0" rtlCol="0" anchor="ctr">
            <a:normAutofit/>
          </a:bodyPr>
          <a:lstStyle/>
          <a:p>
            <a:pPr indent="0" marL="0">
              <a:buNone/>
            </a:pPr>
            <a:r>
              <a:rPr lang="en-US" sz="930" dirty="0">
                <a:solidFill>
                  <a:srgbClr val="78B7A9"/>
                </a:solidFill>
                <a:latin typeface="Aptos" pitchFamily="34" charset="0"/>
                <a:ea typeface="Aptos" pitchFamily="34" charset="-122"/>
                <a:cs typeface="Aptos" pitchFamily="34" charset="-120"/>
              </a:rPr>
              <a:t>households / week</a:t>
            </a:r>
            <a:endParaRPr lang="en-US" sz="930" dirty="0"/>
          </a:p>
        </p:txBody>
      </p:sp>
      <p:sp>
        <p:nvSpPr>
          <p:cNvPr id="30" name="Text 28"/>
          <p:cNvSpPr/>
          <p:nvPr/>
        </p:nvSpPr>
        <p:spPr>
          <a:xfrm>
            <a:off x="10012680" y="4828032"/>
            <a:ext cx="777240" cy="356616"/>
          </a:xfrm>
          <a:prstGeom prst="rect">
            <a:avLst/>
          </a:prstGeom>
          <a:noFill/>
          <a:ln/>
        </p:spPr>
        <p:txBody>
          <a:bodyPr wrap="square" lIns="0" tIns="0" rIns="0" bIns="0" rtlCol="0" anchor="ctr">
            <a:normAutofit/>
          </a:bodyPr>
          <a:lstStyle/>
          <a:p>
            <a:pPr indent="0" marL="0">
              <a:buNone/>
            </a:pPr>
            <a:r>
              <a:rPr lang="en-US" sz="2300" b="1" dirty="0">
                <a:solidFill>
                  <a:srgbClr val="FFFDF8"/>
                </a:solidFill>
                <a:latin typeface="Aptos" pitchFamily="34" charset="0"/>
                <a:ea typeface="Aptos" pitchFamily="34" charset="-122"/>
                <a:cs typeface="Aptos" pitchFamily="34" charset="-120"/>
              </a:rPr>
              <a:t>215</a:t>
            </a:r>
            <a:endParaRPr lang="en-US" sz="2300" dirty="0"/>
          </a:p>
        </p:txBody>
      </p:sp>
      <p:sp>
        <p:nvSpPr>
          <p:cNvPr id="31" name="Text 29"/>
          <p:cNvSpPr/>
          <p:nvPr/>
        </p:nvSpPr>
        <p:spPr>
          <a:xfrm>
            <a:off x="10012680" y="5230368"/>
            <a:ext cx="822960" cy="237744"/>
          </a:xfrm>
          <a:prstGeom prst="rect">
            <a:avLst/>
          </a:prstGeom>
          <a:noFill/>
          <a:ln/>
        </p:spPr>
        <p:txBody>
          <a:bodyPr wrap="square" lIns="0" tIns="0" rIns="0" bIns="0" rtlCol="0" anchor="ctr">
            <a:normAutofit/>
          </a:bodyPr>
          <a:lstStyle/>
          <a:p>
            <a:pPr indent="0" marL="0">
              <a:buNone/>
            </a:pPr>
            <a:r>
              <a:rPr lang="en-US" sz="930" dirty="0">
                <a:solidFill>
                  <a:srgbClr val="78B7A9"/>
                </a:solidFill>
                <a:latin typeface="Aptos" pitchFamily="34" charset="0"/>
                <a:ea typeface="Aptos" pitchFamily="34" charset="-122"/>
                <a:cs typeface="Aptos" pitchFamily="34" charset="-120"/>
              </a:rPr>
              <a:t>pantries</a:t>
            </a:r>
            <a:endParaRPr lang="en-US" sz="930" dirty="0"/>
          </a:p>
        </p:txBody>
      </p:sp>
      <p:sp>
        <p:nvSpPr>
          <p:cNvPr id="32" name="Text 30"/>
          <p:cNvSpPr/>
          <p:nvPr/>
        </p:nvSpPr>
        <p:spPr>
          <a:xfrm>
            <a:off x="658368" y="4572000"/>
            <a:ext cx="6583680" cy="777240"/>
          </a:xfrm>
          <a:prstGeom prst="rect">
            <a:avLst/>
          </a:prstGeom>
          <a:noFill/>
          <a:ln/>
        </p:spPr>
        <p:txBody>
          <a:bodyPr wrap="square" lIns="0" tIns="0" rIns="0" bIns="0" rtlCol="0" anchor="t">
            <a:normAutofit/>
          </a:bodyPr>
          <a:lstStyle/>
          <a:p>
            <a:pPr indent="0" marL="0">
              <a:buNone/>
            </a:pPr>
            <a:r>
              <a:rPr lang="en-US" sz="2200" b="1" dirty="0">
                <a:solidFill>
                  <a:srgbClr val="132524"/>
                </a:solidFill>
                <a:latin typeface="Aptos Display" pitchFamily="34" charset="0"/>
                <a:ea typeface="Aptos Display" pitchFamily="34" charset="-122"/>
                <a:cs typeface="Aptos Display" pitchFamily="34" charset="-120"/>
              </a:rPr>
              <a:t>The constraint is not only finding recalled product. It is restoring service without reintroducing risk.</a:t>
            </a:r>
            <a:endParaRPr lang="en-US" sz="2200" dirty="0"/>
          </a:p>
        </p:txBody>
      </p:sp>
      <p:sp>
        <p:nvSpPr>
          <p:cNvPr id="33" name="Shape 31"/>
          <p:cNvSpPr/>
          <p:nvPr/>
        </p:nvSpPr>
        <p:spPr>
          <a:xfrm>
            <a:off x="658368" y="5623560"/>
            <a:ext cx="841248" cy="274320"/>
          </a:xfrm>
          <a:prstGeom prst="roundRect">
            <a:avLst/>
          </a:prstGeom>
          <a:solidFill>
            <a:srgbClr val="B94735"/>
          </a:solidFill>
          <a:ln w="12700">
            <a:solidFill>
              <a:srgbClr val="B94735"/>
            </a:solidFill>
            <a:prstDash val="solid"/>
          </a:ln>
        </p:spPr>
      </p:sp>
      <p:sp>
        <p:nvSpPr>
          <p:cNvPr id="34" name="Text 32"/>
          <p:cNvSpPr/>
          <p:nvPr/>
        </p:nvSpPr>
        <p:spPr>
          <a:xfrm>
            <a:off x="731520" y="5650992"/>
            <a:ext cx="694944"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SAFETY</a:t>
            </a:r>
            <a:endParaRPr lang="en-US" sz="900" dirty="0"/>
          </a:p>
        </p:txBody>
      </p:sp>
      <p:sp>
        <p:nvSpPr>
          <p:cNvPr id="35" name="Text 33"/>
          <p:cNvSpPr/>
          <p:nvPr/>
        </p:nvSpPr>
        <p:spPr>
          <a:xfrm>
            <a:off x="1664208" y="5586984"/>
            <a:ext cx="5577840" cy="384048"/>
          </a:xfrm>
          <a:prstGeom prst="rect">
            <a:avLst/>
          </a:prstGeom>
          <a:noFill/>
          <a:ln/>
        </p:spPr>
        <p:txBody>
          <a:bodyPr wrap="square" lIns="0" tIns="0" rIns="0" bIns="0" rtlCol="0" anchor="ctr">
            <a:normAutofit/>
          </a:bodyPr>
          <a:lstStyle/>
          <a:p>
            <a:pPr indent="0" marL="0">
              <a:buNone/>
            </a:pPr>
            <a:r>
              <a:rPr lang="en-US" sz="1350" dirty="0">
                <a:solidFill>
                  <a:srgbClr val="61706D"/>
                </a:solidFill>
                <a:latin typeface="Aptos" pitchFamily="34" charset="0"/>
                <a:ea typeface="Aptos" pitchFamily="34" charset="-122"/>
                <a:cs typeface="Aptos" pitchFamily="34" charset="-120"/>
              </a:rPr>
              <a:t>Quarantine, cancellation, and lot-state exclusions must survive every scenario and plan.</a:t>
            </a:r>
            <a:endParaRPr lang="en-US" sz="1350" dirty="0"/>
          </a:p>
        </p:txBody>
      </p:sp>
      <p:sp>
        <p:nvSpPr>
          <p:cNvPr id="36" name="Text 34"/>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Counts retrieved for calendar year 2024; event/product distinction preserved.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openFDA enforcement API" history="1" highlightClick="0" endSnd="0">
                  <a:extLst>
                    <a:ext uri="{A12FA001-AC4F-418D-AE19-62706E023703}">
                      <ahyp:hlinkClr xmlns:ahyp="http://schemas.microsoft.com/office/drawing/2018/hyperlinkcolor" val="tx"/>
                    </a:ext>
                  </a:extLst>
                </a:hlinkClick>
              </a:rPr>
              <a:t>openFDA enforcement API</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FSIS recalls API" history="1" highlightClick="0" endSnd="0">
                  <a:extLst>
                    <a:ext uri="{A12FA001-AC4F-418D-AE19-62706E023703}">
                      <ahyp:hlinkClr xmlns:ahyp="http://schemas.microsoft.com/office/drawing/2018/hyperlinkcolor" val="tx"/>
                    </a:ext>
                  </a:extLst>
                </a:hlinkClick>
              </a:rPr>
              <a:t>FSIS recalls API</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CDC/FDA onion outbreak" history="1" highlightClick="0" endSnd="0">
                  <a:extLst>
                    <a:ext uri="{A12FA001-AC4F-418D-AE19-62706E023703}">
                      <ahyp:hlinkClr xmlns:ahyp="http://schemas.microsoft.com/office/drawing/2018/hyperlinkcolor" val="tx"/>
                    </a:ext>
                  </a:extLst>
                </a:hlinkClick>
              </a:rPr>
              <a:t>CDC/FDA onion outbreak</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4" invalidUrl="" action="" tgtFrame="" tooltip="SF-Marin Food Bank FY2024" history="1" highlightClick="0" endSnd="0">
                  <a:extLst>
                    <a:ext uri="{A12FA001-AC4F-418D-AE19-62706E023703}">
                      <ahyp:hlinkClr xmlns:ahyp="http://schemas.microsoft.com/office/drawing/2018/hyperlinkcolor" val="tx"/>
                    </a:ext>
                  </a:extLst>
                </a:hlinkClick>
              </a:rPr>
              <a:t>SF-Marin Food Bank FY2024</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PROBLEM</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The operational blind spot is the join.</a:t>
            </a:r>
            <a:endParaRPr lang="en-US" sz="3600" dirty="0"/>
          </a:p>
        </p:txBody>
      </p:sp>
      <p:sp>
        <p:nvSpPr>
          <p:cNvPr id="4" name="Text 2"/>
          <p:cNvSpPr/>
          <p:nvPr/>
        </p:nvSpPr>
        <p:spPr>
          <a:xfrm>
            <a:off x="658368" y="1572768"/>
            <a:ext cx="10698480" cy="566928"/>
          </a:xfrm>
          <a:prstGeom prst="rect">
            <a:avLst/>
          </a:prstGeom>
          <a:noFill/>
          <a:ln/>
        </p:spPr>
        <p:txBody>
          <a:bodyPr wrap="square" lIns="0" tIns="0" rIns="0" bIns="0" rtlCol="0" anchor="t">
            <a:normAutofit/>
          </a:bodyPr>
          <a:lstStyle/>
          <a:p>
            <a:pPr indent="0" marL="0">
              <a:buNone/>
            </a:pPr>
            <a:r>
              <a:rPr lang="en-US" sz="1600" dirty="0">
                <a:solidFill>
                  <a:srgbClr val="61706D"/>
                </a:solidFill>
                <a:latin typeface="Aptos" pitchFamily="34" charset="0"/>
                <a:ea typeface="Aptos" pitchFamily="34" charset="-122"/>
                <a:cs typeface="Aptos" pitchFamily="34" charset="-120"/>
              </a:rPr>
              <a:t>Recall notices describe risk in prose. Response teams must connect that prose to exact inventory, inbound purchase orders, pantry commitments, and feasible replacements.</a:t>
            </a:r>
            <a:endParaRPr lang="en-US" sz="1600" dirty="0"/>
          </a:p>
        </p:txBody>
      </p:sp>
      <p:sp>
        <p:nvSpPr>
          <p:cNvPr id="5" name="Shape 3"/>
          <p:cNvSpPr/>
          <p:nvPr/>
        </p:nvSpPr>
        <p:spPr>
          <a:xfrm>
            <a:off x="658368" y="2331720"/>
            <a:ext cx="2743200" cy="3310128"/>
          </a:xfrm>
          <a:prstGeom prst="roundRect">
            <a:avLst>
              <a:gd name="adj" fmla="val 2667"/>
            </a:avLst>
          </a:prstGeom>
          <a:solidFill>
            <a:srgbClr val="FFFDF8"/>
          </a:solidFill>
          <a:ln w="12700">
            <a:solidFill>
              <a:srgbClr val="D9D2C2"/>
            </a:solidFill>
            <a:prstDash val="solid"/>
          </a:ln>
        </p:spPr>
      </p:sp>
      <p:sp>
        <p:nvSpPr>
          <p:cNvPr id="6" name="Shape 4"/>
          <p:cNvSpPr/>
          <p:nvPr/>
        </p:nvSpPr>
        <p:spPr>
          <a:xfrm>
            <a:off x="932688" y="2606040"/>
            <a:ext cx="1298448" cy="274320"/>
          </a:xfrm>
          <a:prstGeom prst="roundRect">
            <a:avLst/>
          </a:prstGeom>
          <a:solidFill>
            <a:srgbClr val="B94735"/>
          </a:solidFill>
          <a:ln w="12700">
            <a:solidFill>
              <a:srgbClr val="B94735"/>
            </a:solidFill>
            <a:prstDash val="solid"/>
          </a:ln>
        </p:spPr>
      </p:sp>
      <p:sp>
        <p:nvSpPr>
          <p:cNvPr id="7" name="Text 5"/>
          <p:cNvSpPr/>
          <p:nvPr/>
        </p:nvSpPr>
        <p:spPr>
          <a:xfrm>
            <a:off x="1005840" y="2633472"/>
            <a:ext cx="1152144"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NARRATIVE NOTICE</a:t>
            </a:r>
            <a:endParaRPr lang="en-US" sz="900" dirty="0"/>
          </a:p>
        </p:txBody>
      </p:sp>
      <p:sp>
        <p:nvSpPr>
          <p:cNvPr id="8" name="Text 6"/>
          <p:cNvSpPr/>
          <p:nvPr/>
        </p:nvSpPr>
        <p:spPr>
          <a:xfrm>
            <a:off x="932688" y="3127248"/>
            <a:ext cx="2176272" cy="1508760"/>
          </a:xfrm>
          <a:prstGeom prst="rect">
            <a:avLst/>
          </a:prstGeom>
          <a:noFill/>
          <a:ln/>
        </p:spPr>
        <p:txBody>
          <a:bodyPr wrap="square" lIns="0" tIns="0" rIns="0" bIns="0" rtlCol="0" anchor="t">
            <a:normAutofit/>
          </a:bodyPr>
          <a:lstStyle/>
          <a:p>
            <a:pPr indent="0" marL="0">
              <a:buNone/>
            </a:pPr>
            <a:r>
              <a:rPr lang="en-US" sz="1600" i="1" dirty="0">
                <a:solidFill>
                  <a:srgbClr val="132524"/>
                </a:solidFill>
                <a:latin typeface="Aptos" pitchFamily="34" charset="0"/>
                <a:ea typeface="Aptos" pitchFamily="34" charset="-122"/>
                <a:cs typeface="Aptos" pitchFamily="34" charset="-120"/>
              </a:rPr>
              <a:t>“Fresh yellow onions … lot codes GVP-8842 and GVP-8843 … packed between June 20 and July 2 … distributed in California and Nevada.”</a:t>
            </a:r>
            <a:endParaRPr lang="en-US" sz="1600" dirty="0"/>
          </a:p>
        </p:txBody>
      </p:sp>
      <p:sp>
        <p:nvSpPr>
          <p:cNvPr id="9" name="Text 7"/>
          <p:cNvSpPr/>
          <p:nvPr/>
        </p:nvSpPr>
        <p:spPr>
          <a:xfrm>
            <a:off x="932688" y="4892040"/>
            <a:ext cx="2148840" cy="438912"/>
          </a:xfrm>
          <a:prstGeom prst="rect">
            <a:avLst/>
          </a:prstGeom>
          <a:noFill/>
          <a:ln/>
        </p:spPr>
        <p:txBody>
          <a:bodyPr wrap="square" lIns="0" tIns="0" rIns="0" bIns="0" rtlCol="0" anchor="t">
            <a:normAutofit/>
          </a:bodyPr>
          <a:lstStyle/>
          <a:p>
            <a:pPr indent="0" marL="0">
              <a:buNone/>
            </a:pPr>
            <a:r>
              <a:rPr lang="en-US" sz="1050" dirty="0">
                <a:solidFill>
                  <a:srgbClr val="61706D"/>
                </a:solidFill>
                <a:latin typeface="Aptos" pitchFamily="34" charset="0"/>
                <a:ea typeface="Aptos" pitchFamily="34" charset="-122"/>
                <a:cs typeface="Aptos" pitchFamily="34" charset="-120"/>
              </a:rPr>
              <a:t>Supplier, lot, date, region, and action are embedded—not normalized.</a:t>
            </a:r>
            <a:endParaRPr lang="en-US" sz="1050" dirty="0"/>
          </a:p>
        </p:txBody>
      </p:sp>
      <p:sp>
        <p:nvSpPr>
          <p:cNvPr id="10" name="Shape 8"/>
          <p:cNvSpPr/>
          <p:nvPr/>
        </p:nvSpPr>
        <p:spPr>
          <a:xfrm>
            <a:off x="3584448" y="3886200"/>
            <a:ext cx="667512" cy="0"/>
          </a:xfrm>
          <a:prstGeom prst="line">
            <a:avLst/>
          </a:prstGeom>
          <a:noFill/>
          <a:ln w="27940">
            <a:solidFill>
              <a:srgbClr val="B94735"/>
            </a:solidFill>
            <a:prstDash val="solid"/>
            <a:headEnd type="none"/>
            <a:tailEnd type="triangle"/>
          </a:ln>
        </p:spPr>
      </p:sp>
      <p:sp>
        <p:nvSpPr>
          <p:cNvPr id="11" name="Text 9"/>
          <p:cNvSpPr/>
          <p:nvPr/>
        </p:nvSpPr>
        <p:spPr>
          <a:xfrm>
            <a:off x="3657600" y="3502152"/>
            <a:ext cx="530352" cy="219456"/>
          </a:xfrm>
          <a:prstGeom prst="rect">
            <a:avLst/>
          </a:prstGeom>
          <a:noFill/>
          <a:ln/>
        </p:spPr>
        <p:txBody>
          <a:bodyPr wrap="square" lIns="0" tIns="0" rIns="0" bIns="0" rtlCol="0" anchor="ctr">
            <a:normAutofit/>
          </a:bodyPr>
          <a:lstStyle/>
          <a:p>
            <a:pPr algn="ctr" indent="0" marL="0">
              <a:buNone/>
            </a:pPr>
            <a:r>
              <a:rPr lang="en-US" sz="950" b="1" dirty="0">
                <a:solidFill>
                  <a:srgbClr val="B94735"/>
                </a:solidFill>
                <a:latin typeface="Aptos" pitchFamily="34" charset="0"/>
                <a:ea typeface="Aptos" pitchFamily="34" charset="-122"/>
                <a:cs typeface="Aptos" pitchFamily="34" charset="-120"/>
              </a:rPr>
              <a:t>JOIN</a:t>
            </a:r>
            <a:endParaRPr lang="en-US" sz="950" dirty="0"/>
          </a:p>
        </p:txBody>
      </p:sp>
      <p:sp>
        <p:nvSpPr>
          <p:cNvPr id="12" name="Shape 10"/>
          <p:cNvSpPr/>
          <p:nvPr/>
        </p:nvSpPr>
        <p:spPr>
          <a:xfrm>
            <a:off x="4407408" y="2331720"/>
            <a:ext cx="7132320" cy="3310128"/>
          </a:xfrm>
          <a:prstGeom prst="roundRect">
            <a:avLst>
              <a:gd name="adj" fmla="val 2210"/>
            </a:avLst>
          </a:prstGeom>
          <a:solidFill>
            <a:srgbClr val="143B37"/>
          </a:solidFill>
          <a:ln w="12700">
            <a:solidFill>
              <a:srgbClr val="143B37"/>
            </a:solidFill>
            <a:prstDash val="solid"/>
          </a:ln>
        </p:spPr>
      </p:sp>
      <p:sp>
        <p:nvSpPr>
          <p:cNvPr id="13" name="Shape 11"/>
          <p:cNvSpPr/>
          <p:nvPr/>
        </p:nvSpPr>
        <p:spPr>
          <a:xfrm>
            <a:off x="5696712" y="3273552"/>
            <a:ext cx="283464" cy="0"/>
          </a:xfrm>
          <a:prstGeom prst="line">
            <a:avLst/>
          </a:prstGeom>
          <a:noFill/>
          <a:ln w="17780">
            <a:solidFill>
              <a:srgbClr val="78B7A9"/>
            </a:solidFill>
            <a:prstDash val="solid"/>
            <a:headEnd type="none"/>
            <a:tailEnd type="triangle"/>
          </a:ln>
        </p:spPr>
      </p:sp>
      <p:sp>
        <p:nvSpPr>
          <p:cNvPr id="14" name="Shape 12"/>
          <p:cNvSpPr/>
          <p:nvPr/>
        </p:nvSpPr>
        <p:spPr>
          <a:xfrm>
            <a:off x="4736592" y="2880360"/>
            <a:ext cx="768096" cy="768096"/>
          </a:xfrm>
          <a:prstGeom prst="ellipse">
            <a:avLst/>
          </a:prstGeom>
          <a:solidFill>
            <a:srgbClr val="1D6B62"/>
          </a:solidFill>
          <a:ln w="12700">
            <a:solidFill>
              <a:srgbClr val="FFFDF8">
                <a:alpha val="45000"/>
              </a:srgbClr>
            </a:solidFill>
            <a:prstDash val="solid"/>
          </a:ln>
        </p:spPr>
      </p:sp>
      <p:sp>
        <p:nvSpPr>
          <p:cNvPr id="15" name="Text 13"/>
          <p:cNvSpPr/>
          <p:nvPr/>
        </p:nvSpPr>
        <p:spPr>
          <a:xfrm>
            <a:off x="4736592"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01</a:t>
            </a:r>
            <a:endParaRPr lang="en-US" sz="1200" dirty="0"/>
          </a:p>
        </p:txBody>
      </p:sp>
      <p:sp>
        <p:nvSpPr>
          <p:cNvPr id="16" name="Text 14"/>
          <p:cNvSpPr/>
          <p:nvPr/>
        </p:nvSpPr>
        <p:spPr>
          <a:xfrm>
            <a:off x="4590288"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Product</a:t>
            </a:r>
            <a:endParaRPr lang="en-US" sz="1100" dirty="0"/>
          </a:p>
        </p:txBody>
      </p:sp>
      <p:sp>
        <p:nvSpPr>
          <p:cNvPr id="17" name="Text 15"/>
          <p:cNvSpPr/>
          <p:nvPr/>
        </p:nvSpPr>
        <p:spPr>
          <a:xfrm>
            <a:off x="4480560"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fresh yellow onions</a:t>
            </a:r>
            <a:endParaRPr lang="en-US" sz="930" dirty="0"/>
          </a:p>
        </p:txBody>
      </p:sp>
      <p:sp>
        <p:nvSpPr>
          <p:cNvPr id="18" name="Shape 16"/>
          <p:cNvSpPr/>
          <p:nvPr/>
        </p:nvSpPr>
        <p:spPr>
          <a:xfrm>
            <a:off x="7013448" y="3273552"/>
            <a:ext cx="283464" cy="0"/>
          </a:xfrm>
          <a:prstGeom prst="line">
            <a:avLst/>
          </a:prstGeom>
          <a:noFill/>
          <a:ln w="17780">
            <a:solidFill>
              <a:srgbClr val="78B7A9"/>
            </a:solidFill>
            <a:prstDash val="solid"/>
            <a:headEnd type="none"/>
            <a:tailEnd type="triangle"/>
          </a:ln>
        </p:spPr>
      </p:sp>
      <p:sp>
        <p:nvSpPr>
          <p:cNvPr id="19" name="Shape 17"/>
          <p:cNvSpPr/>
          <p:nvPr/>
        </p:nvSpPr>
        <p:spPr>
          <a:xfrm>
            <a:off x="6053328" y="2880360"/>
            <a:ext cx="768096" cy="768096"/>
          </a:xfrm>
          <a:prstGeom prst="ellipse">
            <a:avLst/>
          </a:prstGeom>
          <a:solidFill>
            <a:srgbClr val="1D6B62"/>
          </a:solidFill>
          <a:ln w="12700">
            <a:solidFill>
              <a:srgbClr val="FFFDF8">
                <a:alpha val="45000"/>
              </a:srgbClr>
            </a:solidFill>
            <a:prstDash val="solid"/>
          </a:ln>
        </p:spPr>
      </p:sp>
      <p:sp>
        <p:nvSpPr>
          <p:cNvPr id="20" name="Text 18"/>
          <p:cNvSpPr/>
          <p:nvPr/>
        </p:nvSpPr>
        <p:spPr>
          <a:xfrm>
            <a:off x="6053328"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02</a:t>
            </a:r>
            <a:endParaRPr lang="en-US" sz="1200" dirty="0"/>
          </a:p>
        </p:txBody>
      </p:sp>
      <p:sp>
        <p:nvSpPr>
          <p:cNvPr id="21" name="Text 19"/>
          <p:cNvSpPr/>
          <p:nvPr/>
        </p:nvSpPr>
        <p:spPr>
          <a:xfrm>
            <a:off x="5907024"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Lot / PO</a:t>
            </a:r>
            <a:endParaRPr lang="en-US" sz="1100" dirty="0"/>
          </a:p>
        </p:txBody>
      </p:sp>
      <p:sp>
        <p:nvSpPr>
          <p:cNvPr id="22" name="Text 20"/>
          <p:cNvSpPr/>
          <p:nvPr/>
        </p:nvSpPr>
        <p:spPr>
          <a:xfrm>
            <a:off x="5797296"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GVP-8842, PO-1002</a:t>
            </a:r>
            <a:endParaRPr lang="en-US" sz="930" dirty="0"/>
          </a:p>
        </p:txBody>
      </p:sp>
      <p:sp>
        <p:nvSpPr>
          <p:cNvPr id="23" name="Shape 21"/>
          <p:cNvSpPr/>
          <p:nvPr/>
        </p:nvSpPr>
        <p:spPr>
          <a:xfrm>
            <a:off x="8330184" y="3273552"/>
            <a:ext cx="283464" cy="0"/>
          </a:xfrm>
          <a:prstGeom prst="line">
            <a:avLst/>
          </a:prstGeom>
          <a:noFill/>
          <a:ln w="17780">
            <a:solidFill>
              <a:srgbClr val="78B7A9"/>
            </a:solidFill>
            <a:prstDash val="solid"/>
            <a:headEnd type="none"/>
            <a:tailEnd type="triangle"/>
          </a:ln>
        </p:spPr>
      </p:sp>
      <p:sp>
        <p:nvSpPr>
          <p:cNvPr id="24" name="Shape 22"/>
          <p:cNvSpPr/>
          <p:nvPr/>
        </p:nvSpPr>
        <p:spPr>
          <a:xfrm>
            <a:off x="7370064" y="2880360"/>
            <a:ext cx="768096" cy="768096"/>
          </a:xfrm>
          <a:prstGeom prst="ellipse">
            <a:avLst/>
          </a:prstGeom>
          <a:solidFill>
            <a:srgbClr val="1D6B62"/>
          </a:solidFill>
          <a:ln w="12700">
            <a:solidFill>
              <a:srgbClr val="FFFDF8">
                <a:alpha val="45000"/>
              </a:srgbClr>
            </a:solidFill>
            <a:prstDash val="solid"/>
          </a:ln>
        </p:spPr>
      </p:sp>
      <p:sp>
        <p:nvSpPr>
          <p:cNvPr id="25" name="Text 23"/>
          <p:cNvSpPr/>
          <p:nvPr/>
        </p:nvSpPr>
        <p:spPr>
          <a:xfrm>
            <a:off x="7370064"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03</a:t>
            </a:r>
            <a:endParaRPr lang="en-US" sz="1200" dirty="0"/>
          </a:p>
        </p:txBody>
      </p:sp>
      <p:sp>
        <p:nvSpPr>
          <p:cNvPr id="26" name="Text 24"/>
          <p:cNvSpPr/>
          <p:nvPr/>
        </p:nvSpPr>
        <p:spPr>
          <a:xfrm>
            <a:off x="7223760"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Warehouse</a:t>
            </a:r>
            <a:endParaRPr lang="en-US" sz="1100" dirty="0"/>
          </a:p>
        </p:txBody>
      </p:sp>
      <p:sp>
        <p:nvSpPr>
          <p:cNvPr id="27" name="Text 25"/>
          <p:cNvSpPr/>
          <p:nvPr/>
        </p:nvSpPr>
        <p:spPr>
          <a:xfrm>
            <a:off x="7114032"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Oakland DC</a:t>
            </a:r>
            <a:endParaRPr lang="en-US" sz="930" dirty="0"/>
          </a:p>
        </p:txBody>
      </p:sp>
      <p:sp>
        <p:nvSpPr>
          <p:cNvPr id="28" name="Shape 26"/>
          <p:cNvSpPr/>
          <p:nvPr/>
        </p:nvSpPr>
        <p:spPr>
          <a:xfrm>
            <a:off x="9646920" y="3273552"/>
            <a:ext cx="283464" cy="0"/>
          </a:xfrm>
          <a:prstGeom prst="line">
            <a:avLst/>
          </a:prstGeom>
          <a:noFill/>
          <a:ln w="17780">
            <a:solidFill>
              <a:srgbClr val="78B7A9"/>
            </a:solidFill>
            <a:prstDash val="solid"/>
            <a:headEnd type="none"/>
            <a:tailEnd type="triangle"/>
          </a:ln>
        </p:spPr>
      </p:sp>
      <p:sp>
        <p:nvSpPr>
          <p:cNvPr id="29" name="Shape 27"/>
          <p:cNvSpPr/>
          <p:nvPr/>
        </p:nvSpPr>
        <p:spPr>
          <a:xfrm>
            <a:off x="8686800" y="2880360"/>
            <a:ext cx="768096" cy="768096"/>
          </a:xfrm>
          <a:prstGeom prst="ellipse">
            <a:avLst/>
          </a:prstGeom>
          <a:solidFill>
            <a:srgbClr val="1D6B62"/>
          </a:solidFill>
          <a:ln w="12700">
            <a:solidFill>
              <a:srgbClr val="FFFDF8">
                <a:alpha val="45000"/>
              </a:srgbClr>
            </a:solidFill>
            <a:prstDash val="solid"/>
          </a:ln>
        </p:spPr>
      </p:sp>
      <p:sp>
        <p:nvSpPr>
          <p:cNvPr id="30" name="Text 28"/>
          <p:cNvSpPr/>
          <p:nvPr/>
        </p:nvSpPr>
        <p:spPr>
          <a:xfrm>
            <a:off x="8686800"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04</a:t>
            </a:r>
            <a:endParaRPr lang="en-US" sz="1200" dirty="0"/>
          </a:p>
        </p:txBody>
      </p:sp>
      <p:sp>
        <p:nvSpPr>
          <p:cNvPr id="31" name="Text 29"/>
          <p:cNvSpPr/>
          <p:nvPr/>
        </p:nvSpPr>
        <p:spPr>
          <a:xfrm>
            <a:off x="8540496"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Pantry</a:t>
            </a:r>
            <a:endParaRPr lang="en-US" sz="1100" dirty="0"/>
          </a:p>
        </p:txBody>
      </p:sp>
      <p:sp>
        <p:nvSpPr>
          <p:cNvPr id="32" name="Text 30"/>
          <p:cNvSpPr/>
          <p:nvPr/>
        </p:nvSpPr>
        <p:spPr>
          <a:xfrm>
            <a:off x="8430768"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28 lines infeasible</a:t>
            </a:r>
            <a:endParaRPr lang="en-US" sz="930" dirty="0"/>
          </a:p>
        </p:txBody>
      </p:sp>
      <p:sp>
        <p:nvSpPr>
          <p:cNvPr id="33" name="Shape 31"/>
          <p:cNvSpPr/>
          <p:nvPr/>
        </p:nvSpPr>
        <p:spPr>
          <a:xfrm>
            <a:off x="10003536" y="2880360"/>
            <a:ext cx="768096" cy="768096"/>
          </a:xfrm>
          <a:prstGeom prst="ellipse">
            <a:avLst/>
          </a:prstGeom>
          <a:solidFill>
            <a:srgbClr val="B94735"/>
          </a:solidFill>
          <a:ln w="12700">
            <a:solidFill>
              <a:srgbClr val="FFFDF8">
                <a:alpha val="45000"/>
              </a:srgbClr>
            </a:solidFill>
            <a:prstDash val="solid"/>
          </a:ln>
        </p:spPr>
      </p:sp>
      <p:sp>
        <p:nvSpPr>
          <p:cNvPr id="34" name="Text 32"/>
          <p:cNvSpPr/>
          <p:nvPr/>
        </p:nvSpPr>
        <p:spPr>
          <a:xfrm>
            <a:off x="10003536"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05</a:t>
            </a:r>
            <a:endParaRPr lang="en-US" sz="1200" dirty="0"/>
          </a:p>
        </p:txBody>
      </p:sp>
      <p:sp>
        <p:nvSpPr>
          <p:cNvPr id="35" name="Text 33"/>
          <p:cNvSpPr/>
          <p:nvPr/>
        </p:nvSpPr>
        <p:spPr>
          <a:xfrm>
            <a:off x="9857232"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Recovery</a:t>
            </a:r>
            <a:endParaRPr lang="en-US" sz="1100" dirty="0"/>
          </a:p>
        </p:txBody>
      </p:sp>
      <p:sp>
        <p:nvSpPr>
          <p:cNvPr id="36" name="Text 34"/>
          <p:cNvSpPr/>
          <p:nvPr/>
        </p:nvSpPr>
        <p:spPr>
          <a:xfrm>
            <a:off x="9747504"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substitute + buy</a:t>
            </a:r>
            <a:endParaRPr lang="en-US" sz="930" dirty="0"/>
          </a:p>
        </p:txBody>
      </p:sp>
      <p:sp>
        <p:nvSpPr>
          <p:cNvPr id="37" name="Text 35"/>
          <p:cNvSpPr/>
          <p:nvPr/>
        </p:nvSpPr>
        <p:spPr>
          <a:xfrm>
            <a:off x="4736592" y="4919472"/>
            <a:ext cx="3108960" cy="274320"/>
          </a:xfrm>
          <a:prstGeom prst="rect">
            <a:avLst/>
          </a:prstGeom>
          <a:noFill/>
          <a:ln/>
        </p:spPr>
        <p:txBody>
          <a:bodyPr wrap="square" lIns="0" tIns="0" rIns="0" bIns="0" rtlCol="0" anchor="ctr">
            <a:normAutofit/>
          </a:bodyPr>
          <a:lstStyle/>
          <a:p>
            <a:pPr indent="0" marL="0">
              <a:buNone/>
            </a:pPr>
            <a:r>
              <a:rPr lang="en-US" sz="1200" b="1" dirty="0">
                <a:solidFill>
                  <a:srgbClr val="FFFDF8"/>
                </a:solidFill>
                <a:latin typeface="Aptos" pitchFamily="34" charset="0"/>
                <a:ea typeface="Aptos" pitchFamily="34" charset="-122"/>
                <a:cs typeface="Aptos" pitchFamily="34" charset="-120"/>
              </a:rPr>
              <a:t>Missing joins create three failure modes</a:t>
            </a:r>
            <a:endParaRPr lang="en-US" sz="1200" dirty="0"/>
          </a:p>
        </p:txBody>
      </p:sp>
      <p:sp>
        <p:nvSpPr>
          <p:cNvPr id="38" name="Shape 36"/>
          <p:cNvSpPr/>
          <p:nvPr/>
        </p:nvSpPr>
        <p:spPr>
          <a:xfrm>
            <a:off x="4736592" y="5239512"/>
            <a:ext cx="1417320" cy="274320"/>
          </a:xfrm>
          <a:prstGeom prst="roundRect">
            <a:avLst/>
          </a:prstGeom>
          <a:solidFill>
            <a:srgbClr val="1D6B62"/>
          </a:solidFill>
          <a:ln w="12700">
            <a:solidFill>
              <a:srgbClr val="1D6B62"/>
            </a:solidFill>
            <a:prstDash val="solid"/>
          </a:ln>
        </p:spPr>
      </p:sp>
      <p:sp>
        <p:nvSpPr>
          <p:cNvPr id="39" name="Text 37"/>
          <p:cNvSpPr/>
          <p:nvPr/>
        </p:nvSpPr>
        <p:spPr>
          <a:xfrm>
            <a:off x="4809744" y="5266944"/>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DELAYED QUARANTINE</a:t>
            </a:r>
            <a:endParaRPr lang="en-US" sz="900" dirty="0"/>
          </a:p>
        </p:txBody>
      </p:sp>
      <p:sp>
        <p:nvSpPr>
          <p:cNvPr id="40" name="Shape 38"/>
          <p:cNvSpPr/>
          <p:nvPr/>
        </p:nvSpPr>
        <p:spPr>
          <a:xfrm>
            <a:off x="6336792" y="5239512"/>
            <a:ext cx="1627632" cy="274320"/>
          </a:xfrm>
          <a:prstGeom prst="roundRect">
            <a:avLst/>
          </a:prstGeom>
          <a:solidFill>
            <a:srgbClr val="1D6B62"/>
          </a:solidFill>
          <a:ln w="12700">
            <a:solidFill>
              <a:srgbClr val="1D6B62"/>
            </a:solidFill>
            <a:prstDash val="solid"/>
          </a:ln>
        </p:spPr>
      </p:sp>
      <p:sp>
        <p:nvSpPr>
          <p:cNvPr id="41" name="Text 39"/>
          <p:cNvSpPr/>
          <p:nvPr/>
        </p:nvSpPr>
        <p:spPr>
          <a:xfrm>
            <a:off x="6409944" y="5266944"/>
            <a:ext cx="1481328"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INFEASIBLE ALLOCATIONS</a:t>
            </a:r>
            <a:endParaRPr lang="en-US" sz="900" dirty="0"/>
          </a:p>
        </p:txBody>
      </p:sp>
      <p:sp>
        <p:nvSpPr>
          <p:cNvPr id="42" name="Shape 40"/>
          <p:cNvSpPr/>
          <p:nvPr/>
        </p:nvSpPr>
        <p:spPr>
          <a:xfrm>
            <a:off x="8147304" y="5239512"/>
            <a:ext cx="1335024" cy="274320"/>
          </a:xfrm>
          <a:prstGeom prst="roundRect">
            <a:avLst/>
          </a:prstGeom>
          <a:solidFill>
            <a:srgbClr val="B94735"/>
          </a:solidFill>
          <a:ln w="12700">
            <a:solidFill>
              <a:srgbClr val="B94735"/>
            </a:solidFill>
            <a:prstDash val="solid"/>
          </a:ln>
        </p:spPr>
      </p:sp>
      <p:sp>
        <p:nvSpPr>
          <p:cNvPr id="43" name="Text 41"/>
          <p:cNvSpPr/>
          <p:nvPr/>
        </p:nvSpPr>
        <p:spPr>
          <a:xfrm>
            <a:off x="8220456" y="5266944"/>
            <a:ext cx="1188720"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SILENT SHORTAGES</a:t>
            </a:r>
            <a:endParaRPr lang="en-US" sz="900" dirty="0"/>
          </a:p>
        </p:txBody>
      </p:sp>
      <p:sp>
        <p:nvSpPr>
          <p:cNvPr id="44" name="Text 4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Workflow sources show notice intake, inventory isolation, agency notification, and disposition tasks.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Rhode Island Community Food Bank recall process" history="1" highlightClick="0" endSnd="0">
                  <a:extLst>
                    <a:ext uri="{A12FA001-AC4F-418D-AE19-62706E023703}">
                      <ahyp:hlinkClr xmlns:ahyp="http://schemas.microsoft.com/office/drawing/2018/hyperlinkcolor" val="tx"/>
                    </a:ext>
                  </a:extLst>
                </a:hlinkClick>
              </a:rPr>
              <a:t>Rhode Island Community Food Bank recall process</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MANNA FoodBank recall workflow" history="1" highlightClick="0" endSnd="0">
                  <a:extLst>
                    <a:ext uri="{A12FA001-AC4F-418D-AE19-62706E023703}">
                      <ahyp:hlinkClr xmlns:ahyp="http://schemas.microsoft.com/office/drawing/2018/hyperlinkcolor" val="tx"/>
                    </a:ext>
                  </a:extLst>
                </a:hlinkClick>
              </a:rPr>
              <a:t>MANNA FoodBank recall workflow</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SYSTEM</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Agentic analysis. Deterministic execution boundary.</a:t>
            </a:r>
            <a:endParaRPr lang="en-US" sz="3600" dirty="0"/>
          </a:p>
        </p:txBody>
      </p:sp>
      <p:sp>
        <p:nvSpPr>
          <p:cNvPr id="4" name="Text 2"/>
          <p:cNvSpPr/>
          <p:nvPr/>
        </p:nvSpPr>
        <p:spPr>
          <a:xfrm>
            <a:off x="658368" y="1572768"/>
            <a:ext cx="10698480" cy="530352"/>
          </a:xfrm>
          <a:prstGeom prst="rect">
            <a:avLst/>
          </a:prstGeom>
          <a:noFill/>
          <a:ln/>
        </p:spPr>
        <p:txBody>
          <a:bodyPr wrap="square" lIns="0" tIns="0" rIns="0" bIns="0" rtlCol="0" anchor="t">
            <a:normAutofit/>
          </a:bodyPr>
          <a:lstStyle/>
          <a:p>
            <a:pPr indent="0" marL="0">
              <a:buNone/>
            </a:pPr>
            <a:r>
              <a:rPr lang="en-US" sz="1600" dirty="0">
                <a:solidFill>
                  <a:srgbClr val="61706D"/>
                </a:solidFill>
                <a:latin typeface="Aptos" pitchFamily="34" charset="0"/>
                <a:ea typeface="Aptos" pitchFamily="34" charset="-122"/>
                <a:cs typeface="Aptos" pitchFamily="34" charset="-120"/>
              </a:rPr>
              <a:t>The agent gathers and explains evidence. Typed tools, state projection, optimization, and approval checks decide what is feasible and what may execute.</a:t>
            </a:r>
            <a:endParaRPr lang="en-US" sz="1600" dirty="0"/>
          </a:p>
        </p:txBody>
      </p:sp>
      <p:sp>
        <p:nvSpPr>
          <p:cNvPr id="5" name="Text 3"/>
          <p:cNvSpPr/>
          <p:nvPr/>
        </p:nvSpPr>
        <p:spPr>
          <a:xfrm>
            <a:off x="658368" y="2331720"/>
            <a:ext cx="1170432" cy="228600"/>
          </a:xfrm>
          <a:prstGeom prst="rect">
            <a:avLst/>
          </a:prstGeom>
          <a:noFill/>
          <a:ln/>
        </p:spPr>
        <p:txBody>
          <a:bodyPr wrap="square" lIns="0" tIns="0" rIns="0" bIns="0" rtlCol="0" anchor="ctr">
            <a:normAutofit/>
          </a:bodyPr>
          <a:lstStyle/>
          <a:p>
            <a:pPr indent="0" marL="0">
              <a:buNone/>
            </a:pPr>
            <a:r>
              <a:rPr lang="en-US" sz="1000" b="1" spc="110" kern="0" dirty="0">
                <a:solidFill>
                  <a:srgbClr val="B94735"/>
                </a:solidFill>
                <a:latin typeface="Aptos" pitchFamily="34" charset="0"/>
                <a:ea typeface="Aptos" pitchFamily="34" charset="-122"/>
                <a:cs typeface="Aptos" pitchFamily="34" charset="-120"/>
              </a:rPr>
              <a:t>AGENT LOOP</a:t>
            </a:r>
            <a:endParaRPr lang="en-US" sz="1000" dirty="0"/>
          </a:p>
        </p:txBody>
      </p:sp>
      <p:sp>
        <p:nvSpPr>
          <p:cNvPr id="6" name="Shape 4"/>
          <p:cNvSpPr/>
          <p:nvPr/>
        </p:nvSpPr>
        <p:spPr>
          <a:xfrm>
            <a:off x="658368" y="2697480"/>
            <a:ext cx="1152144" cy="914400"/>
          </a:xfrm>
          <a:prstGeom prst="roundRect">
            <a:avLst>
              <a:gd name="adj" fmla="val 8000"/>
            </a:avLst>
          </a:prstGeom>
          <a:solidFill>
            <a:srgbClr val="FFFDF8"/>
          </a:solidFill>
          <a:ln w="12700">
            <a:solidFill>
              <a:srgbClr val="D9D2C2"/>
            </a:solidFill>
            <a:prstDash val="solid"/>
          </a:ln>
        </p:spPr>
      </p:sp>
      <p:sp>
        <p:nvSpPr>
          <p:cNvPr id="7" name="Text 5"/>
          <p:cNvSpPr/>
          <p:nvPr/>
        </p:nvSpPr>
        <p:spPr>
          <a:xfrm>
            <a:off x="731520"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Observe</a:t>
            </a:r>
            <a:endParaRPr lang="en-US" sz="1120" dirty="0"/>
          </a:p>
        </p:txBody>
      </p:sp>
      <p:sp>
        <p:nvSpPr>
          <p:cNvPr id="8" name="Text 6"/>
          <p:cNvSpPr/>
          <p:nvPr/>
        </p:nvSpPr>
        <p:spPr>
          <a:xfrm>
            <a:off x="722376"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notice + state</a:t>
            </a:r>
            <a:endParaRPr lang="en-US" sz="880" dirty="0"/>
          </a:p>
        </p:txBody>
      </p:sp>
      <p:sp>
        <p:nvSpPr>
          <p:cNvPr id="9" name="Shape 7"/>
          <p:cNvSpPr/>
          <p:nvPr/>
        </p:nvSpPr>
        <p:spPr>
          <a:xfrm>
            <a:off x="1828800" y="3154680"/>
            <a:ext cx="155448" cy="0"/>
          </a:xfrm>
          <a:prstGeom prst="line">
            <a:avLst/>
          </a:prstGeom>
          <a:noFill/>
          <a:ln w="16510">
            <a:solidFill>
              <a:srgbClr val="1D6B62"/>
            </a:solidFill>
            <a:prstDash val="solid"/>
            <a:headEnd type="none"/>
            <a:tailEnd type="triangle"/>
          </a:ln>
        </p:spPr>
      </p:sp>
      <p:sp>
        <p:nvSpPr>
          <p:cNvPr id="10" name="Shape 8"/>
          <p:cNvSpPr/>
          <p:nvPr/>
        </p:nvSpPr>
        <p:spPr>
          <a:xfrm>
            <a:off x="2011680" y="2697480"/>
            <a:ext cx="1152144" cy="914400"/>
          </a:xfrm>
          <a:prstGeom prst="roundRect">
            <a:avLst>
              <a:gd name="adj" fmla="val 8000"/>
            </a:avLst>
          </a:prstGeom>
          <a:solidFill>
            <a:srgbClr val="FFFDF8"/>
          </a:solidFill>
          <a:ln w="12700">
            <a:solidFill>
              <a:srgbClr val="D9D2C2"/>
            </a:solidFill>
            <a:prstDash val="solid"/>
          </a:ln>
        </p:spPr>
      </p:sp>
      <p:sp>
        <p:nvSpPr>
          <p:cNvPr id="11" name="Text 9"/>
          <p:cNvSpPr/>
          <p:nvPr/>
        </p:nvSpPr>
        <p:spPr>
          <a:xfrm>
            <a:off x="2084832"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Extract</a:t>
            </a:r>
            <a:endParaRPr lang="en-US" sz="1120" dirty="0"/>
          </a:p>
        </p:txBody>
      </p:sp>
      <p:sp>
        <p:nvSpPr>
          <p:cNvPr id="12" name="Text 10"/>
          <p:cNvSpPr/>
          <p:nvPr/>
        </p:nvSpPr>
        <p:spPr>
          <a:xfrm>
            <a:off x="2075688"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typed fields</a:t>
            </a:r>
            <a:endParaRPr lang="en-US" sz="880" dirty="0"/>
          </a:p>
        </p:txBody>
      </p:sp>
      <p:sp>
        <p:nvSpPr>
          <p:cNvPr id="13" name="Shape 11"/>
          <p:cNvSpPr/>
          <p:nvPr/>
        </p:nvSpPr>
        <p:spPr>
          <a:xfrm>
            <a:off x="3182112" y="3154680"/>
            <a:ext cx="155448" cy="0"/>
          </a:xfrm>
          <a:prstGeom prst="line">
            <a:avLst/>
          </a:prstGeom>
          <a:noFill/>
          <a:ln w="16510">
            <a:solidFill>
              <a:srgbClr val="1D6B62"/>
            </a:solidFill>
            <a:prstDash val="solid"/>
            <a:headEnd type="none"/>
            <a:tailEnd type="triangle"/>
          </a:ln>
        </p:spPr>
      </p:sp>
      <p:sp>
        <p:nvSpPr>
          <p:cNvPr id="14" name="Shape 12"/>
          <p:cNvSpPr/>
          <p:nvPr/>
        </p:nvSpPr>
        <p:spPr>
          <a:xfrm>
            <a:off x="3364992" y="2697480"/>
            <a:ext cx="1152144" cy="914400"/>
          </a:xfrm>
          <a:prstGeom prst="roundRect">
            <a:avLst>
              <a:gd name="adj" fmla="val 8000"/>
            </a:avLst>
          </a:prstGeom>
          <a:solidFill>
            <a:srgbClr val="FFFDF8"/>
          </a:solidFill>
          <a:ln w="12700">
            <a:solidFill>
              <a:srgbClr val="D9D2C2"/>
            </a:solidFill>
            <a:prstDash val="solid"/>
          </a:ln>
        </p:spPr>
      </p:sp>
      <p:sp>
        <p:nvSpPr>
          <p:cNvPr id="15" name="Text 13"/>
          <p:cNvSpPr/>
          <p:nvPr/>
        </p:nvSpPr>
        <p:spPr>
          <a:xfrm>
            <a:off x="3438144"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Trace</a:t>
            </a:r>
            <a:endParaRPr lang="en-US" sz="1120" dirty="0"/>
          </a:p>
        </p:txBody>
      </p:sp>
      <p:sp>
        <p:nvSpPr>
          <p:cNvPr id="16" name="Text 14"/>
          <p:cNvSpPr/>
          <p:nvPr/>
        </p:nvSpPr>
        <p:spPr>
          <a:xfrm>
            <a:off x="3429000"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graph joins</a:t>
            </a:r>
            <a:endParaRPr lang="en-US" sz="880" dirty="0"/>
          </a:p>
        </p:txBody>
      </p:sp>
      <p:sp>
        <p:nvSpPr>
          <p:cNvPr id="17" name="Shape 15"/>
          <p:cNvSpPr/>
          <p:nvPr/>
        </p:nvSpPr>
        <p:spPr>
          <a:xfrm>
            <a:off x="4535424" y="3154680"/>
            <a:ext cx="155448" cy="0"/>
          </a:xfrm>
          <a:prstGeom prst="line">
            <a:avLst/>
          </a:prstGeom>
          <a:noFill/>
          <a:ln w="16510">
            <a:solidFill>
              <a:srgbClr val="1D6B62"/>
            </a:solidFill>
            <a:prstDash val="solid"/>
            <a:headEnd type="none"/>
            <a:tailEnd type="triangle"/>
          </a:ln>
        </p:spPr>
      </p:sp>
      <p:sp>
        <p:nvSpPr>
          <p:cNvPr id="18" name="Shape 16"/>
          <p:cNvSpPr/>
          <p:nvPr/>
        </p:nvSpPr>
        <p:spPr>
          <a:xfrm>
            <a:off x="4718304" y="2697480"/>
            <a:ext cx="1152144" cy="914400"/>
          </a:xfrm>
          <a:prstGeom prst="roundRect">
            <a:avLst>
              <a:gd name="adj" fmla="val 8000"/>
            </a:avLst>
          </a:prstGeom>
          <a:solidFill>
            <a:srgbClr val="FFFDF8"/>
          </a:solidFill>
          <a:ln w="12700">
            <a:solidFill>
              <a:srgbClr val="D9D2C2"/>
            </a:solidFill>
            <a:prstDash val="solid"/>
          </a:ln>
        </p:spPr>
      </p:sp>
      <p:sp>
        <p:nvSpPr>
          <p:cNvPr id="19" name="Text 17"/>
          <p:cNvSpPr/>
          <p:nvPr/>
        </p:nvSpPr>
        <p:spPr>
          <a:xfrm>
            <a:off x="4791456"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Project</a:t>
            </a:r>
            <a:endParaRPr lang="en-US" sz="1120" dirty="0"/>
          </a:p>
        </p:txBody>
      </p:sp>
      <p:sp>
        <p:nvSpPr>
          <p:cNvPr id="20" name="Text 18"/>
          <p:cNvSpPr/>
          <p:nvPr/>
        </p:nvSpPr>
        <p:spPr>
          <a:xfrm>
            <a:off x="4782312"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7-day service</a:t>
            </a:r>
            <a:endParaRPr lang="en-US" sz="880" dirty="0"/>
          </a:p>
        </p:txBody>
      </p:sp>
      <p:sp>
        <p:nvSpPr>
          <p:cNvPr id="21" name="Shape 19"/>
          <p:cNvSpPr/>
          <p:nvPr/>
        </p:nvSpPr>
        <p:spPr>
          <a:xfrm>
            <a:off x="5888736" y="3154680"/>
            <a:ext cx="155448" cy="0"/>
          </a:xfrm>
          <a:prstGeom prst="line">
            <a:avLst/>
          </a:prstGeom>
          <a:noFill/>
          <a:ln w="16510">
            <a:solidFill>
              <a:srgbClr val="1D6B62"/>
            </a:solidFill>
            <a:prstDash val="solid"/>
            <a:headEnd type="none"/>
            <a:tailEnd type="triangle"/>
          </a:ln>
        </p:spPr>
      </p:sp>
      <p:sp>
        <p:nvSpPr>
          <p:cNvPr id="22" name="Shape 20"/>
          <p:cNvSpPr/>
          <p:nvPr/>
        </p:nvSpPr>
        <p:spPr>
          <a:xfrm>
            <a:off x="6071616" y="2697480"/>
            <a:ext cx="1152144" cy="914400"/>
          </a:xfrm>
          <a:prstGeom prst="roundRect">
            <a:avLst>
              <a:gd name="adj" fmla="val 8000"/>
            </a:avLst>
          </a:prstGeom>
          <a:solidFill>
            <a:srgbClr val="FFFDF8"/>
          </a:solidFill>
          <a:ln w="12700">
            <a:solidFill>
              <a:srgbClr val="D9D2C2"/>
            </a:solidFill>
            <a:prstDash val="solid"/>
          </a:ln>
        </p:spPr>
      </p:sp>
      <p:sp>
        <p:nvSpPr>
          <p:cNvPr id="23" name="Text 21"/>
          <p:cNvSpPr/>
          <p:nvPr/>
        </p:nvSpPr>
        <p:spPr>
          <a:xfrm>
            <a:off x="6144768"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Optimize</a:t>
            </a:r>
            <a:endParaRPr lang="en-US" sz="1120" dirty="0"/>
          </a:p>
        </p:txBody>
      </p:sp>
      <p:sp>
        <p:nvSpPr>
          <p:cNvPr id="24" name="Text 22"/>
          <p:cNvSpPr/>
          <p:nvPr/>
        </p:nvSpPr>
        <p:spPr>
          <a:xfrm>
            <a:off x="6135624"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LP recovery</a:t>
            </a:r>
            <a:endParaRPr lang="en-US" sz="880" dirty="0"/>
          </a:p>
        </p:txBody>
      </p:sp>
      <p:sp>
        <p:nvSpPr>
          <p:cNvPr id="25" name="Shape 23"/>
          <p:cNvSpPr/>
          <p:nvPr/>
        </p:nvSpPr>
        <p:spPr>
          <a:xfrm>
            <a:off x="7242048" y="3154680"/>
            <a:ext cx="155448" cy="0"/>
          </a:xfrm>
          <a:prstGeom prst="line">
            <a:avLst/>
          </a:prstGeom>
          <a:noFill/>
          <a:ln w="16510">
            <a:solidFill>
              <a:srgbClr val="1D6B62"/>
            </a:solidFill>
            <a:prstDash val="solid"/>
            <a:headEnd type="none"/>
            <a:tailEnd type="triangle"/>
          </a:ln>
        </p:spPr>
      </p:sp>
      <p:sp>
        <p:nvSpPr>
          <p:cNvPr id="26" name="Shape 24"/>
          <p:cNvSpPr/>
          <p:nvPr/>
        </p:nvSpPr>
        <p:spPr>
          <a:xfrm>
            <a:off x="7424928" y="2697480"/>
            <a:ext cx="1152144" cy="914400"/>
          </a:xfrm>
          <a:prstGeom prst="roundRect">
            <a:avLst>
              <a:gd name="adj" fmla="val 8000"/>
            </a:avLst>
          </a:prstGeom>
          <a:solidFill>
            <a:srgbClr val="F1D5CC"/>
          </a:solidFill>
          <a:ln w="12700">
            <a:solidFill>
              <a:srgbClr val="B94735"/>
            </a:solidFill>
            <a:prstDash val="solid"/>
          </a:ln>
        </p:spPr>
      </p:sp>
      <p:sp>
        <p:nvSpPr>
          <p:cNvPr id="27" name="Text 25"/>
          <p:cNvSpPr/>
          <p:nvPr/>
        </p:nvSpPr>
        <p:spPr>
          <a:xfrm>
            <a:off x="7498080"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8F3327"/>
                </a:solidFill>
                <a:latin typeface="Aptos" pitchFamily="34" charset="0"/>
                <a:ea typeface="Aptos" pitchFamily="34" charset="-122"/>
                <a:cs typeface="Aptos" pitchFamily="34" charset="-120"/>
              </a:rPr>
              <a:t>Explain</a:t>
            </a:r>
            <a:endParaRPr lang="en-US" sz="1120" dirty="0"/>
          </a:p>
        </p:txBody>
      </p:sp>
      <p:sp>
        <p:nvSpPr>
          <p:cNvPr id="28" name="Text 26"/>
          <p:cNvSpPr/>
          <p:nvPr/>
        </p:nvSpPr>
        <p:spPr>
          <a:xfrm>
            <a:off x="7488936"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draft + comms</a:t>
            </a:r>
            <a:endParaRPr lang="en-US" sz="880" dirty="0"/>
          </a:p>
        </p:txBody>
      </p:sp>
      <p:sp>
        <p:nvSpPr>
          <p:cNvPr id="29" name="Shape 27"/>
          <p:cNvSpPr/>
          <p:nvPr/>
        </p:nvSpPr>
        <p:spPr>
          <a:xfrm>
            <a:off x="658368" y="4078224"/>
            <a:ext cx="8156448" cy="1554480"/>
          </a:xfrm>
          <a:prstGeom prst="roundRect">
            <a:avLst>
              <a:gd name="adj" fmla="val 4706"/>
            </a:avLst>
          </a:prstGeom>
          <a:solidFill>
            <a:srgbClr val="143B37"/>
          </a:solidFill>
          <a:ln w="12700">
            <a:solidFill>
              <a:srgbClr val="143B37"/>
            </a:solidFill>
            <a:prstDash val="solid"/>
          </a:ln>
        </p:spPr>
      </p:sp>
      <p:sp>
        <p:nvSpPr>
          <p:cNvPr id="30" name="Text 28"/>
          <p:cNvSpPr/>
          <p:nvPr/>
        </p:nvSpPr>
        <p:spPr>
          <a:xfrm>
            <a:off x="941832" y="4343400"/>
            <a:ext cx="2880360" cy="228600"/>
          </a:xfrm>
          <a:prstGeom prst="rect">
            <a:avLst/>
          </a:prstGeom>
          <a:noFill/>
          <a:ln/>
        </p:spPr>
        <p:txBody>
          <a:bodyPr wrap="square" lIns="0" tIns="0" rIns="0" bIns="0" rtlCol="0" anchor="ctr">
            <a:normAutofit/>
          </a:bodyPr>
          <a:lstStyle/>
          <a:p>
            <a:pPr indent="0" marL="0">
              <a:buNone/>
            </a:pPr>
            <a:r>
              <a:rPr lang="en-US" sz="1000" b="1" spc="110" kern="0" dirty="0">
                <a:solidFill>
                  <a:srgbClr val="78B7A9"/>
                </a:solidFill>
                <a:latin typeface="Aptos" pitchFamily="34" charset="0"/>
                <a:ea typeface="Aptos" pitchFamily="34" charset="-122"/>
                <a:cs typeface="Aptos" pitchFamily="34" charset="-120"/>
              </a:rPr>
              <a:t>DETERMINISTIC GUARDRAIL LANE</a:t>
            </a:r>
            <a:endParaRPr lang="en-US" sz="1000" dirty="0"/>
          </a:p>
        </p:txBody>
      </p:sp>
      <p:sp>
        <p:nvSpPr>
          <p:cNvPr id="31" name="Shape 29"/>
          <p:cNvSpPr/>
          <p:nvPr/>
        </p:nvSpPr>
        <p:spPr>
          <a:xfrm>
            <a:off x="941832" y="4754880"/>
            <a:ext cx="237744" cy="237744"/>
          </a:xfrm>
          <a:prstGeom prst="ellipse">
            <a:avLst/>
          </a:prstGeom>
          <a:solidFill>
            <a:srgbClr val="78B7A9"/>
          </a:solidFill>
          <a:ln w="12700">
            <a:solidFill>
              <a:srgbClr val="78B7A9"/>
            </a:solidFill>
            <a:prstDash val="solid"/>
          </a:ln>
        </p:spPr>
      </p:sp>
      <p:sp>
        <p:nvSpPr>
          <p:cNvPr id="32" name="Text 30"/>
          <p:cNvSpPr/>
          <p:nvPr/>
        </p:nvSpPr>
        <p:spPr>
          <a:xfrm>
            <a:off x="1289304"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Provenance</a:t>
            </a:r>
            <a:endParaRPr lang="en-US" sz="1000" dirty="0"/>
          </a:p>
        </p:txBody>
      </p:sp>
      <p:sp>
        <p:nvSpPr>
          <p:cNvPr id="33" name="Text 31"/>
          <p:cNvSpPr/>
          <p:nvPr/>
        </p:nvSpPr>
        <p:spPr>
          <a:xfrm>
            <a:off x="1289304"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unsupported fields dropped</a:t>
            </a:r>
            <a:endParaRPr lang="en-US" sz="830" dirty="0"/>
          </a:p>
        </p:txBody>
      </p:sp>
      <p:sp>
        <p:nvSpPr>
          <p:cNvPr id="34" name="Shape 32"/>
          <p:cNvSpPr/>
          <p:nvPr/>
        </p:nvSpPr>
        <p:spPr>
          <a:xfrm>
            <a:off x="2441448" y="4754880"/>
            <a:ext cx="237744" cy="237744"/>
          </a:xfrm>
          <a:prstGeom prst="ellipse">
            <a:avLst/>
          </a:prstGeom>
          <a:solidFill>
            <a:srgbClr val="78B7A9"/>
          </a:solidFill>
          <a:ln w="12700">
            <a:solidFill>
              <a:srgbClr val="78B7A9"/>
            </a:solidFill>
            <a:prstDash val="solid"/>
          </a:ln>
        </p:spPr>
      </p:sp>
      <p:sp>
        <p:nvSpPr>
          <p:cNvPr id="35" name="Text 33"/>
          <p:cNvSpPr/>
          <p:nvPr/>
        </p:nvSpPr>
        <p:spPr>
          <a:xfrm>
            <a:off x="2788920"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Recall state</a:t>
            </a:r>
            <a:endParaRPr lang="en-US" sz="1000" dirty="0"/>
          </a:p>
        </p:txBody>
      </p:sp>
      <p:sp>
        <p:nvSpPr>
          <p:cNvPr id="36" name="Text 34"/>
          <p:cNvSpPr/>
          <p:nvPr/>
        </p:nvSpPr>
        <p:spPr>
          <a:xfrm>
            <a:off x="2788920"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confirmed inventory never returns</a:t>
            </a:r>
            <a:endParaRPr lang="en-US" sz="830" dirty="0"/>
          </a:p>
        </p:txBody>
      </p:sp>
      <p:sp>
        <p:nvSpPr>
          <p:cNvPr id="37" name="Shape 35"/>
          <p:cNvSpPr/>
          <p:nvPr/>
        </p:nvSpPr>
        <p:spPr>
          <a:xfrm>
            <a:off x="3941064" y="4754880"/>
            <a:ext cx="237744" cy="237744"/>
          </a:xfrm>
          <a:prstGeom prst="ellipse">
            <a:avLst/>
          </a:prstGeom>
          <a:solidFill>
            <a:srgbClr val="78B7A9"/>
          </a:solidFill>
          <a:ln w="12700">
            <a:solidFill>
              <a:srgbClr val="78B7A9"/>
            </a:solidFill>
            <a:prstDash val="solid"/>
          </a:ln>
        </p:spPr>
      </p:sp>
      <p:sp>
        <p:nvSpPr>
          <p:cNvPr id="38" name="Text 36"/>
          <p:cNvSpPr/>
          <p:nvPr/>
        </p:nvSpPr>
        <p:spPr>
          <a:xfrm>
            <a:off x="4288536"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Projection</a:t>
            </a:r>
            <a:endParaRPr lang="en-US" sz="1000" dirty="0"/>
          </a:p>
        </p:txBody>
      </p:sp>
      <p:sp>
        <p:nvSpPr>
          <p:cNvPr id="39" name="Text 37"/>
          <p:cNvSpPr/>
          <p:nvPr/>
        </p:nvSpPr>
        <p:spPr>
          <a:xfrm>
            <a:off x="4288536"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warehouse FEFO + PO ETA</a:t>
            </a:r>
            <a:endParaRPr lang="en-US" sz="830" dirty="0"/>
          </a:p>
        </p:txBody>
      </p:sp>
      <p:sp>
        <p:nvSpPr>
          <p:cNvPr id="40" name="Shape 38"/>
          <p:cNvSpPr/>
          <p:nvPr/>
        </p:nvSpPr>
        <p:spPr>
          <a:xfrm>
            <a:off x="5440680" y="4754880"/>
            <a:ext cx="237744" cy="237744"/>
          </a:xfrm>
          <a:prstGeom prst="ellipse">
            <a:avLst/>
          </a:prstGeom>
          <a:solidFill>
            <a:srgbClr val="78B7A9"/>
          </a:solidFill>
          <a:ln w="12700">
            <a:solidFill>
              <a:srgbClr val="78B7A9"/>
            </a:solidFill>
            <a:prstDash val="solid"/>
          </a:ln>
        </p:spPr>
      </p:sp>
      <p:sp>
        <p:nvSpPr>
          <p:cNvPr id="41" name="Text 39"/>
          <p:cNvSpPr/>
          <p:nvPr/>
        </p:nvSpPr>
        <p:spPr>
          <a:xfrm>
            <a:off x="5788152"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Optimization</a:t>
            </a:r>
            <a:endParaRPr lang="en-US" sz="1000" dirty="0"/>
          </a:p>
        </p:txBody>
      </p:sp>
      <p:sp>
        <p:nvSpPr>
          <p:cNvPr id="42" name="Text 40"/>
          <p:cNvSpPr/>
          <p:nvPr/>
        </p:nvSpPr>
        <p:spPr>
          <a:xfrm>
            <a:off x="5788152"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capacity, demand, expiry, cost</a:t>
            </a:r>
            <a:endParaRPr lang="en-US" sz="830" dirty="0"/>
          </a:p>
        </p:txBody>
      </p:sp>
      <p:sp>
        <p:nvSpPr>
          <p:cNvPr id="43" name="Shape 41"/>
          <p:cNvSpPr/>
          <p:nvPr/>
        </p:nvSpPr>
        <p:spPr>
          <a:xfrm>
            <a:off x="6940296" y="4754880"/>
            <a:ext cx="237744" cy="237744"/>
          </a:xfrm>
          <a:prstGeom prst="ellipse">
            <a:avLst/>
          </a:prstGeom>
          <a:solidFill>
            <a:srgbClr val="B94735"/>
          </a:solidFill>
          <a:ln w="12700">
            <a:solidFill>
              <a:srgbClr val="B94735"/>
            </a:solidFill>
            <a:prstDash val="solid"/>
          </a:ln>
        </p:spPr>
      </p:sp>
      <p:sp>
        <p:nvSpPr>
          <p:cNvPr id="44" name="Text 42"/>
          <p:cNvSpPr/>
          <p:nvPr/>
        </p:nvSpPr>
        <p:spPr>
          <a:xfrm>
            <a:off x="7287768"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Approval</a:t>
            </a:r>
            <a:endParaRPr lang="en-US" sz="1000" dirty="0"/>
          </a:p>
        </p:txBody>
      </p:sp>
      <p:sp>
        <p:nvSpPr>
          <p:cNvPr id="45" name="Text 43"/>
          <p:cNvSpPr/>
          <p:nvPr/>
        </p:nvSpPr>
        <p:spPr>
          <a:xfrm>
            <a:off x="7287768"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latest, intact, feasible, idempotent</a:t>
            </a:r>
            <a:endParaRPr lang="en-US" sz="830" dirty="0"/>
          </a:p>
        </p:txBody>
      </p:sp>
      <p:sp>
        <p:nvSpPr>
          <p:cNvPr id="46" name="Shape 44"/>
          <p:cNvSpPr/>
          <p:nvPr/>
        </p:nvSpPr>
        <p:spPr>
          <a:xfrm>
            <a:off x="9125712" y="2331720"/>
            <a:ext cx="2423160" cy="3300984"/>
          </a:xfrm>
          <a:prstGeom prst="roundRect">
            <a:avLst>
              <a:gd name="adj" fmla="val 3019"/>
            </a:avLst>
          </a:prstGeom>
          <a:solidFill>
            <a:srgbClr val="E8EEE9"/>
          </a:solidFill>
          <a:ln w="12700">
            <a:solidFill>
              <a:srgbClr val="D9D2C2"/>
            </a:solidFill>
            <a:prstDash val="solid"/>
          </a:ln>
        </p:spPr>
      </p:sp>
      <p:sp>
        <p:nvSpPr>
          <p:cNvPr id="47" name="Text 45"/>
          <p:cNvSpPr/>
          <p:nvPr/>
        </p:nvSpPr>
        <p:spPr>
          <a:xfrm>
            <a:off x="9400032" y="2624328"/>
            <a:ext cx="1874520" cy="292608"/>
          </a:xfrm>
          <a:prstGeom prst="rect">
            <a:avLst/>
          </a:prstGeom>
          <a:noFill/>
          <a:ln/>
        </p:spPr>
        <p:txBody>
          <a:bodyPr wrap="square" lIns="0" tIns="0" rIns="0" bIns="0" rtlCol="0" anchor="ctr">
            <a:normAutofit/>
          </a:bodyPr>
          <a:lstStyle/>
          <a:p>
            <a:pPr indent="0" marL="0">
              <a:buNone/>
            </a:pPr>
            <a:r>
              <a:rPr lang="en-US" sz="1350" b="1" dirty="0">
                <a:solidFill>
                  <a:srgbClr val="132524"/>
                </a:solidFill>
                <a:latin typeface="Aptos" pitchFamily="34" charset="0"/>
                <a:ea typeface="Aptos" pitchFamily="34" charset="-122"/>
                <a:cs typeface="Aptos" pitchFamily="34" charset="-120"/>
              </a:rPr>
              <a:t>Boring stack, on purpose</a:t>
            </a:r>
            <a:endParaRPr lang="en-US" sz="1350" dirty="0"/>
          </a:p>
        </p:txBody>
      </p:sp>
      <p:sp>
        <p:nvSpPr>
          <p:cNvPr id="48" name="Shape 46"/>
          <p:cNvSpPr/>
          <p:nvPr/>
        </p:nvSpPr>
        <p:spPr>
          <a:xfrm>
            <a:off x="9400032" y="3163824"/>
            <a:ext cx="237744" cy="237744"/>
          </a:xfrm>
          <a:prstGeom prst="ellipse">
            <a:avLst/>
          </a:prstGeom>
          <a:solidFill>
            <a:srgbClr val="1D6B62"/>
          </a:solidFill>
          <a:ln w="12700">
            <a:solidFill>
              <a:srgbClr val="1D6B62"/>
            </a:solidFill>
            <a:prstDash val="solid"/>
          </a:ln>
        </p:spPr>
      </p:sp>
      <p:sp>
        <p:nvSpPr>
          <p:cNvPr id="49" name="Text 47"/>
          <p:cNvSpPr/>
          <p:nvPr/>
        </p:nvSpPr>
        <p:spPr>
          <a:xfrm>
            <a:off x="9400032" y="315468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0" name="Text 48"/>
          <p:cNvSpPr/>
          <p:nvPr/>
        </p:nvSpPr>
        <p:spPr>
          <a:xfrm>
            <a:off x="9747504" y="3145536"/>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SQLite</a:t>
            </a:r>
            <a:endParaRPr lang="en-US" sz="1150" dirty="0"/>
          </a:p>
        </p:txBody>
      </p:sp>
      <p:sp>
        <p:nvSpPr>
          <p:cNvPr id="51" name="Text 49"/>
          <p:cNvSpPr/>
          <p:nvPr/>
        </p:nvSpPr>
        <p:spPr>
          <a:xfrm>
            <a:off x="9747504" y="3392424"/>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auditable incident state</a:t>
            </a:r>
            <a:endParaRPr lang="en-US" sz="950" dirty="0"/>
          </a:p>
        </p:txBody>
      </p:sp>
      <p:sp>
        <p:nvSpPr>
          <p:cNvPr id="52" name="Shape 50"/>
          <p:cNvSpPr/>
          <p:nvPr/>
        </p:nvSpPr>
        <p:spPr>
          <a:xfrm>
            <a:off x="9400032" y="3794760"/>
            <a:ext cx="237744" cy="237744"/>
          </a:xfrm>
          <a:prstGeom prst="ellipse">
            <a:avLst/>
          </a:prstGeom>
          <a:solidFill>
            <a:srgbClr val="1D6B62"/>
          </a:solidFill>
          <a:ln w="12700">
            <a:solidFill>
              <a:srgbClr val="1D6B62"/>
            </a:solidFill>
            <a:prstDash val="solid"/>
          </a:ln>
        </p:spPr>
      </p:sp>
      <p:sp>
        <p:nvSpPr>
          <p:cNvPr id="53" name="Text 51"/>
          <p:cNvSpPr/>
          <p:nvPr/>
        </p:nvSpPr>
        <p:spPr>
          <a:xfrm>
            <a:off x="9400032" y="378561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4" name="Text 52"/>
          <p:cNvSpPr/>
          <p:nvPr/>
        </p:nvSpPr>
        <p:spPr>
          <a:xfrm>
            <a:off x="9747504" y="3776472"/>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NetworkX</a:t>
            </a:r>
            <a:endParaRPr lang="en-US" sz="1150" dirty="0"/>
          </a:p>
        </p:txBody>
      </p:sp>
      <p:sp>
        <p:nvSpPr>
          <p:cNvPr id="55" name="Text 53"/>
          <p:cNvSpPr/>
          <p:nvPr/>
        </p:nvSpPr>
        <p:spPr>
          <a:xfrm>
            <a:off x="9747504" y="4023360"/>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recall-to-pantry lineage</a:t>
            </a:r>
            <a:endParaRPr lang="en-US" sz="950" dirty="0"/>
          </a:p>
        </p:txBody>
      </p:sp>
      <p:sp>
        <p:nvSpPr>
          <p:cNvPr id="56" name="Shape 54"/>
          <p:cNvSpPr/>
          <p:nvPr/>
        </p:nvSpPr>
        <p:spPr>
          <a:xfrm>
            <a:off x="9400032" y="4425696"/>
            <a:ext cx="237744" cy="237744"/>
          </a:xfrm>
          <a:prstGeom prst="ellipse">
            <a:avLst/>
          </a:prstGeom>
          <a:solidFill>
            <a:srgbClr val="1D6B62"/>
          </a:solidFill>
          <a:ln w="12700">
            <a:solidFill>
              <a:srgbClr val="1D6B62"/>
            </a:solidFill>
            <a:prstDash val="solid"/>
          </a:ln>
        </p:spPr>
      </p:sp>
      <p:sp>
        <p:nvSpPr>
          <p:cNvPr id="57" name="Text 55"/>
          <p:cNvSpPr/>
          <p:nvPr/>
        </p:nvSpPr>
        <p:spPr>
          <a:xfrm>
            <a:off x="9400032" y="441655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8" name="Text 56"/>
          <p:cNvSpPr/>
          <p:nvPr/>
        </p:nvSpPr>
        <p:spPr>
          <a:xfrm>
            <a:off x="9747504" y="4407408"/>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Linear program</a:t>
            </a:r>
            <a:endParaRPr lang="en-US" sz="1150" dirty="0"/>
          </a:p>
        </p:txBody>
      </p:sp>
      <p:sp>
        <p:nvSpPr>
          <p:cNvPr id="59" name="Text 57"/>
          <p:cNvSpPr/>
          <p:nvPr/>
        </p:nvSpPr>
        <p:spPr>
          <a:xfrm>
            <a:off x="9747504" y="4654296"/>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feasible recovery plan</a:t>
            </a:r>
            <a:endParaRPr lang="en-US" sz="950" dirty="0"/>
          </a:p>
        </p:txBody>
      </p:sp>
      <p:sp>
        <p:nvSpPr>
          <p:cNvPr id="60" name="Shape 58"/>
          <p:cNvSpPr/>
          <p:nvPr/>
        </p:nvSpPr>
        <p:spPr>
          <a:xfrm>
            <a:off x="9400032" y="5056632"/>
            <a:ext cx="237744" cy="237744"/>
          </a:xfrm>
          <a:prstGeom prst="ellipse">
            <a:avLst/>
          </a:prstGeom>
          <a:solidFill>
            <a:srgbClr val="B94735"/>
          </a:solidFill>
          <a:ln w="12700">
            <a:solidFill>
              <a:srgbClr val="B94735"/>
            </a:solidFill>
            <a:prstDash val="solid"/>
          </a:ln>
        </p:spPr>
      </p:sp>
      <p:sp>
        <p:nvSpPr>
          <p:cNvPr id="61" name="Text 59"/>
          <p:cNvSpPr/>
          <p:nvPr/>
        </p:nvSpPr>
        <p:spPr>
          <a:xfrm>
            <a:off x="9400032" y="5047488"/>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62" name="Text 60"/>
          <p:cNvSpPr/>
          <p:nvPr/>
        </p:nvSpPr>
        <p:spPr>
          <a:xfrm>
            <a:off x="9747504" y="5038344"/>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Streamlit</a:t>
            </a:r>
            <a:endParaRPr lang="en-US" sz="1150" dirty="0"/>
          </a:p>
        </p:txBody>
      </p:sp>
      <p:sp>
        <p:nvSpPr>
          <p:cNvPr id="63" name="Text 61"/>
          <p:cNvSpPr/>
          <p:nvPr/>
        </p:nvSpPr>
        <p:spPr>
          <a:xfrm>
            <a:off x="9747504" y="5285232"/>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review and approval UI</a:t>
            </a:r>
            <a:endParaRPr lang="en-US" sz="950" dirty="0"/>
          </a:p>
        </p:txBody>
      </p:sp>
      <p:sp>
        <p:nvSpPr>
          <p:cNvPr id="64" name="Text 6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LLM narration can be cached/template-only; execution safety does not depend on free-form text.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Architecture and source" history="1" highlightClick="0" endSnd="0">
                  <a:extLst>
                    <a:ext uri="{A12FA001-AC4F-418D-AE19-62706E023703}">
                      <ahyp:hlinkClr xmlns:ahyp="http://schemas.microsoft.com/office/drawing/2018/hyperlinkcolor" val="tx"/>
                    </a:ext>
                  </a:extLst>
                </a:hlinkClick>
              </a:rPr>
              <a:t>Architecture and source</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Approval implementation" history="1" highlightClick="0" endSnd="0">
                  <a:extLst>
                    <a:ext uri="{A12FA001-AC4F-418D-AE19-62706E023703}">
                      <ahyp:hlinkClr xmlns:ahyp="http://schemas.microsoft.com/office/drawing/2018/hyperlinkcolor" val="tx"/>
                    </a:ext>
                  </a:extLst>
                </a:hlinkClick>
              </a:rPr>
              <a:t>Approval implementation</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PRODUCT PROOF</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Every claim can be traced back to evidence.</a:t>
            </a:r>
            <a:endParaRPr lang="en-US" sz="3600" dirty="0"/>
          </a:p>
        </p:txBody>
      </p:sp>
      <p:sp>
        <p:nvSpPr>
          <p:cNvPr id="4" name="Text 2"/>
          <p:cNvSpPr/>
          <p:nvPr/>
        </p:nvSpPr>
        <p:spPr>
          <a:xfrm>
            <a:off x="658368" y="1572768"/>
            <a:ext cx="10698480" cy="502920"/>
          </a:xfrm>
          <a:prstGeom prst="rect">
            <a:avLst/>
          </a:prstGeom>
          <a:noFill/>
          <a:ln/>
        </p:spPr>
        <p:txBody>
          <a:bodyPr wrap="square" lIns="0" tIns="0" rIns="0" bIns="0" rtlCol="0" anchor="t">
            <a:normAutofit/>
          </a:bodyPr>
          <a:lstStyle/>
          <a:p>
            <a:pPr indent="0" marL="0">
              <a:buNone/>
            </a:pPr>
            <a:r>
              <a:rPr lang="en-US" sz="1550" dirty="0">
                <a:solidFill>
                  <a:srgbClr val="61706D"/>
                </a:solidFill>
                <a:latin typeface="Aptos" pitchFamily="34" charset="0"/>
                <a:ea typeface="Aptos" pitchFamily="34" charset="-122"/>
                <a:cs typeface="Aptos" pitchFamily="34" charset="-120"/>
              </a:rPr>
              <a:t>The exposure view pairs typed incident facts with verbatim source excerpts, then follows exact lot and purchase-order lineage into the operating network.</a:t>
            </a:r>
            <a:endParaRPr lang="en-US" sz="1550" dirty="0"/>
          </a:p>
        </p:txBody>
      </p:sp>
      <p:sp>
        <p:nvSpPr>
          <p:cNvPr id="5" name="Shape 3"/>
          <p:cNvSpPr/>
          <p:nvPr/>
        </p:nvSpPr>
        <p:spPr>
          <a:xfrm>
            <a:off x="658368" y="2267712"/>
            <a:ext cx="7818120" cy="3794760"/>
          </a:xfrm>
          <a:prstGeom prst="roundRect">
            <a:avLst>
              <a:gd name="adj" fmla="val 1928"/>
            </a:avLst>
          </a:prstGeom>
          <a:solidFill>
            <a:srgbClr val="FFFDF8"/>
          </a:solidFill>
          <a:ln w="12700">
            <a:solidFill>
              <a:srgbClr val="D9D2C2"/>
            </a:solidFill>
            <a:prstDash val="solid"/>
          </a:ln>
        </p:spPr>
      </p:sp>
      <p:pic>
        <p:nvPicPr>
          <p:cNvPr id="6" name="Image 0" descr="FoodShock exposure queue showing incident facts and supporting source excerpts">    </p:cNvPr>
          <p:cNvPicPr>
            <a:picLocks noChangeAspect="1"/>
          </p:cNvPicPr>
          <p:nvPr/>
        </p:nvPicPr>
        <p:blipFill>
          <a:blip r:embed="rId1"/>
          <a:stretch>
            <a:fillRect/>
          </a:stretch>
        </p:blipFill>
        <p:spPr>
          <a:xfrm>
            <a:off x="786384" y="2395728"/>
            <a:ext cx="7562088" cy="3538728"/>
          </a:xfrm>
          <a:prstGeom prst="rect">
            <a:avLst/>
          </a:prstGeom>
        </p:spPr>
      </p:pic>
      <p:sp>
        <p:nvSpPr>
          <p:cNvPr id="7" name="Shape 4"/>
          <p:cNvSpPr/>
          <p:nvPr/>
        </p:nvSpPr>
        <p:spPr>
          <a:xfrm>
            <a:off x="8796528" y="2267712"/>
            <a:ext cx="2743200" cy="3794760"/>
          </a:xfrm>
          <a:prstGeom prst="roundRect">
            <a:avLst>
              <a:gd name="adj" fmla="val 2667"/>
            </a:avLst>
          </a:prstGeom>
          <a:solidFill>
            <a:srgbClr val="E8EEE9"/>
          </a:solidFill>
          <a:ln w="12700">
            <a:solidFill>
              <a:srgbClr val="1D6B62"/>
            </a:solidFill>
            <a:prstDash val="solid"/>
          </a:ln>
        </p:spPr>
      </p:sp>
      <p:sp>
        <p:nvSpPr>
          <p:cNvPr id="8" name="Text 5"/>
          <p:cNvSpPr/>
          <p:nvPr/>
        </p:nvSpPr>
        <p:spPr>
          <a:xfrm>
            <a:off x="9107424" y="2596896"/>
            <a:ext cx="2057400" cy="292608"/>
          </a:xfrm>
          <a:prstGeom prst="rect">
            <a:avLst/>
          </a:prstGeom>
          <a:noFill/>
          <a:ln/>
        </p:spPr>
        <p:txBody>
          <a:bodyPr wrap="square" lIns="0" tIns="0" rIns="0" bIns="0" rtlCol="0" anchor="ctr">
            <a:normAutofit/>
          </a:bodyPr>
          <a:lstStyle/>
          <a:p>
            <a:pPr indent="0" marL="0">
              <a:buNone/>
            </a:pPr>
            <a:r>
              <a:rPr lang="en-US" sz="1500" b="1" dirty="0">
                <a:solidFill>
                  <a:srgbClr val="132524"/>
                </a:solidFill>
                <a:latin typeface="Aptos" pitchFamily="34" charset="0"/>
                <a:ea typeface="Aptos" pitchFamily="34" charset="-122"/>
                <a:cs typeface="Aptos" pitchFamily="34" charset="-120"/>
              </a:rPr>
              <a:t>Evidence contract</a:t>
            </a:r>
            <a:endParaRPr lang="en-US" sz="1500" dirty="0"/>
          </a:p>
        </p:txBody>
      </p:sp>
      <p:sp>
        <p:nvSpPr>
          <p:cNvPr id="9" name="Shape 6"/>
          <p:cNvSpPr/>
          <p:nvPr/>
        </p:nvSpPr>
        <p:spPr>
          <a:xfrm>
            <a:off x="9107424" y="3127248"/>
            <a:ext cx="237744" cy="237744"/>
          </a:xfrm>
          <a:prstGeom prst="ellipse">
            <a:avLst/>
          </a:prstGeom>
          <a:solidFill>
            <a:srgbClr val="1D6B62"/>
          </a:solidFill>
          <a:ln w="12700">
            <a:solidFill>
              <a:srgbClr val="1D6B62"/>
            </a:solidFill>
            <a:prstDash val="solid"/>
          </a:ln>
        </p:spPr>
      </p:sp>
      <p:sp>
        <p:nvSpPr>
          <p:cNvPr id="10" name="Text 7"/>
          <p:cNvSpPr/>
          <p:nvPr/>
        </p:nvSpPr>
        <p:spPr>
          <a:xfrm>
            <a:off x="9107424" y="3118104"/>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1" name="Text 8"/>
          <p:cNvSpPr/>
          <p:nvPr/>
        </p:nvSpPr>
        <p:spPr>
          <a:xfrm>
            <a:off x="9454896" y="3108960"/>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Original notice retained</a:t>
            </a:r>
            <a:endParaRPr lang="en-US" sz="1150" dirty="0"/>
          </a:p>
        </p:txBody>
      </p:sp>
      <p:sp>
        <p:nvSpPr>
          <p:cNvPr id="12" name="Text 9"/>
          <p:cNvSpPr/>
          <p:nvPr/>
        </p:nvSpPr>
        <p:spPr>
          <a:xfrm>
            <a:off x="9454896" y="3355848"/>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raw text remains inspectable</a:t>
            </a:r>
            <a:endParaRPr lang="en-US" sz="950" dirty="0"/>
          </a:p>
        </p:txBody>
      </p:sp>
      <p:sp>
        <p:nvSpPr>
          <p:cNvPr id="13" name="Shape 10"/>
          <p:cNvSpPr/>
          <p:nvPr/>
        </p:nvSpPr>
        <p:spPr>
          <a:xfrm>
            <a:off x="9107424" y="3803904"/>
            <a:ext cx="237744" cy="237744"/>
          </a:xfrm>
          <a:prstGeom prst="ellipse">
            <a:avLst/>
          </a:prstGeom>
          <a:solidFill>
            <a:srgbClr val="1D6B62"/>
          </a:solidFill>
          <a:ln w="12700">
            <a:solidFill>
              <a:srgbClr val="1D6B62"/>
            </a:solidFill>
            <a:prstDash val="solid"/>
          </a:ln>
        </p:spPr>
      </p:sp>
      <p:sp>
        <p:nvSpPr>
          <p:cNvPr id="14" name="Text 11"/>
          <p:cNvSpPr/>
          <p:nvPr/>
        </p:nvSpPr>
        <p:spPr>
          <a:xfrm>
            <a:off x="9107424" y="379476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454896" y="3785616"/>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Field-level quote</a:t>
            </a:r>
            <a:endParaRPr lang="en-US" sz="1150" dirty="0"/>
          </a:p>
        </p:txBody>
      </p:sp>
      <p:sp>
        <p:nvSpPr>
          <p:cNvPr id="16" name="Text 13"/>
          <p:cNvSpPr/>
          <p:nvPr/>
        </p:nvSpPr>
        <p:spPr>
          <a:xfrm>
            <a:off x="9454896" y="4032504"/>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each value has supporting text</a:t>
            </a:r>
            <a:endParaRPr lang="en-US" sz="950" dirty="0"/>
          </a:p>
        </p:txBody>
      </p:sp>
      <p:sp>
        <p:nvSpPr>
          <p:cNvPr id="17" name="Shape 14"/>
          <p:cNvSpPr/>
          <p:nvPr/>
        </p:nvSpPr>
        <p:spPr>
          <a:xfrm>
            <a:off x="9107424" y="4480560"/>
            <a:ext cx="237744" cy="237744"/>
          </a:xfrm>
          <a:prstGeom prst="ellipse">
            <a:avLst/>
          </a:prstGeom>
          <a:solidFill>
            <a:srgbClr val="B94735"/>
          </a:solidFill>
          <a:ln w="12700">
            <a:solidFill>
              <a:srgbClr val="B94735"/>
            </a:solidFill>
            <a:prstDash val="solid"/>
          </a:ln>
        </p:spPr>
      </p:sp>
      <p:sp>
        <p:nvSpPr>
          <p:cNvPr id="18" name="Text 15"/>
          <p:cNvSpPr/>
          <p:nvPr/>
        </p:nvSpPr>
        <p:spPr>
          <a:xfrm>
            <a:off x="9107424" y="447141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454896" y="4462272"/>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Unsupported value dropped</a:t>
            </a:r>
            <a:endParaRPr lang="en-US" sz="1150" dirty="0"/>
          </a:p>
        </p:txBody>
      </p:sp>
      <p:sp>
        <p:nvSpPr>
          <p:cNvPr id="20" name="Text 17"/>
          <p:cNvSpPr/>
          <p:nvPr/>
        </p:nvSpPr>
        <p:spPr>
          <a:xfrm>
            <a:off x="9454896" y="4709160"/>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verifier removes weak provenance</a:t>
            </a:r>
            <a:endParaRPr lang="en-US" sz="950" dirty="0"/>
          </a:p>
        </p:txBody>
      </p:sp>
      <p:sp>
        <p:nvSpPr>
          <p:cNvPr id="21" name="Shape 18"/>
          <p:cNvSpPr/>
          <p:nvPr/>
        </p:nvSpPr>
        <p:spPr>
          <a:xfrm>
            <a:off x="9107424" y="5157216"/>
            <a:ext cx="237744" cy="237744"/>
          </a:xfrm>
          <a:prstGeom prst="ellipse">
            <a:avLst/>
          </a:prstGeom>
          <a:solidFill>
            <a:srgbClr val="1D6B62"/>
          </a:solidFill>
          <a:ln w="12700">
            <a:solidFill>
              <a:srgbClr val="1D6B62"/>
            </a:solidFill>
            <a:prstDash val="solid"/>
          </a:ln>
        </p:spPr>
      </p:sp>
      <p:sp>
        <p:nvSpPr>
          <p:cNvPr id="22" name="Text 19"/>
          <p:cNvSpPr/>
          <p:nvPr/>
        </p:nvSpPr>
        <p:spPr>
          <a:xfrm>
            <a:off x="9107424" y="514807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23" name="Text 20"/>
          <p:cNvSpPr/>
          <p:nvPr/>
        </p:nvSpPr>
        <p:spPr>
          <a:xfrm>
            <a:off x="9454896" y="5138928"/>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Exact operational join</a:t>
            </a:r>
            <a:endParaRPr lang="en-US" sz="1150" dirty="0"/>
          </a:p>
        </p:txBody>
      </p:sp>
      <p:sp>
        <p:nvSpPr>
          <p:cNvPr id="24" name="Text 21"/>
          <p:cNvSpPr/>
          <p:nvPr/>
        </p:nvSpPr>
        <p:spPr>
          <a:xfrm>
            <a:off x="9454896" y="5385816"/>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lot or inbound PO drives impact</a:t>
            </a:r>
            <a:endParaRPr lang="en-US" sz="950" dirty="0"/>
          </a:p>
        </p:txBody>
      </p:sp>
      <p:sp>
        <p:nvSpPr>
          <p:cNvPr id="25" name="Text 2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Screenshot captured from the public synthetic-data demo.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Live exposure queue" history="1" highlightClick="0" endSnd="0">
                  <a:extLst>
                    <a:ext uri="{A12FA001-AC4F-418D-AE19-62706E023703}">
                      <ahyp:hlinkClr xmlns:ahyp="http://schemas.microsoft.com/office/drawing/2018/hyperlinkcolor" val="tx"/>
                    </a:ext>
                  </a:extLst>
                </a:hlinkClick>
              </a:rPr>
              <a:t>Live exposure queue</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Extraction verifier" history="1" highlightClick="0" endSnd="0">
                  <a:extLst>
                    <a:ext uri="{A12FA001-AC4F-418D-AE19-62706E023703}">
                      <ahyp:hlinkClr xmlns:ahyp="http://schemas.microsoft.com/office/drawing/2018/hyperlinkcolor" val="tx"/>
                    </a:ext>
                  </a:extLst>
                </a:hlinkClick>
              </a:rPr>
              <a:t>Extraction verifier</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MEASURED DEMO RUN</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The recovery plan restores service without breaking safety.</a:t>
            </a:r>
            <a:endParaRPr lang="en-US" sz="3600" dirty="0"/>
          </a:p>
        </p:txBody>
      </p:sp>
      <p:sp>
        <p:nvSpPr>
          <p:cNvPr id="4" name="Text 2"/>
          <p:cNvSpPr/>
          <p:nvPr/>
        </p:nvSpPr>
        <p:spPr>
          <a:xfrm>
            <a:off x="658368" y="1572768"/>
            <a:ext cx="10607040" cy="438912"/>
          </a:xfrm>
          <a:prstGeom prst="rect">
            <a:avLst/>
          </a:prstGeom>
          <a:noFill/>
          <a:ln/>
        </p:spPr>
        <p:txBody>
          <a:bodyPr wrap="square" lIns="0" tIns="0" rIns="0" bIns="0" rtlCol="0" anchor="ctr">
            <a:normAutofit/>
          </a:bodyPr>
          <a:lstStyle/>
          <a:p>
            <a:pPr indent="0" marL="0">
              <a:buNone/>
            </a:pPr>
            <a:r>
              <a:rPr lang="en-US" sz="1550" dirty="0">
                <a:solidFill>
                  <a:srgbClr val="61706D"/>
                </a:solidFill>
                <a:latin typeface="Aptos" pitchFamily="34" charset="0"/>
                <a:ea typeface="Aptos" pitchFamily="34" charset="-122"/>
                <a:cs typeface="Aptos" pitchFamily="34" charset="-120"/>
              </a:rPr>
              <a:t>Baseline and recommended scenarios use the same seven-day synthetic demand. Confirmed recall states are excluded from both.</a:t>
            </a:r>
            <a:endParaRPr lang="en-US" sz="1550" dirty="0"/>
          </a:p>
        </p:txBody>
      </p:sp>
      <p:sp>
        <p:nvSpPr>
          <p:cNvPr id="5" name="Shape 3"/>
          <p:cNvSpPr/>
          <p:nvPr/>
        </p:nvSpPr>
        <p:spPr>
          <a:xfrm>
            <a:off x="658368" y="2212848"/>
            <a:ext cx="6629400" cy="3611880"/>
          </a:xfrm>
          <a:prstGeom prst="roundRect">
            <a:avLst>
              <a:gd name="adj" fmla="val 2025"/>
            </a:avLst>
          </a:prstGeom>
          <a:solidFill>
            <a:srgbClr val="FFFDF8"/>
          </a:solidFill>
          <a:ln w="12700">
            <a:solidFill>
              <a:srgbClr val="D9D2C2"/>
            </a:solidFill>
            <a:prstDash val="solid"/>
          </a:ln>
        </p:spPr>
      </p:sp>
      <p:sp>
        <p:nvSpPr>
          <p:cNvPr id="6" name="Text 4"/>
          <p:cNvSpPr/>
          <p:nvPr/>
        </p:nvSpPr>
        <p:spPr>
          <a:xfrm>
            <a:off x="960120" y="2487168"/>
            <a:ext cx="3840480" cy="292608"/>
          </a:xfrm>
          <a:prstGeom prst="rect">
            <a:avLst/>
          </a:prstGeom>
          <a:noFill/>
          <a:ln/>
        </p:spPr>
        <p:txBody>
          <a:bodyPr wrap="square" lIns="0" tIns="0" rIns="0" bIns="0" rtlCol="0" anchor="ctr">
            <a:normAutofit/>
          </a:bodyPr>
          <a:lstStyle/>
          <a:p>
            <a:pPr indent="0" marL="0">
              <a:buNone/>
            </a:pPr>
            <a:r>
              <a:rPr lang="en-US" sz="1300" b="1" dirty="0">
                <a:solidFill>
                  <a:srgbClr val="132524"/>
                </a:solidFill>
                <a:latin typeface="Aptos" pitchFamily="34" charset="0"/>
                <a:ea typeface="Aptos" pitchFamily="34" charset="-122"/>
                <a:cs typeface="Aptos" pitchFamily="34" charset="-120"/>
              </a:rPr>
              <a:t>Seven-day service outcome (lb)</a:t>
            </a:r>
            <a:endParaRPr lang="en-US" sz="1300" dirty="0"/>
          </a:p>
        </p:txBody>
      </p:sp>
      <p:graphicFrame>
        <p:nvGraphicFramePr>
          <p:cNvPr id="7" name="Chart 0" descr=""/>
          <p:cNvGraphicFramePr/>
          <p:nvPr/>
        </p:nvGraphicFramePr>
        <p:xfrm>
          <a:off x="914400" y="2862072"/>
          <a:ext cx="6053328"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07808" y="2212848"/>
            <a:ext cx="1847088" cy="1051560"/>
          </a:xfrm>
          <a:prstGeom prst="roundRect">
            <a:avLst>
              <a:gd name="adj" fmla="val 6957"/>
            </a:avLst>
          </a:prstGeom>
          <a:solidFill>
            <a:srgbClr val="FFFDF8"/>
          </a:solidFill>
          <a:ln w="12700">
            <a:solidFill>
              <a:srgbClr val="D9D2C2"/>
            </a:solidFill>
            <a:prstDash val="solid"/>
          </a:ln>
        </p:spPr>
      </p:sp>
      <p:sp>
        <p:nvSpPr>
          <p:cNvPr id="9" name="Shape 6"/>
          <p:cNvSpPr/>
          <p:nvPr/>
        </p:nvSpPr>
        <p:spPr>
          <a:xfrm>
            <a:off x="7607808" y="2212848"/>
            <a:ext cx="73152" cy="1051560"/>
          </a:xfrm>
          <a:prstGeom prst="rect">
            <a:avLst/>
          </a:prstGeom>
          <a:solidFill>
            <a:srgbClr val="1D6B62"/>
          </a:solidFill>
          <a:ln w="12700">
            <a:solidFill>
              <a:srgbClr val="1D6B62"/>
            </a:solidFill>
            <a:prstDash val="solid"/>
          </a:ln>
        </p:spPr>
      </p:sp>
      <p:sp>
        <p:nvSpPr>
          <p:cNvPr id="10" name="Text 7"/>
          <p:cNvSpPr/>
          <p:nvPr/>
        </p:nvSpPr>
        <p:spPr>
          <a:xfrm>
            <a:off x="7790688" y="2359152"/>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86.1%</a:t>
            </a:r>
            <a:endParaRPr lang="en-US" sz="2500" dirty="0"/>
          </a:p>
        </p:txBody>
      </p:sp>
      <p:sp>
        <p:nvSpPr>
          <p:cNvPr id="11" name="Text 8"/>
          <p:cNvSpPr/>
          <p:nvPr/>
        </p:nvSpPr>
        <p:spPr>
          <a:xfrm>
            <a:off x="7790688" y="2788920"/>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worst pantry fill</a:t>
            </a:r>
            <a:endParaRPr lang="en-US" sz="1050" dirty="0"/>
          </a:p>
        </p:txBody>
      </p:sp>
      <p:sp>
        <p:nvSpPr>
          <p:cNvPr id="12" name="Text 9"/>
          <p:cNvSpPr/>
          <p:nvPr/>
        </p:nvSpPr>
        <p:spPr>
          <a:xfrm>
            <a:off x="7790688" y="2962656"/>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64.3%</a:t>
            </a:r>
            <a:endParaRPr lang="en-US" sz="850" dirty="0"/>
          </a:p>
        </p:txBody>
      </p:sp>
      <p:sp>
        <p:nvSpPr>
          <p:cNvPr id="13" name="Shape 10"/>
          <p:cNvSpPr/>
          <p:nvPr/>
        </p:nvSpPr>
        <p:spPr>
          <a:xfrm>
            <a:off x="9674352" y="2212848"/>
            <a:ext cx="1847088" cy="1051560"/>
          </a:xfrm>
          <a:prstGeom prst="roundRect">
            <a:avLst>
              <a:gd name="adj" fmla="val 6957"/>
            </a:avLst>
          </a:prstGeom>
          <a:solidFill>
            <a:srgbClr val="FFFDF8"/>
          </a:solidFill>
          <a:ln w="12700">
            <a:solidFill>
              <a:srgbClr val="D9D2C2"/>
            </a:solidFill>
            <a:prstDash val="solid"/>
          </a:ln>
        </p:spPr>
      </p:sp>
      <p:sp>
        <p:nvSpPr>
          <p:cNvPr id="14" name="Shape 11"/>
          <p:cNvSpPr/>
          <p:nvPr/>
        </p:nvSpPr>
        <p:spPr>
          <a:xfrm>
            <a:off x="9674352" y="2212848"/>
            <a:ext cx="73152" cy="1051560"/>
          </a:xfrm>
          <a:prstGeom prst="rect">
            <a:avLst/>
          </a:prstGeom>
          <a:solidFill>
            <a:srgbClr val="1D6B62"/>
          </a:solidFill>
          <a:ln w="12700">
            <a:solidFill>
              <a:srgbClr val="1D6B62"/>
            </a:solidFill>
            <a:prstDash val="solid"/>
          </a:ln>
        </p:spPr>
      </p:sp>
      <p:sp>
        <p:nvSpPr>
          <p:cNvPr id="15" name="Text 12"/>
          <p:cNvSpPr/>
          <p:nvPr/>
        </p:nvSpPr>
        <p:spPr>
          <a:xfrm>
            <a:off x="9857232" y="2359152"/>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a:t>
            </a:r>
            <a:endParaRPr lang="en-US" sz="2500" dirty="0"/>
          </a:p>
        </p:txBody>
      </p:sp>
      <p:sp>
        <p:nvSpPr>
          <p:cNvPr id="16" name="Text 13"/>
          <p:cNvSpPr/>
          <p:nvPr/>
        </p:nvSpPr>
        <p:spPr>
          <a:xfrm>
            <a:off x="9857232" y="2788920"/>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boxes disrupted</a:t>
            </a:r>
            <a:endParaRPr lang="en-US" sz="1050" dirty="0"/>
          </a:p>
        </p:txBody>
      </p:sp>
      <p:sp>
        <p:nvSpPr>
          <p:cNvPr id="17" name="Text 14"/>
          <p:cNvSpPr/>
          <p:nvPr/>
        </p:nvSpPr>
        <p:spPr>
          <a:xfrm>
            <a:off x="9857232" y="2962656"/>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180</a:t>
            </a:r>
            <a:endParaRPr lang="en-US" sz="850" dirty="0"/>
          </a:p>
        </p:txBody>
      </p:sp>
      <p:sp>
        <p:nvSpPr>
          <p:cNvPr id="18" name="Shape 15"/>
          <p:cNvSpPr/>
          <p:nvPr/>
        </p:nvSpPr>
        <p:spPr>
          <a:xfrm>
            <a:off x="7607808" y="3502152"/>
            <a:ext cx="1847088" cy="1051560"/>
          </a:xfrm>
          <a:prstGeom prst="roundRect">
            <a:avLst>
              <a:gd name="adj" fmla="val 6957"/>
            </a:avLst>
          </a:prstGeom>
          <a:solidFill>
            <a:srgbClr val="FFFDF8"/>
          </a:solidFill>
          <a:ln w="12700">
            <a:solidFill>
              <a:srgbClr val="D9D2C2"/>
            </a:solidFill>
            <a:prstDash val="solid"/>
          </a:ln>
        </p:spPr>
      </p:sp>
      <p:sp>
        <p:nvSpPr>
          <p:cNvPr id="19" name="Shape 16"/>
          <p:cNvSpPr/>
          <p:nvPr/>
        </p:nvSpPr>
        <p:spPr>
          <a:xfrm>
            <a:off x="7607808" y="3502152"/>
            <a:ext cx="73152" cy="1051560"/>
          </a:xfrm>
          <a:prstGeom prst="rect">
            <a:avLst/>
          </a:prstGeom>
          <a:solidFill>
            <a:srgbClr val="C88C2C"/>
          </a:solidFill>
          <a:ln w="12700">
            <a:solidFill>
              <a:srgbClr val="C88C2C"/>
            </a:solidFill>
            <a:prstDash val="solid"/>
          </a:ln>
        </p:spPr>
      </p:sp>
      <p:sp>
        <p:nvSpPr>
          <p:cNvPr id="20" name="Text 17"/>
          <p:cNvSpPr/>
          <p:nvPr/>
        </p:nvSpPr>
        <p:spPr>
          <a:xfrm>
            <a:off x="7790688" y="3648456"/>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$990</a:t>
            </a:r>
            <a:endParaRPr lang="en-US" sz="2500" dirty="0"/>
          </a:p>
        </p:txBody>
      </p:sp>
      <p:sp>
        <p:nvSpPr>
          <p:cNvPr id="21" name="Text 18"/>
          <p:cNvSpPr/>
          <p:nvPr/>
        </p:nvSpPr>
        <p:spPr>
          <a:xfrm>
            <a:off x="7790688" y="4078224"/>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procurement cost</a:t>
            </a:r>
            <a:endParaRPr lang="en-US" sz="1050" dirty="0"/>
          </a:p>
        </p:txBody>
      </p:sp>
      <p:sp>
        <p:nvSpPr>
          <p:cNvPr id="22" name="Text 19"/>
          <p:cNvSpPr/>
          <p:nvPr/>
        </p:nvSpPr>
        <p:spPr>
          <a:xfrm>
            <a:off x="7790688" y="4251960"/>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recommended plan</a:t>
            </a:r>
            <a:endParaRPr lang="en-US" sz="850" dirty="0"/>
          </a:p>
        </p:txBody>
      </p:sp>
      <p:sp>
        <p:nvSpPr>
          <p:cNvPr id="23" name="Shape 20"/>
          <p:cNvSpPr/>
          <p:nvPr/>
        </p:nvSpPr>
        <p:spPr>
          <a:xfrm>
            <a:off x="9674352" y="3502152"/>
            <a:ext cx="1847088" cy="1051560"/>
          </a:xfrm>
          <a:prstGeom prst="roundRect">
            <a:avLst>
              <a:gd name="adj" fmla="val 6957"/>
            </a:avLst>
          </a:prstGeom>
          <a:solidFill>
            <a:srgbClr val="FFFDF8"/>
          </a:solidFill>
          <a:ln w="12700">
            <a:solidFill>
              <a:srgbClr val="D9D2C2"/>
            </a:solidFill>
            <a:prstDash val="solid"/>
          </a:ln>
        </p:spPr>
      </p:sp>
      <p:sp>
        <p:nvSpPr>
          <p:cNvPr id="24" name="Shape 21"/>
          <p:cNvSpPr/>
          <p:nvPr/>
        </p:nvSpPr>
        <p:spPr>
          <a:xfrm>
            <a:off x="9674352" y="3502152"/>
            <a:ext cx="73152" cy="1051560"/>
          </a:xfrm>
          <a:prstGeom prst="rect">
            <a:avLst/>
          </a:prstGeom>
          <a:solidFill>
            <a:srgbClr val="1D6B62"/>
          </a:solidFill>
          <a:ln w="12700">
            <a:solidFill>
              <a:srgbClr val="1D6B62"/>
            </a:solidFill>
            <a:prstDash val="solid"/>
          </a:ln>
        </p:spPr>
      </p:sp>
      <p:sp>
        <p:nvSpPr>
          <p:cNvPr id="25" name="Text 22"/>
          <p:cNvSpPr/>
          <p:nvPr/>
        </p:nvSpPr>
        <p:spPr>
          <a:xfrm>
            <a:off x="9857232" y="3648456"/>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7+</a:t>
            </a:r>
            <a:endParaRPr lang="en-US" sz="2500" dirty="0"/>
          </a:p>
        </p:txBody>
      </p:sp>
      <p:sp>
        <p:nvSpPr>
          <p:cNvPr id="26" name="Text 23"/>
          <p:cNvSpPr/>
          <p:nvPr/>
        </p:nvSpPr>
        <p:spPr>
          <a:xfrm>
            <a:off x="9857232" y="4078224"/>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produce days</a:t>
            </a:r>
            <a:endParaRPr lang="en-US" sz="1050" dirty="0"/>
          </a:p>
        </p:txBody>
      </p:sp>
      <p:sp>
        <p:nvSpPr>
          <p:cNvPr id="27" name="Text 24"/>
          <p:cNvSpPr/>
          <p:nvPr/>
        </p:nvSpPr>
        <p:spPr>
          <a:xfrm>
            <a:off x="9857232" y="4251960"/>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4.8</a:t>
            </a:r>
            <a:endParaRPr lang="en-US" sz="850" dirty="0"/>
          </a:p>
        </p:txBody>
      </p:sp>
      <p:sp>
        <p:nvSpPr>
          <p:cNvPr id="28" name="Shape 25"/>
          <p:cNvSpPr/>
          <p:nvPr/>
        </p:nvSpPr>
        <p:spPr>
          <a:xfrm>
            <a:off x="7607808" y="4791456"/>
            <a:ext cx="1847088" cy="1051560"/>
          </a:xfrm>
          <a:prstGeom prst="roundRect">
            <a:avLst>
              <a:gd name="adj" fmla="val 6957"/>
            </a:avLst>
          </a:prstGeom>
          <a:solidFill>
            <a:srgbClr val="FFFDF8"/>
          </a:solidFill>
          <a:ln w="12700">
            <a:solidFill>
              <a:srgbClr val="D9D2C2"/>
            </a:solidFill>
            <a:prstDash val="solid"/>
          </a:ln>
        </p:spPr>
      </p:sp>
      <p:sp>
        <p:nvSpPr>
          <p:cNvPr id="29" name="Shape 26"/>
          <p:cNvSpPr/>
          <p:nvPr/>
        </p:nvSpPr>
        <p:spPr>
          <a:xfrm>
            <a:off x="7607808" y="4791456"/>
            <a:ext cx="73152" cy="1051560"/>
          </a:xfrm>
          <a:prstGeom prst="rect">
            <a:avLst/>
          </a:prstGeom>
          <a:solidFill>
            <a:srgbClr val="1D6B62"/>
          </a:solidFill>
          <a:ln w="12700">
            <a:solidFill>
              <a:srgbClr val="1D6B62"/>
            </a:solidFill>
            <a:prstDash val="solid"/>
          </a:ln>
        </p:spPr>
      </p:sp>
      <p:sp>
        <p:nvSpPr>
          <p:cNvPr id="30" name="Text 27"/>
          <p:cNvSpPr/>
          <p:nvPr/>
        </p:nvSpPr>
        <p:spPr>
          <a:xfrm>
            <a:off x="7790688" y="4937760"/>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a:t>
            </a:r>
            <a:endParaRPr lang="en-US" sz="2500" dirty="0"/>
          </a:p>
        </p:txBody>
      </p:sp>
      <p:sp>
        <p:nvSpPr>
          <p:cNvPr id="31" name="Text 28"/>
          <p:cNvSpPr/>
          <p:nvPr/>
        </p:nvSpPr>
        <p:spPr>
          <a:xfrm>
            <a:off x="7790688" y="5367528"/>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hard violations</a:t>
            </a:r>
            <a:endParaRPr lang="en-US" sz="1050" dirty="0"/>
          </a:p>
        </p:txBody>
      </p:sp>
      <p:sp>
        <p:nvSpPr>
          <p:cNvPr id="32" name="Text 29"/>
          <p:cNvSpPr/>
          <p:nvPr/>
        </p:nvSpPr>
        <p:spPr>
          <a:xfrm>
            <a:off x="7790688" y="5541264"/>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approval gate</a:t>
            </a:r>
            <a:endParaRPr lang="en-US" sz="850" dirty="0"/>
          </a:p>
        </p:txBody>
      </p:sp>
      <p:sp>
        <p:nvSpPr>
          <p:cNvPr id="33" name="Shape 30"/>
          <p:cNvSpPr/>
          <p:nvPr/>
        </p:nvSpPr>
        <p:spPr>
          <a:xfrm>
            <a:off x="9674352" y="4791456"/>
            <a:ext cx="1847088" cy="1051560"/>
          </a:xfrm>
          <a:prstGeom prst="roundRect">
            <a:avLst>
              <a:gd name="adj" fmla="val 6957"/>
            </a:avLst>
          </a:prstGeom>
          <a:solidFill>
            <a:srgbClr val="FFFDF8"/>
          </a:solidFill>
          <a:ln w="12700">
            <a:solidFill>
              <a:srgbClr val="D9D2C2"/>
            </a:solidFill>
            <a:prstDash val="solid"/>
          </a:ln>
        </p:spPr>
      </p:sp>
      <p:sp>
        <p:nvSpPr>
          <p:cNvPr id="34" name="Shape 31"/>
          <p:cNvSpPr/>
          <p:nvPr/>
        </p:nvSpPr>
        <p:spPr>
          <a:xfrm>
            <a:off x="9674352" y="4791456"/>
            <a:ext cx="73152" cy="1051560"/>
          </a:xfrm>
          <a:prstGeom prst="rect">
            <a:avLst/>
          </a:prstGeom>
          <a:solidFill>
            <a:srgbClr val="1D6B62"/>
          </a:solidFill>
          <a:ln w="12700">
            <a:solidFill>
              <a:srgbClr val="1D6B62"/>
            </a:solidFill>
            <a:prstDash val="solid"/>
          </a:ln>
        </p:spPr>
      </p:sp>
      <p:sp>
        <p:nvSpPr>
          <p:cNvPr id="35" name="Text 32"/>
          <p:cNvSpPr/>
          <p:nvPr/>
        </p:nvSpPr>
        <p:spPr>
          <a:xfrm>
            <a:off x="9857232" y="4937760"/>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0.81s</a:t>
            </a:r>
            <a:endParaRPr lang="en-US" sz="2500" dirty="0"/>
          </a:p>
        </p:txBody>
      </p:sp>
      <p:sp>
        <p:nvSpPr>
          <p:cNvPr id="36" name="Text 33"/>
          <p:cNvSpPr/>
          <p:nvPr/>
        </p:nvSpPr>
        <p:spPr>
          <a:xfrm>
            <a:off x="9857232" y="5367528"/>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planning time</a:t>
            </a:r>
            <a:endParaRPr lang="en-US" sz="1050" dirty="0"/>
          </a:p>
        </p:txBody>
      </p:sp>
      <p:sp>
        <p:nvSpPr>
          <p:cNvPr id="37" name="Text 34"/>
          <p:cNvSpPr/>
          <p:nvPr/>
        </p:nvSpPr>
        <p:spPr>
          <a:xfrm>
            <a:off x="9857232" y="5541264"/>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latest seeded run</a:t>
            </a:r>
            <a:endParaRPr lang="en-US" sz="850" dirty="0"/>
          </a:p>
        </p:txBody>
      </p:sp>
      <p:sp>
        <p:nvSpPr>
          <p:cNvPr id="38" name="Text 35"/>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Measured locally on the synthetic scenario. No comparison to the hypothetical 2.0 staff-hour task model is claimed.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Deterministic demo runner" history="1" highlightClick="0" endSnd="0">
                  <a:extLst>
                    <a:ext uri="{A12FA001-AC4F-418D-AE19-62706E023703}">
                      <ahyp:hlinkClr xmlns:ahyp="http://schemas.microsoft.com/office/drawing/2018/hyperlinkcolor" val="tx"/>
                    </a:ext>
                  </a:extLst>
                </a:hlinkClick>
              </a:rPr>
              <a:t>Deterministic demo runner</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Scenario database" history="1" highlightClick="0" endSnd="0">
                  <a:extLst>
                    <a:ext uri="{A12FA001-AC4F-418D-AE19-62706E023703}">
                      <ahyp:hlinkClr xmlns:ahyp="http://schemas.microsoft.com/office/drawing/2018/hyperlinkcolor" val="tx"/>
                    </a:ext>
                  </a:extLst>
                </a:hlinkClick>
              </a:rPr>
              <a:t>Scenario database</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CONTROL</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Human approval is a transaction, not a button.</a:t>
            </a:r>
            <a:endParaRPr lang="en-US" sz="3600" dirty="0"/>
          </a:p>
        </p:txBody>
      </p:sp>
      <p:sp>
        <p:nvSpPr>
          <p:cNvPr id="4" name="Text 2"/>
          <p:cNvSpPr/>
          <p:nvPr/>
        </p:nvSpPr>
        <p:spPr>
          <a:xfrm>
            <a:off x="658368" y="1572768"/>
            <a:ext cx="10652760" cy="502920"/>
          </a:xfrm>
          <a:prstGeom prst="rect">
            <a:avLst/>
          </a:prstGeom>
          <a:noFill/>
          <a:ln/>
        </p:spPr>
        <p:txBody>
          <a:bodyPr wrap="square" lIns="0" tIns="0" rIns="0" bIns="0" rtlCol="0" anchor="t">
            <a:normAutofit/>
          </a:bodyPr>
          <a:lstStyle/>
          <a:p>
            <a:pPr indent="0" marL="0">
              <a:buNone/>
            </a:pPr>
            <a:r>
              <a:rPr lang="en-US" sz="1550" dirty="0">
                <a:solidFill>
                  <a:srgbClr val="61706D"/>
                </a:solidFill>
                <a:latin typeface="Aptos" pitchFamily="34" charset="0"/>
                <a:ea typeface="Aptos" pitchFamily="34" charset="-122"/>
                <a:cs typeface="Aptos" pitchFamily="34" charset="-120"/>
              </a:rPr>
              <a:t>The UI presents a draft plan and its tradeoffs. Approval revalidates plan currency and feasibility, then writes one auditable state transition.</a:t>
            </a:r>
            <a:endParaRPr lang="en-US" sz="1550" dirty="0"/>
          </a:p>
        </p:txBody>
      </p:sp>
      <p:sp>
        <p:nvSpPr>
          <p:cNvPr id="5" name="Shape 3"/>
          <p:cNvSpPr/>
          <p:nvPr/>
        </p:nvSpPr>
        <p:spPr>
          <a:xfrm>
            <a:off x="658368" y="2267712"/>
            <a:ext cx="7818120" cy="3794760"/>
          </a:xfrm>
          <a:prstGeom prst="roundRect">
            <a:avLst>
              <a:gd name="adj" fmla="val 1928"/>
            </a:avLst>
          </a:prstGeom>
          <a:solidFill>
            <a:srgbClr val="FFFDF8"/>
          </a:solidFill>
          <a:ln w="12700">
            <a:solidFill>
              <a:srgbClr val="D9D2C2"/>
            </a:solidFill>
            <a:prstDash val="solid"/>
          </a:ln>
        </p:spPr>
      </p:sp>
      <p:pic>
        <p:nvPicPr>
          <p:cNvPr id="6" name="Image 0" descr="FoodShock recovery plan showing service, unmet demand, cost, disruptions, and hard-constraint violations">    </p:cNvPr>
          <p:cNvPicPr>
            <a:picLocks noChangeAspect="1"/>
          </p:cNvPicPr>
          <p:nvPr/>
        </p:nvPicPr>
        <p:blipFill>
          <a:blip r:embed="rId1"/>
          <a:stretch>
            <a:fillRect/>
          </a:stretch>
        </p:blipFill>
        <p:spPr>
          <a:xfrm>
            <a:off x="786384" y="2395728"/>
            <a:ext cx="7562088" cy="3538728"/>
          </a:xfrm>
          <a:prstGeom prst="rect">
            <a:avLst/>
          </a:prstGeom>
        </p:spPr>
      </p:pic>
      <p:sp>
        <p:nvSpPr>
          <p:cNvPr id="7" name="Shape 4"/>
          <p:cNvSpPr/>
          <p:nvPr/>
        </p:nvSpPr>
        <p:spPr>
          <a:xfrm>
            <a:off x="8796528" y="2267712"/>
            <a:ext cx="2743200" cy="2267712"/>
          </a:xfrm>
          <a:prstGeom prst="roundRect">
            <a:avLst>
              <a:gd name="adj" fmla="val 3226"/>
            </a:avLst>
          </a:prstGeom>
          <a:solidFill>
            <a:srgbClr val="E8EEE9"/>
          </a:solidFill>
          <a:ln w="12700">
            <a:solidFill>
              <a:srgbClr val="D9D2C2"/>
            </a:solidFill>
            <a:prstDash val="solid"/>
          </a:ln>
        </p:spPr>
      </p:sp>
      <p:sp>
        <p:nvSpPr>
          <p:cNvPr id="8" name="Text 5"/>
          <p:cNvSpPr/>
          <p:nvPr/>
        </p:nvSpPr>
        <p:spPr>
          <a:xfrm>
            <a:off x="9107424" y="2523744"/>
            <a:ext cx="2029968" cy="274320"/>
          </a:xfrm>
          <a:prstGeom prst="rect">
            <a:avLst/>
          </a:prstGeom>
          <a:noFill/>
          <a:ln/>
        </p:spPr>
        <p:txBody>
          <a:bodyPr wrap="square" lIns="0" tIns="0" rIns="0" bIns="0" rtlCol="0" anchor="ctr">
            <a:normAutofit/>
          </a:bodyPr>
          <a:lstStyle/>
          <a:p>
            <a:pPr indent="0" marL="0">
              <a:buNone/>
            </a:pPr>
            <a:r>
              <a:rPr lang="en-US" sz="1400" b="1" dirty="0">
                <a:solidFill>
                  <a:srgbClr val="132524"/>
                </a:solidFill>
                <a:latin typeface="Aptos" pitchFamily="34" charset="0"/>
                <a:ea typeface="Aptos" pitchFamily="34" charset="-122"/>
                <a:cs typeface="Aptos" pitchFamily="34" charset="-120"/>
              </a:rPr>
              <a:t>Approval gates</a:t>
            </a:r>
            <a:endParaRPr lang="en-US" sz="1400" dirty="0"/>
          </a:p>
        </p:txBody>
      </p:sp>
      <p:sp>
        <p:nvSpPr>
          <p:cNvPr id="9" name="Shape 6"/>
          <p:cNvSpPr/>
          <p:nvPr/>
        </p:nvSpPr>
        <p:spPr>
          <a:xfrm>
            <a:off x="9107424" y="2962656"/>
            <a:ext cx="237744" cy="237744"/>
          </a:xfrm>
          <a:prstGeom prst="ellipse">
            <a:avLst/>
          </a:prstGeom>
          <a:solidFill>
            <a:srgbClr val="1D6B62"/>
          </a:solidFill>
          <a:ln w="12700">
            <a:solidFill>
              <a:srgbClr val="1D6B62"/>
            </a:solidFill>
            <a:prstDash val="solid"/>
          </a:ln>
        </p:spPr>
      </p:sp>
      <p:sp>
        <p:nvSpPr>
          <p:cNvPr id="10" name="Text 7"/>
          <p:cNvSpPr/>
          <p:nvPr/>
        </p:nvSpPr>
        <p:spPr>
          <a:xfrm>
            <a:off x="9107424" y="295351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1" name="Text 8"/>
          <p:cNvSpPr/>
          <p:nvPr/>
        </p:nvSpPr>
        <p:spPr>
          <a:xfrm>
            <a:off x="9454896" y="2944368"/>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Latest recommendation</a:t>
            </a:r>
            <a:endParaRPr lang="en-US" sz="1150" dirty="0"/>
          </a:p>
        </p:txBody>
      </p:sp>
      <p:sp>
        <p:nvSpPr>
          <p:cNvPr id="12" name="Text 9"/>
          <p:cNvSpPr/>
          <p:nvPr/>
        </p:nvSpPr>
        <p:spPr>
          <a:xfrm>
            <a:off x="9454896" y="3191256"/>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stale drafts rejected</a:t>
            </a:r>
            <a:endParaRPr lang="en-US" sz="950" dirty="0"/>
          </a:p>
        </p:txBody>
      </p:sp>
      <p:sp>
        <p:nvSpPr>
          <p:cNvPr id="13" name="Shape 10"/>
          <p:cNvSpPr/>
          <p:nvPr/>
        </p:nvSpPr>
        <p:spPr>
          <a:xfrm>
            <a:off x="9107424" y="3474720"/>
            <a:ext cx="237744" cy="237744"/>
          </a:xfrm>
          <a:prstGeom prst="ellipse">
            <a:avLst/>
          </a:prstGeom>
          <a:solidFill>
            <a:srgbClr val="1D6B62"/>
          </a:solidFill>
          <a:ln w="12700">
            <a:solidFill>
              <a:srgbClr val="1D6B62"/>
            </a:solidFill>
            <a:prstDash val="solid"/>
          </a:ln>
        </p:spPr>
      </p:sp>
      <p:sp>
        <p:nvSpPr>
          <p:cNvPr id="14" name="Text 11"/>
          <p:cNvSpPr/>
          <p:nvPr/>
        </p:nvSpPr>
        <p:spPr>
          <a:xfrm>
            <a:off x="9107424" y="346557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454896" y="3456432"/>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Plan lines re-evaluated</a:t>
            </a:r>
            <a:endParaRPr lang="en-US" sz="1150" dirty="0"/>
          </a:p>
        </p:txBody>
      </p:sp>
      <p:sp>
        <p:nvSpPr>
          <p:cNvPr id="16" name="Text 13"/>
          <p:cNvSpPr/>
          <p:nvPr/>
        </p:nvSpPr>
        <p:spPr>
          <a:xfrm>
            <a:off x="9454896" y="3703320"/>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offers, timing, constraints checked</a:t>
            </a:r>
            <a:endParaRPr lang="en-US" sz="950" dirty="0"/>
          </a:p>
        </p:txBody>
      </p:sp>
      <p:sp>
        <p:nvSpPr>
          <p:cNvPr id="17" name="Shape 14"/>
          <p:cNvSpPr/>
          <p:nvPr/>
        </p:nvSpPr>
        <p:spPr>
          <a:xfrm>
            <a:off x="9107424" y="3986784"/>
            <a:ext cx="237744" cy="237744"/>
          </a:xfrm>
          <a:prstGeom prst="ellipse">
            <a:avLst/>
          </a:prstGeom>
          <a:solidFill>
            <a:srgbClr val="B94735"/>
          </a:solidFill>
          <a:ln w="12700">
            <a:solidFill>
              <a:srgbClr val="B94735"/>
            </a:solidFill>
            <a:prstDash val="solid"/>
          </a:ln>
        </p:spPr>
      </p:sp>
      <p:sp>
        <p:nvSpPr>
          <p:cNvPr id="18" name="Text 15"/>
          <p:cNvSpPr/>
          <p:nvPr/>
        </p:nvSpPr>
        <p:spPr>
          <a:xfrm>
            <a:off x="9107424" y="397764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454896" y="3968496"/>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Zero hard violations</a:t>
            </a:r>
            <a:endParaRPr lang="en-US" sz="1150" dirty="0"/>
          </a:p>
        </p:txBody>
      </p:sp>
      <p:sp>
        <p:nvSpPr>
          <p:cNvPr id="20" name="Text 17"/>
          <p:cNvSpPr/>
          <p:nvPr/>
        </p:nvSpPr>
        <p:spPr>
          <a:xfrm>
            <a:off x="9454896" y="4215384"/>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state checked again</a:t>
            </a:r>
            <a:endParaRPr lang="en-US" sz="950" dirty="0"/>
          </a:p>
        </p:txBody>
      </p:sp>
      <p:sp>
        <p:nvSpPr>
          <p:cNvPr id="21" name="Shape 18"/>
          <p:cNvSpPr/>
          <p:nvPr/>
        </p:nvSpPr>
        <p:spPr>
          <a:xfrm>
            <a:off x="8796528" y="4773168"/>
            <a:ext cx="2743200" cy="1289304"/>
          </a:xfrm>
          <a:prstGeom prst="roundRect">
            <a:avLst>
              <a:gd name="adj" fmla="val 5674"/>
            </a:avLst>
          </a:prstGeom>
          <a:solidFill>
            <a:srgbClr val="143B37"/>
          </a:solidFill>
          <a:ln w="12700">
            <a:solidFill>
              <a:srgbClr val="143B37"/>
            </a:solidFill>
            <a:prstDash val="solid"/>
          </a:ln>
        </p:spPr>
      </p:sp>
      <p:sp>
        <p:nvSpPr>
          <p:cNvPr id="22" name="Text 19"/>
          <p:cNvSpPr/>
          <p:nvPr/>
        </p:nvSpPr>
        <p:spPr>
          <a:xfrm>
            <a:off x="9107424" y="5010912"/>
            <a:ext cx="2029968" cy="246888"/>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After approval</a:t>
            </a:r>
            <a:endParaRPr lang="en-US" sz="1300" dirty="0"/>
          </a:p>
        </p:txBody>
      </p:sp>
      <p:sp>
        <p:nvSpPr>
          <p:cNvPr id="23" name="Text 20"/>
          <p:cNvSpPr/>
          <p:nvPr/>
        </p:nvSpPr>
        <p:spPr>
          <a:xfrm>
            <a:off x="9107424" y="5340096"/>
            <a:ext cx="2011680" cy="566928"/>
          </a:xfrm>
          <a:prstGeom prst="rect">
            <a:avLst/>
          </a:prstGeom>
          <a:noFill/>
          <a:ln/>
        </p:spPr>
        <p:txBody>
          <a:bodyPr wrap="square" lIns="0" tIns="0" rIns="0" bIns="0" rtlCol="0" anchor="t">
            <a:normAutofit/>
          </a:bodyPr>
          <a:lstStyle/>
          <a:p>
            <a:pPr indent="0" marL="0">
              <a:buNone/>
            </a:pPr>
            <a:r>
              <a:rPr lang="en-US" sz="1030" dirty="0">
                <a:solidFill>
                  <a:srgbClr val="78B7A9"/>
                </a:solidFill>
                <a:latin typeface="Aptos" pitchFamily="34" charset="0"/>
                <a:ea typeface="Aptos" pitchFamily="34" charset="-122"/>
                <a:cs typeface="Aptos" pitchFamily="34" charset="-120"/>
              </a:rPr>
              <a:t>Lot-specific pantry notices</a:t>
            </a:r>
            <a:endParaRPr lang="en-US" sz="1030" dirty="0"/>
          </a:p>
          <a:p>
            <a:pPr indent="0" marL="0">
              <a:buNone/>
            </a:pPr>
            <a:r>
              <a:rPr lang="en-US" sz="1030" dirty="0">
                <a:solidFill>
                  <a:srgbClr val="78B7A9"/>
                </a:solidFill>
                <a:latin typeface="Aptos" pitchFamily="34" charset="0"/>
                <a:ea typeface="Aptos" pitchFamily="34" charset="-122"/>
                <a:cs typeface="Aptos" pitchFamily="34" charset="-120"/>
              </a:rPr>
              <a:t>Purchase instructions</a:t>
            </a:r>
            <a:endParaRPr lang="en-US" sz="1030" dirty="0"/>
          </a:p>
          <a:p>
            <a:pPr indent="0" marL="0">
              <a:buNone/>
            </a:pPr>
            <a:r>
              <a:rPr lang="en-US" sz="1030" dirty="0">
                <a:solidFill>
                  <a:srgbClr val="78B7A9"/>
                </a:solidFill>
                <a:latin typeface="Aptos" pitchFamily="34" charset="0"/>
                <a:ea typeface="Aptos" pitchFamily="34" charset="-122"/>
                <a:cs typeface="Aptos" pitchFamily="34" charset="-120"/>
              </a:rPr>
              <a:t>Auditable approval event</a:t>
            </a:r>
            <a:endParaRPr lang="en-US" sz="1030" dirty="0"/>
          </a:p>
        </p:txBody>
      </p:sp>
      <p:sp>
        <p:nvSpPr>
          <p:cNvPr id="24" name="Text 21"/>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Screenshot captured from the public synthetic-data demo.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Live recovery plan" history="1" highlightClick="0" endSnd="0">
                  <a:extLst>
                    <a:ext uri="{A12FA001-AC4F-418D-AE19-62706E023703}">
                      <ahyp:hlinkClr xmlns:ahyp="http://schemas.microsoft.com/office/drawing/2018/hyperlinkcolor" val="tx"/>
                    </a:ext>
                  </a:extLst>
                </a:hlinkClick>
              </a:rPr>
              <a:t>Live recovery plan</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Approval regression tests" history="1" highlightClick="0" endSnd="0">
                  <a:extLst>
                    <a:ext uri="{A12FA001-AC4F-418D-AE19-62706E023703}">
                      <ahyp:hlinkClr xmlns:ahyp="http://schemas.microsoft.com/office/drawing/2018/hyperlinkcolor" val="tx"/>
                    </a:ext>
                  </a:extLst>
                </a:hlinkClick>
              </a:rPr>
              <a:t>Approval regression tests</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VALIDATION STATUS</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Evidence is separated from ambition.</a:t>
            </a:r>
            <a:endParaRPr lang="en-US" sz="3600" dirty="0"/>
          </a:p>
        </p:txBody>
      </p:sp>
      <p:sp>
        <p:nvSpPr>
          <p:cNvPr id="4" name="Text 2"/>
          <p:cNvSpPr/>
          <p:nvPr/>
        </p:nvSpPr>
        <p:spPr>
          <a:xfrm>
            <a:off x="658368" y="1572768"/>
            <a:ext cx="10698480" cy="475488"/>
          </a:xfrm>
          <a:prstGeom prst="rect">
            <a:avLst/>
          </a:prstGeom>
          <a:noFill/>
          <a:ln/>
        </p:spPr>
        <p:txBody>
          <a:bodyPr wrap="square" lIns="0" tIns="0" rIns="0" bIns="0" rtlCol="0" anchor="t">
            <a:normAutofit/>
          </a:bodyPr>
          <a:lstStyle/>
          <a:p>
            <a:pPr indent="0" marL="0">
              <a:buNone/>
            </a:pPr>
            <a:r>
              <a:rPr lang="en-US" sz="1550" dirty="0">
                <a:solidFill>
                  <a:srgbClr val="61706D"/>
                </a:solidFill>
                <a:latin typeface="Aptos" pitchFamily="34" charset="0"/>
                <a:ea typeface="Aptos" pitchFamily="34" charset="-122"/>
                <a:cs typeface="Aptos" pitchFamily="34" charset="-120"/>
              </a:rPr>
              <a:t>Measured behavior, evaluation readiness, and future validation are reported as different categories. No unavailable result is converted into a claim.</a:t>
            </a:r>
            <a:endParaRPr lang="en-US" sz="1550" dirty="0"/>
          </a:p>
        </p:txBody>
      </p:sp>
      <p:sp>
        <p:nvSpPr>
          <p:cNvPr id="5" name="Shape 3"/>
          <p:cNvSpPr/>
          <p:nvPr/>
        </p:nvSpPr>
        <p:spPr>
          <a:xfrm>
            <a:off x="658368" y="2359152"/>
            <a:ext cx="3246120" cy="3611880"/>
          </a:xfrm>
          <a:prstGeom prst="roundRect">
            <a:avLst>
              <a:gd name="adj" fmla="val 2254"/>
            </a:avLst>
          </a:prstGeom>
          <a:solidFill>
            <a:srgbClr val="E8EEE9"/>
          </a:solidFill>
          <a:ln w="17780">
            <a:solidFill>
              <a:srgbClr val="1D6B62"/>
            </a:solidFill>
            <a:prstDash val="solid"/>
          </a:ln>
        </p:spPr>
      </p:sp>
      <p:sp>
        <p:nvSpPr>
          <p:cNvPr id="6" name="Shape 4"/>
          <p:cNvSpPr/>
          <p:nvPr/>
        </p:nvSpPr>
        <p:spPr>
          <a:xfrm>
            <a:off x="950976" y="2651760"/>
            <a:ext cx="1417320" cy="274320"/>
          </a:xfrm>
          <a:prstGeom prst="roundRect">
            <a:avLst/>
          </a:prstGeom>
          <a:solidFill>
            <a:srgbClr val="1D6B62"/>
          </a:solidFill>
          <a:ln w="12700">
            <a:solidFill>
              <a:srgbClr val="1D6B62"/>
            </a:solidFill>
            <a:prstDash val="solid"/>
          </a:ln>
        </p:spPr>
      </p:sp>
      <p:sp>
        <p:nvSpPr>
          <p:cNvPr id="7" name="Text 5"/>
          <p:cNvSpPr/>
          <p:nvPr/>
        </p:nvSpPr>
        <p:spPr>
          <a:xfrm>
            <a:off x="1024128"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MEASURED</a:t>
            </a:r>
            <a:endParaRPr lang="en-US" sz="900" dirty="0"/>
          </a:p>
        </p:txBody>
      </p:sp>
      <p:sp>
        <p:nvSpPr>
          <p:cNvPr id="8" name="Text 6"/>
          <p:cNvSpPr/>
          <p:nvPr/>
        </p:nvSpPr>
        <p:spPr>
          <a:xfrm>
            <a:off x="950976"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In the synthetic demo</a:t>
            </a:r>
            <a:endParaRPr lang="en-US" sz="1450" dirty="0"/>
          </a:p>
        </p:txBody>
      </p:sp>
      <p:sp>
        <p:nvSpPr>
          <p:cNvPr id="9" name="Text 7"/>
          <p:cNvSpPr/>
          <p:nvPr/>
        </p:nvSpPr>
        <p:spPr>
          <a:xfrm>
            <a:off x="950976"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0.81s</a:t>
            </a:r>
            <a:endParaRPr lang="en-US" sz="1250" dirty="0"/>
          </a:p>
        </p:txBody>
      </p:sp>
      <p:sp>
        <p:nvSpPr>
          <p:cNvPr id="10" name="Text 8"/>
          <p:cNvSpPr/>
          <p:nvPr/>
        </p:nvSpPr>
        <p:spPr>
          <a:xfrm>
            <a:off x="2231136"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latest seeded run</a:t>
            </a:r>
            <a:endParaRPr lang="en-US" sz="960" dirty="0"/>
          </a:p>
        </p:txBody>
      </p:sp>
      <p:sp>
        <p:nvSpPr>
          <p:cNvPr id="11" name="Text 9"/>
          <p:cNvSpPr/>
          <p:nvPr/>
        </p:nvSpPr>
        <p:spPr>
          <a:xfrm>
            <a:off x="950976"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0</a:t>
            </a:r>
            <a:endParaRPr lang="en-US" sz="1250" dirty="0"/>
          </a:p>
        </p:txBody>
      </p:sp>
      <p:sp>
        <p:nvSpPr>
          <p:cNvPr id="12" name="Text 10"/>
          <p:cNvSpPr/>
          <p:nvPr/>
        </p:nvSpPr>
        <p:spPr>
          <a:xfrm>
            <a:off x="2231136"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hard-constraint violations</a:t>
            </a:r>
            <a:endParaRPr lang="en-US" sz="960" dirty="0"/>
          </a:p>
        </p:txBody>
      </p:sp>
      <p:sp>
        <p:nvSpPr>
          <p:cNvPr id="13" name="Text 11"/>
          <p:cNvSpPr/>
          <p:nvPr/>
        </p:nvSpPr>
        <p:spPr>
          <a:xfrm>
            <a:off x="950976"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+1,800 lb</a:t>
            </a:r>
            <a:endParaRPr lang="en-US" sz="1250" dirty="0"/>
          </a:p>
        </p:txBody>
      </p:sp>
      <p:sp>
        <p:nvSpPr>
          <p:cNvPr id="14" name="Text 12"/>
          <p:cNvSpPr/>
          <p:nvPr/>
        </p:nvSpPr>
        <p:spPr>
          <a:xfrm>
            <a:off x="2231136"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served vs baseline</a:t>
            </a:r>
            <a:endParaRPr lang="en-US" sz="960" dirty="0"/>
          </a:p>
        </p:txBody>
      </p:sp>
      <p:sp>
        <p:nvSpPr>
          <p:cNvPr id="15" name="Text 13"/>
          <p:cNvSpPr/>
          <p:nvPr/>
        </p:nvSpPr>
        <p:spPr>
          <a:xfrm>
            <a:off x="950976"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8 tests</a:t>
            </a:r>
            <a:endParaRPr lang="en-US" sz="1250" dirty="0"/>
          </a:p>
        </p:txBody>
      </p:sp>
      <p:sp>
        <p:nvSpPr>
          <p:cNvPr id="16" name="Text 14"/>
          <p:cNvSpPr/>
          <p:nvPr/>
        </p:nvSpPr>
        <p:spPr>
          <a:xfrm>
            <a:off x="2231136"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new safety regressions</a:t>
            </a:r>
            <a:endParaRPr lang="en-US" sz="960" dirty="0"/>
          </a:p>
        </p:txBody>
      </p:sp>
      <p:sp>
        <p:nvSpPr>
          <p:cNvPr id="17" name="Shape 15"/>
          <p:cNvSpPr/>
          <p:nvPr/>
        </p:nvSpPr>
        <p:spPr>
          <a:xfrm>
            <a:off x="4471416" y="2359152"/>
            <a:ext cx="3246120" cy="3611880"/>
          </a:xfrm>
          <a:prstGeom prst="roundRect">
            <a:avLst>
              <a:gd name="adj" fmla="val 2254"/>
            </a:avLst>
          </a:prstGeom>
          <a:solidFill>
            <a:srgbClr val="F7E9CB"/>
          </a:solidFill>
          <a:ln w="17780">
            <a:solidFill>
              <a:srgbClr val="C88C2C"/>
            </a:solidFill>
            <a:prstDash val="solid"/>
          </a:ln>
        </p:spPr>
      </p:sp>
      <p:sp>
        <p:nvSpPr>
          <p:cNvPr id="18" name="Shape 16"/>
          <p:cNvSpPr/>
          <p:nvPr/>
        </p:nvSpPr>
        <p:spPr>
          <a:xfrm>
            <a:off x="4764024" y="2651760"/>
            <a:ext cx="1417320" cy="274320"/>
          </a:xfrm>
          <a:prstGeom prst="roundRect">
            <a:avLst/>
          </a:prstGeom>
          <a:solidFill>
            <a:srgbClr val="C88C2C"/>
          </a:solidFill>
          <a:ln w="12700">
            <a:solidFill>
              <a:srgbClr val="C88C2C"/>
            </a:solidFill>
            <a:prstDash val="solid"/>
          </a:ln>
        </p:spPr>
      </p:sp>
      <p:sp>
        <p:nvSpPr>
          <p:cNvPr id="19" name="Text 17"/>
          <p:cNvSpPr/>
          <p:nvPr/>
        </p:nvSpPr>
        <p:spPr>
          <a:xfrm>
            <a:off x="4837176"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READY / NOT RUN</a:t>
            </a:r>
            <a:endParaRPr lang="en-US" sz="900" dirty="0"/>
          </a:p>
        </p:txBody>
      </p:sp>
      <p:sp>
        <p:nvSpPr>
          <p:cNvPr id="20" name="Text 18"/>
          <p:cNvSpPr/>
          <p:nvPr/>
        </p:nvSpPr>
        <p:spPr>
          <a:xfrm>
            <a:off x="4764024"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Extraction evaluation</a:t>
            </a:r>
            <a:endParaRPr lang="en-US" sz="1450" dirty="0"/>
          </a:p>
        </p:txBody>
      </p:sp>
      <p:sp>
        <p:nvSpPr>
          <p:cNvPr id="21" name="Text 19"/>
          <p:cNvSpPr/>
          <p:nvPr/>
        </p:nvSpPr>
        <p:spPr>
          <a:xfrm>
            <a:off x="4764024"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C88C2C"/>
                </a:solidFill>
                <a:latin typeface="Aptos" pitchFamily="34" charset="0"/>
                <a:ea typeface="Aptos" pitchFamily="34" charset="-122"/>
                <a:cs typeface="Aptos" pitchFamily="34" charset="-120"/>
              </a:rPr>
              <a:t>5 notices</a:t>
            </a:r>
            <a:endParaRPr lang="en-US" sz="1250" dirty="0"/>
          </a:p>
        </p:txBody>
      </p:sp>
      <p:sp>
        <p:nvSpPr>
          <p:cNvPr id="22" name="Text 20"/>
          <p:cNvSpPr/>
          <p:nvPr/>
        </p:nvSpPr>
        <p:spPr>
          <a:xfrm>
            <a:off x="6044184"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frozen official gold set</a:t>
            </a:r>
            <a:endParaRPr lang="en-US" sz="960" dirty="0"/>
          </a:p>
        </p:txBody>
      </p:sp>
      <p:sp>
        <p:nvSpPr>
          <p:cNvPr id="23" name="Text 21"/>
          <p:cNvSpPr/>
          <p:nvPr/>
        </p:nvSpPr>
        <p:spPr>
          <a:xfrm>
            <a:off x="4764024"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C88C2C"/>
                </a:solidFill>
                <a:latin typeface="Aptos" pitchFamily="34" charset="0"/>
                <a:ea typeface="Aptos" pitchFamily="34" charset="-122"/>
                <a:cs typeface="Aptos" pitchFamily="34" charset="-120"/>
              </a:rPr>
              <a:t>Exact match</a:t>
            </a:r>
            <a:endParaRPr lang="en-US" sz="1250" dirty="0"/>
          </a:p>
        </p:txBody>
      </p:sp>
      <p:sp>
        <p:nvSpPr>
          <p:cNvPr id="24" name="Text 22"/>
          <p:cNvSpPr/>
          <p:nvPr/>
        </p:nvSpPr>
        <p:spPr>
          <a:xfrm>
            <a:off x="6044184"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field-level scorer</a:t>
            </a:r>
            <a:endParaRPr lang="en-US" sz="960" dirty="0"/>
          </a:p>
        </p:txBody>
      </p:sp>
      <p:sp>
        <p:nvSpPr>
          <p:cNvPr id="25" name="Text 23"/>
          <p:cNvSpPr/>
          <p:nvPr/>
        </p:nvSpPr>
        <p:spPr>
          <a:xfrm>
            <a:off x="4764024"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C88C2C"/>
                </a:solidFill>
                <a:latin typeface="Aptos" pitchFamily="34" charset="0"/>
                <a:ea typeface="Aptos" pitchFamily="34" charset="-122"/>
                <a:cs typeface="Aptos" pitchFamily="34" charset="-120"/>
              </a:rPr>
              <a:t>Provenance</a:t>
            </a:r>
            <a:endParaRPr lang="en-US" sz="1250" dirty="0"/>
          </a:p>
        </p:txBody>
      </p:sp>
      <p:sp>
        <p:nvSpPr>
          <p:cNvPr id="26" name="Text 24"/>
          <p:cNvSpPr/>
          <p:nvPr/>
        </p:nvSpPr>
        <p:spPr>
          <a:xfrm>
            <a:off x="6044184"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raw + verified outputs</a:t>
            </a:r>
            <a:endParaRPr lang="en-US" sz="960" dirty="0"/>
          </a:p>
        </p:txBody>
      </p:sp>
      <p:sp>
        <p:nvSpPr>
          <p:cNvPr id="27" name="Text 25"/>
          <p:cNvSpPr/>
          <p:nvPr/>
        </p:nvSpPr>
        <p:spPr>
          <a:xfrm>
            <a:off x="4764024"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C88C2C"/>
                </a:solidFill>
                <a:latin typeface="Aptos" pitchFamily="34" charset="0"/>
                <a:ea typeface="Aptos" pitchFamily="34" charset="-122"/>
                <a:cs typeface="Aptos" pitchFamily="34" charset="-120"/>
              </a:rPr>
              <a:t>No rate</a:t>
            </a:r>
            <a:endParaRPr lang="en-US" sz="1250" dirty="0"/>
          </a:p>
        </p:txBody>
      </p:sp>
      <p:sp>
        <p:nvSpPr>
          <p:cNvPr id="28" name="Text 26"/>
          <p:cNvSpPr/>
          <p:nvPr/>
        </p:nvSpPr>
        <p:spPr>
          <a:xfrm>
            <a:off x="6044184"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Anthropic credential unavailable</a:t>
            </a:r>
            <a:endParaRPr lang="en-US" sz="960" dirty="0"/>
          </a:p>
        </p:txBody>
      </p:sp>
      <p:sp>
        <p:nvSpPr>
          <p:cNvPr id="29" name="Shape 27"/>
          <p:cNvSpPr/>
          <p:nvPr/>
        </p:nvSpPr>
        <p:spPr>
          <a:xfrm>
            <a:off x="8284464" y="2359152"/>
            <a:ext cx="3246120" cy="3611880"/>
          </a:xfrm>
          <a:prstGeom prst="roundRect">
            <a:avLst>
              <a:gd name="adj" fmla="val 2254"/>
            </a:avLst>
          </a:prstGeom>
          <a:solidFill>
            <a:srgbClr val="E9ECEC"/>
          </a:solidFill>
          <a:ln w="17780">
            <a:solidFill>
              <a:srgbClr val="64757A"/>
            </a:solidFill>
            <a:prstDash val="solid"/>
          </a:ln>
        </p:spPr>
      </p:sp>
      <p:sp>
        <p:nvSpPr>
          <p:cNvPr id="30" name="Shape 28"/>
          <p:cNvSpPr/>
          <p:nvPr/>
        </p:nvSpPr>
        <p:spPr>
          <a:xfrm>
            <a:off x="8577072" y="2651760"/>
            <a:ext cx="1417320" cy="274320"/>
          </a:xfrm>
          <a:prstGeom prst="roundRect">
            <a:avLst/>
          </a:prstGeom>
          <a:solidFill>
            <a:srgbClr val="64757A"/>
          </a:solidFill>
          <a:ln w="12700">
            <a:solidFill>
              <a:srgbClr val="64757A"/>
            </a:solidFill>
            <a:prstDash val="solid"/>
          </a:ln>
        </p:spPr>
      </p:sp>
      <p:sp>
        <p:nvSpPr>
          <p:cNvPr id="31" name="Text 29"/>
          <p:cNvSpPr/>
          <p:nvPr/>
        </p:nvSpPr>
        <p:spPr>
          <a:xfrm>
            <a:off x="8650224"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NOT YET VALIDATED</a:t>
            </a:r>
            <a:endParaRPr lang="en-US" sz="900" dirty="0"/>
          </a:p>
        </p:txBody>
      </p:sp>
      <p:sp>
        <p:nvSpPr>
          <p:cNvPr id="32" name="Text 30"/>
          <p:cNvSpPr/>
          <p:nvPr/>
        </p:nvSpPr>
        <p:spPr>
          <a:xfrm>
            <a:off x="8577072"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In live operations</a:t>
            </a:r>
            <a:endParaRPr lang="en-US" sz="1450" dirty="0"/>
          </a:p>
        </p:txBody>
      </p:sp>
      <p:sp>
        <p:nvSpPr>
          <p:cNvPr id="33" name="Text 31"/>
          <p:cNvSpPr/>
          <p:nvPr/>
        </p:nvSpPr>
        <p:spPr>
          <a:xfrm>
            <a:off x="8577072"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0 interviews</a:t>
            </a:r>
            <a:endParaRPr lang="en-US" sz="1250" dirty="0"/>
          </a:p>
        </p:txBody>
      </p:sp>
      <p:sp>
        <p:nvSpPr>
          <p:cNvPr id="34" name="Text 32"/>
          <p:cNvSpPr/>
          <p:nvPr/>
        </p:nvSpPr>
        <p:spPr>
          <a:xfrm>
            <a:off x="9857232"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food-bank operator discovery</a:t>
            </a:r>
            <a:endParaRPr lang="en-US" sz="960" dirty="0"/>
          </a:p>
        </p:txBody>
      </p:sp>
      <p:sp>
        <p:nvSpPr>
          <p:cNvPr id="35" name="Text 33"/>
          <p:cNvSpPr/>
          <p:nvPr/>
        </p:nvSpPr>
        <p:spPr>
          <a:xfrm>
            <a:off x="8577072"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No timing study</a:t>
            </a:r>
            <a:endParaRPr lang="en-US" sz="1250" dirty="0"/>
          </a:p>
        </p:txBody>
      </p:sp>
      <p:sp>
        <p:nvSpPr>
          <p:cNvPr id="36" name="Text 34"/>
          <p:cNvSpPr/>
          <p:nvPr/>
        </p:nvSpPr>
        <p:spPr>
          <a:xfrm>
            <a:off x="9857232"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manual response comparator</a:t>
            </a:r>
            <a:endParaRPr lang="en-US" sz="960" dirty="0"/>
          </a:p>
        </p:txBody>
      </p:sp>
      <p:sp>
        <p:nvSpPr>
          <p:cNvPr id="37" name="Text 35"/>
          <p:cNvSpPr/>
          <p:nvPr/>
        </p:nvSpPr>
        <p:spPr>
          <a:xfrm>
            <a:off x="8577072"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No client data</a:t>
            </a:r>
            <a:endParaRPr lang="en-US" sz="1250" dirty="0"/>
          </a:p>
        </p:txBody>
      </p:sp>
      <p:sp>
        <p:nvSpPr>
          <p:cNvPr id="38" name="Text 36"/>
          <p:cNvSpPr/>
          <p:nvPr/>
        </p:nvSpPr>
        <p:spPr>
          <a:xfrm>
            <a:off x="9857232"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production performance</a:t>
            </a:r>
            <a:endParaRPr lang="en-US" sz="960" dirty="0"/>
          </a:p>
        </p:txBody>
      </p:sp>
      <p:sp>
        <p:nvSpPr>
          <p:cNvPr id="39" name="Text 37"/>
          <p:cNvSpPr/>
          <p:nvPr/>
        </p:nvSpPr>
        <p:spPr>
          <a:xfrm>
            <a:off x="8577072"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Pilot needed</a:t>
            </a:r>
            <a:endParaRPr lang="en-US" sz="1250" dirty="0"/>
          </a:p>
        </p:txBody>
      </p:sp>
      <p:sp>
        <p:nvSpPr>
          <p:cNvPr id="40" name="Text 38"/>
          <p:cNvSpPr/>
          <p:nvPr/>
        </p:nvSpPr>
        <p:spPr>
          <a:xfrm>
            <a:off x="9857232"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workflow and impact validation</a:t>
            </a:r>
            <a:endParaRPr lang="en-US" sz="960" dirty="0"/>
          </a:p>
        </p:txBody>
      </p:sp>
      <p:sp>
        <p:nvSpPr>
          <p:cNvPr id="41" name="Shape 39"/>
          <p:cNvSpPr/>
          <p:nvPr/>
        </p:nvSpPr>
        <p:spPr>
          <a:xfrm>
            <a:off x="4764024" y="5605272"/>
            <a:ext cx="2788920" cy="256032"/>
          </a:xfrm>
          <a:prstGeom prst="roundRect">
            <a:avLst/>
          </a:prstGeom>
          <a:solidFill>
            <a:srgbClr val="C88C2C"/>
          </a:solidFill>
          <a:ln w="12700">
            <a:solidFill>
              <a:srgbClr val="C88C2C"/>
            </a:solidFill>
            <a:prstDash val="solid"/>
          </a:ln>
        </p:spPr>
      </p:sp>
      <p:sp>
        <p:nvSpPr>
          <p:cNvPr id="42" name="Text 40"/>
          <p:cNvSpPr/>
          <p:nvPr/>
        </p:nvSpPr>
        <p:spPr>
          <a:xfrm>
            <a:off x="4882896" y="5632704"/>
            <a:ext cx="2551176" cy="182880"/>
          </a:xfrm>
          <a:prstGeom prst="rect">
            <a:avLst/>
          </a:prstGeom>
          <a:noFill/>
          <a:ln/>
        </p:spPr>
        <p:txBody>
          <a:bodyPr wrap="square" lIns="0" tIns="0" rIns="0" bIns="0" rtlCol="0" anchor="ctr">
            <a:normAutofit/>
          </a:bodyPr>
          <a:lstStyle/>
          <a:p>
            <a:pPr algn="ctr" indent="0" marL="0">
              <a:buNone/>
            </a:pPr>
            <a:r>
              <a:rPr lang="en-US" sz="910" b="1" dirty="0">
                <a:solidFill>
                  <a:srgbClr val="FFFFFF"/>
                </a:solidFill>
                <a:latin typeface="Aptos" pitchFamily="34" charset="0"/>
                <a:ea typeface="Aptos" pitchFamily="34" charset="-122"/>
                <a:cs typeface="Aptos" pitchFamily="34" charset="-120"/>
              </a:rPr>
              <a:t>MODEL ACCURACY / NOT CLAIMED</a:t>
            </a:r>
            <a:endParaRPr lang="en-US" sz="910" dirty="0"/>
          </a:p>
        </p:txBody>
      </p:sp>
      <p:sp>
        <p:nvSpPr>
          <p:cNvPr id="43" name="Text 41"/>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Published evidence is a fallback for discovery, not a substitute for operator interviews.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Frozen gold set" history="1" highlightClick="0" endSnd="0">
                  <a:extLst>
                    <a:ext uri="{A12FA001-AC4F-418D-AE19-62706E023703}">
                      <ahyp:hlinkClr xmlns:ahyp="http://schemas.microsoft.com/office/drawing/2018/hyperlinkcolor" val="tx"/>
                    </a:ext>
                  </a:extLst>
                </a:hlinkClick>
              </a:rPr>
              <a:t>Frozen gold set</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Evaluation runner" history="1" highlightClick="0" endSnd="0">
                  <a:extLst>
                    <a:ext uri="{A12FA001-AC4F-418D-AE19-62706E023703}">
                      <ahyp:hlinkClr xmlns:ahyp="http://schemas.microsoft.com/office/drawing/2018/hyperlinkcolor" val="tx"/>
                    </a:ext>
                  </a:extLst>
                </a:hlinkClick>
              </a:rPr>
              <a:t>Evaluation runner</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Safety tests" history="1" highlightClick="0" endSnd="0">
                  <a:extLst>
                    <a:ext uri="{A12FA001-AC4F-418D-AE19-62706E023703}">
                      <ahyp:hlinkClr xmlns:ahyp="http://schemas.microsoft.com/office/drawing/2018/hyperlinkcolor" val="tx"/>
                    </a:ext>
                  </a:extLst>
                </a:hlinkClick>
              </a:rPr>
              <a:t>Safety tests</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B37"/>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Shape 1"/>
          <p:cNvSpPr/>
          <p:nvPr/>
        </p:nvSpPr>
        <p:spPr>
          <a:xfrm>
            <a:off x="658368" y="530352"/>
            <a:ext cx="384048" cy="384048"/>
          </a:xfrm>
          <a:prstGeom prst="rect">
            <a:avLst/>
          </a:prstGeom>
          <a:solidFill>
            <a:srgbClr val="FFFDF8">
              <a:alpha val="0"/>
            </a:srgbClr>
          </a:solidFill>
          <a:ln w="12700">
            <a:solidFill>
              <a:srgbClr val="FFFDF8"/>
            </a:solidFill>
            <a:prstDash val="solid"/>
          </a:ln>
        </p:spPr>
      </p:sp>
      <p:sp>
        <p:nvSpPr>
          <p:cNvPr id="4" name="Text 2"/>
          <p:cNvSpPr/>
          <p:nvPr/>
        </p:nvSpPr>
        <p:spPr>
          <a:xfrm>
            <a:off x="658368" y="585216"/>
            <a:ext cx="384048" cy="228600"/>
          </a:xfrm>
          <a:prstGeom prst="rect">
            <a:avLst/>
          </a:prstGeom>
          <a:noFill/>
          <a:ln/>
        </p:spPr>
        <p:txBody>
          <a:bodyPr wrap="square" lIns="0" tIns="0" rIns="0" bIns="0" rtlCol="0" anchor="ctr">
            <a:normAutofit/>
          </a:bodyPr>
          <a:lstStyle/>
          <a:p>
            <a:pPr algn="ctr" indent="0" marL="0">
              <a:buNone/>
            </a:pPr>
            <a:r>
              <a:rPr lang="en-US" sz="950" b="1" dirty="0">
                <a:solidFill>
                  <a:srgbClr val="FFFDF8"/>
                </a:solidFill>
                <a:latin typeface="Aptos" pitchFamily="34" charset="0"/>
                <a:ea typeface="Aptos" pitchFamily="34" charset="-122"/>
                <a:cs typeface="Aptos" pitchFamily="34" charset="-120"/>
              </a:rPr>
              <a:t>FS</a:t>
            </a:r>
            <a:endParaRPr lang="en-US" sz="950" dirty="0"/>
          </a:p>
        </p:txBody>
      </p:sp>
      <p:sp>
        <p:nvSpPr>
          <p:cNvPr id="5" name="Text 3"/>
          <p:cNvSpPr/>
          <p:nvPr/>
        </p:nvSpPr>
        <p:spPr>
          <a:xfrm>
            <a:off x="1188720" y="557784"/>
            <a:ext cx="1371600" cy="27432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FoodShock</a:t>
            </a:r>
            <a:endParaRPr lang="en-US" sz="1300" dirty="0"/>
          </a:p>
        </p:txBody>
      </p:sp>
      <p:sp>
        <p:nvSpPr>
          <p:cNvPr id="6" name="Text 4"/>
          <p:cNvSpPr/>
          <p:nvPr/>
        </p:nvSpPr>
        <p:spPr>
          <a:xfrm>
            <a:off x="658368" y="1097280"/>
            <a:ext cx="5989320" cy="1234440"/>
          </a:xfrm>
          <a:prstGeom prst="rect">
            <a:avLst/>
          </a:prstGeom>
          <a:noFill/>
          <a:ln/>
        </p:spPr>
        <p:txBody>
          <a:bodyPr wrap="square" lIns="0" tIns="0" rIns="0" bIns="0" rtlCol="0" anchor="t">
            <a:normAutofit/>
          </a:bodyPr>
          <a:lstStyle/>
          <a:p>
            <a:pPr indent="0" marL="0">
              <a:buNone/>
            </a:pPr>
            <a:r>
              <a:rPr lang="en-US" sz="3900" b="1" dirty="0">
                <a:solidFill>
                  <a:srgbClr val="FFFDF8"/>
                </a:solidFill>
                <a:latin typeface="Aptos Display" pitchFamily="34" charset="0"/>
                <a:ea typeface="Aptos Display" pitchFamily="34" charset="-122"/>
                <a:cs typeface="Aptos Display" pitchFamily="34" charset="-120"/>
              </a:rPr>
              <a:t>Pilot one recall.</a:t>
            </a:r>
            <a:endParaRPr lang="en-US" sz="3900" dirty="0"/>
          </a:p>
          <a:p>
            <a:pPr indent="0" marL="0">
              <a:buNone/>
            </a:pPr>
            <a:r>
              <a:rPr lang="en-US" sz="3900" b="1" dirty="0">
                <a:solidFill>
                  <a:srgbClr val="FFFDF8"/>
                </a:solidFill>
                <a:latin typeface="Aptos Display" pitchFamily="34" charset="0"/>
                <a:ea typeface="Aptos Display" pitchFamily="34" charset="-122"/>
                <a:cs typeface="Aptos Display" pitchFamily="34" charset="-120"/>
              </a:rPr>
              <a:t>Prove the decision loop.</a:t>
            </a:r>
            <a:endParaRPr lang="en-US" sz="3900" dirty="0"/>
          </a:p>
        </p:txBody>
      </p:sp>
      <p:sp>
        <p:nvSpPr>
          <p:cNvPr id="7" name="Text 5"/>
          <p:cNvSpPr/>
          <p:nvPr/>
        </p:nvSpPr>
        <p:spPr>
          <a:xfrm>
            <a:off x="658368" y="2596896"/>
            <a:ext cx="5669280" cy="804672"/>
          </a:xfrm>
          <a:prstGeom prst="rect">
            <a:avLst/>
          </a:prstGeom>
          <a:noFill/>
          <a:ln/>
        </p:spPr>
        <p:txBody>
          <a:bodyPr wrap="square" lIns="0" tIns="0" rIns="0" bIns="0" rtlCol="0" anchor="t">
            <a:normAutofit/>
          </a:bodyPr>
          <a:lstStyle/>
          <a:p>
            <a:pPr indent="0" marL="0">
              <a:buNone/>
            </a:pPr>
            <a:r>
              <a:rPr lang="en-US" sz="1700" dirty="0">
                <a:solidFill>
                  <a:srgbClr val="D7E7E1"/>
                </a:solidFill>
                <a:latin typeface="Aptos" pitchFamily="34" charset="0"/>
                <a:ea typeface="Aptos" pitchFamily="34" charset="-122"/>
                <a:cs typeface="Aptos" pitchFamily="34" charset="-120"/>
              </a:rPr>
              <a:t>Start with one notice type, one warehouse, and one pantry network. Measure trace completeness, planning time, reviewer corrections, and service recovery.</a:t>
            </a:r>
            <a:endParaRPr lang="en-US" sz="1700" dirty="0"/>
          </a:p>
        </p:txBody>
      </p:sp>
      <p:sp>
        <p:nvSpPr>
          <p:cNvPr id="8" name="Shape 6"/>
          <p:cNvSpPr/>
          <p:nvPr/>
        </p:nvSpPr>
        <p:spPr>
          <a:xfrm>
            <a:off x="658368" y="3840480"/>
            <a:ext cx="384048" cy="384048"/>
          </a:xfrm>
          <a:prstGeom prst="ellipse">
            <a:avLst/>
          </a:prstGeom>
          <a:solidFill>
            <a:srgbClr val="1D6B62"/>
          </a:solidFill>
          <a:ln w="12700">
            <a:solidFill>
              <a:srgbClr val="1D6B62"/>
            </a:solidFill>
            <a:prstDash val="solid"/>
          </a:ln>
        </p:spPr>
      </p:sp>
      <p:sp>
        <p:nvSpPr>
          <p:cNvPr id="9" name="Text 7"/>
          <p:cNvSpPr/>
          <p:nvPr/>
        </p:nvSpPr>
        <p:spPr>
          <a:xfrm>
            <a:off x="658368" y="39136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01</a:t>
            </a:r>
            <a:endParaRPr lang="en-US" sz="950" dirty="0"/>
          </a:p>
        </p:txBody>
      </p:sp>
      <p:sp>
        <p:nvSpPr>
          <p:cNvPr id="10" name="Text 8"/>
          <p:cNvSpPr/>
          <p:nvPr/>
        </p:nvSpPr>
        <p:spPr>
          <a:xfrm>
            <a:off x="1225296" y="38313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Connect</a:t>
            </a:r>
            <a:endParaRPr lang="en-US" sz="1300" dirty="0"/>
          </a:p>
        </p:txBody>
      </p:sp>
      <p:sp>
        <p:nvSpPr>
          <p:cNvPr id="11" name="Text 9"/>
          <p:cNvSpPr/>
          <p:nvPr/>
        </p:nvSpPr>
        <p:spPr>
          <a:xfrm>
            <a:off x="2148840" y="38404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inventory, purchase orders, allocations</a:t>
            </a:r>
            <a:endParaRPr lang="en-US" sz="1100" dirty="0"/>
          </a:p>
        </p:txBody>
      </p:sp>
      <p:sp>
        <p:nvSpPr>
          <p:cNvPr id="12" name="Shape 10"/>
          <p:cNvSpPr/>
          <p:nvPr/>
        </p:nvSpPr>
        <p:spPr>
          <a:xfrm>
            <a:off x="658368" y="4526280"/>
            <a:ext cx="384048" cy="384048"/>
          </a:xfrm>
          <a:prstGeom prst="ellipse">
            <a:avLst/>
          </a:prstGeom>
          <a:solidFill>
            <a:srgbClr val="1D6B62"/>
          </a:solidFill>
          <a:ln w="12700">
            <a:solidFill>
              <a:srgbClr val="1D6B62"/>
            </a:solidFill>
            <a:prstDash val="solid"/>
          </a:ln>
        </p:spPr>
      </p:sp>
      <p:sp>
        <p:nvSpPr>
          <p:cNvPr id="13" name="Text 11"/>
          <p:cNvSpPr/>
          <p:nvPr/>
        </p:nvSpPr>
        <p:spPr>
          <a:xfrm>
            <a:off x="658368" y="45994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02</a:t>
            </a:r>
            <a:endParaRPr lang="en-US" sz="950" dirty="0"/>
          </a:p>
        </p:txBody>
      </p:sp>
      <p:sp>
        <p:nvSpPr>
          <p:cNvPr id="14" name="Text 12"/>
          <p:cNvSpPr/>
          <p:nvPr/>
        </p:nvSpPr>
        <p:spPr>
          <a:xfrm>
            <a:off x="1225296" y="45171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Shadow</a:t>
            </a:r>
            <a:endParaRPr lang="en-US" sz="1300" dirty="0"/>
          </a:p>
        </p:txBody>
      </p:sp>
      <p:sp>
        <p:nvSpPr>
          <p:cNvPr id="15" name="Text 13"/>
          <p:cNvSpPr/>
          <p:nvPr/>
        </p:nvSpPr>
        <p:spPr>
          <a:xfrm>
            <a:off x="2148840" y="45262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run beside the current recall process</a:t>
            </a:r>
            <a:endParaRPr lang="en-US" sz="1100" dirty="0"/>
          </a:p>
        </p:txBody>
      </p:sp>
      <p:sp>
        <p:nvSpPr>
          <p:cNvPr id="16" name="Shape 14"/>
          <p:cNvSpPr/>
          <p:nvPr/>
        </p:nvSpPr>
        <p:spPr>
          <a:xfrm>
            <a:off x="658368" y="5212080"/>
            <a:ext cx="384048" cy="384048"/>
          </a:xfrm>
          <a:prstGeom prst="ellipse">
            <a:avLst/>
          </a:prstGeom>
          <a:solidFill>
            <a:srgbClr val="1D6B62"/>
          </a:solidFill>
          <a:ln w="12700">
            <a:solidFill>
              <a:srgbClr val="1D6B62"/>
            </a:solidFill>
            <a:prstDash val="solid"/>
          </a:ln>
        </p:spPr>
      </p:sp>
      <p:sp>
        <p:nvSpPr>
          <p:cNvPr id="17" name="Text 15"/>
          <p:cNvSpPr/>
          <p:nvPr/>
        </p:nvSpPr>
        <p:spPr>
          <a:xfrm>
            <a:off x="658368" y="52852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03</a:t>
            </a:r>
            <a:endParaRPr lang="en-US" sz="950" dirty="0"/>
          </a:p>
        </p:txBody>
      </p:sp>
      <p:sp>
        <p:nvSpPr>
          <p:cNvPr id="18" name="Text 16"/>
          <p:cNvSpPr/>
          <p:nvPr/>
        </p:nvSpPr>
        <p:spPr>
          <a:xfrm>
            <a:off x="1225296" y="52029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Measure</a:t>
            </a:r>
            <a:endParaRPr lang="en-US" sz="1300" dirty="0"/>
          </a:p>
        </p:txBody>
      </p:sp>
      <p:sp>
        <p:nvSpPr>
          <p:cNvPr id="19" name="Text 17"/>
          <p:cNvSpPr/>
          <p:nvPr/>
        </p:nvSpPr>
        <p:spPr>
          <a:xfrm>
            <a:off x="2148840" y="52120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safety, speed, reviewer confidence</a:t>
            </a:r>
            <a:endParaRPr lang="en-US" sz="1100" dirty="0"/>
          </a:p>
        </p:txBody>
      </p:sp>
      <p:sp>
        <p:nvSpPr>
          <p:cNvPr id="20" name="Shape 18"/>
          <p:cNvSpPr/>
          <p:nvPr/>
        </p:nvSpPr>
        <p:spPr>
          <a:xfrm>
            <a:off x="7315200" y="841248"/>
            <a:ext cx="4224528" cy="5358384"/>
          </a:xfrm>
          <a:prstGeom prst="roundRect">
            <a:avLst>
              <a:gd name="adj" fmla="val 1732"/>
            </a:avLst>
          </a:prstGeom>
          <a:solidFill>
            <a:srgbClr val="FFFDF8"/>
          </a:solidFill>
          <a:ln w="12700">
            <a:solidFill>
              <a:srgbClr val="FFFDF8"/>
            </a:solidFill>
            <a:prstDash val="solid"/>
          </a:ln>
        </p:spPr>
      </p:sp>
      <p:sp>
        <p:nvSpPr>
          <p:cNvPr id="21" name="Text 19"/>
          <p:cNvSpPr/>
          <p:nvPr/>
        </p:nvSpPr>
        <p:spPr>
          <a:xfrm>
            <a:off x="7726680" y="1234440"/>
            <a:ext cx="3401568" cy="338328"/>
          </a:xfrm>
          <a:prstGeom prst="rect">
            <a:avLst/>
          </a:prstGeom>
          <a:noFill/>
          <a:ln/>
        </p:spPr>
        <p:txBody>
          <a:bodyPr wrap="square" lIns="0" tIns="0" rIns="0" bIns="0" rtlCol="0" anchor="ctr">
            <a:normAutofit/>
          </a:bodyPr>
          <a:lstStyle/>
          <a:p>
            <a:pPr algn="ctr" indent="0" marL="0">
              <a:buNone/>
            </a:pPr>
            <a:r>
              <a:rPr lang="en-US" sz="1600" b="1" dirty="0">
                <a:solidFill>
                  <a:srgbClr val="132524"/>
                </a:solidFill>
                <a:latin typeface="Aptos" pitchFamily="34" charset="0"/>
                <a:ea typeface="Aptos" pitchFamily="34" charset="-122"/>
                <a:cs typeface="Aptos" pitchFamily="34" charset="-120"/>
              </a:rPr>
              <a:t>Open the live command center</a:t>
            </a:r>
            <a:endParaRPr lang="en-US" sz="1600" dirty="0"/>
          </a:p>
        </p:txBody>
      </p:sp>
      <p:pic>
        <p:nvPicPr>
          <p:cNvPr id="22" name="Image 0" descr="QR code opening the FoodShock live demo">
            <a:hlinkClick r:id="rId2" tooltip=""/>
          </p:cNvPr>
          <p:cNvPicPr>
            <a:picLocks noChangeAspect="1"/>
          </p:cNvPicPr>
          <p:nvPr/>
        </p:nvPicPr>
        <p:blipFill>
          <a:blip r:embed="rId1"/>
          <a:stretch>
            <a:fillRect/>
          </a:stretch>
        </p:blipFill>
        <p:spPr>
          <a:xfrm>
            <a:off x="8430768" y="1810512"/>
            <a:ext cx="1993392" cy="1993392"/>
          </a:xfrm>
          <a:prstGeom prst="rect">
            <a:avLst/>
          </a:prstGeom>
        </p:spPr>
      </p:pic>
      <p:sp>
        <p:nvSpPr>
          <p:cNvPr id="23" name="Text 20">
            <a:hlinkClick r:id="rId3" tooltip=""/>
          </p:cNvPr>
          <p:cNvSpPr/>
          <p:nvPr/>
        </p:nvSpPr>
        <p:spPr>
          <a:xfrm>
            <a:off x="7726680" y="4041648"/>
            <a:ext cx="3401568" cy="310896"/>
          </a:xfrm>
          <a:prstGeom prst="rect">
            <a:avLst/>
          </a:prstGeom>
          <a:noFill/>
          <a:ln/>
        </p:spPr>
        <p:txBody>
          <a:bodyPr wrap="square" lIns="0" tIns="0" rIns="0" bIns="0" rtlCol="0" anchor="ctr">
            <a:normAutofit/>
          </a:bodyPr>
          <a:lstStyle/>
          <a:p>
            <a:pPr algn="ctr" indent="0" marL="0">
              <a:buNone/>
            </a:pPr>
            <a:r>
              <a:rPr lang="en-US" sz="1250" b="1" u="sng" dirty="0">
                <a:solidFill>
                  <a:srgbClr val="1D6B62"/>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foodshock.sebastianalexis.com</a:t>
            </a:r>
            <a:endParaRPr lang="en-US" sz="1250" dirty="0"/>
          </a:p>
        </p:txBody>
      </p:sp>
      <p:sp>
        <p:nvSpPr>
          <p:cNvPr id="24" name="Text 21"/>
          <p:cNvSpPr/>
          <p:nvPr/>
        </p:nvSpPr>
        <p:spPr>
          <a:xfrm>
            <a:off x="7726680" y="4681728"/>
            <a:ext cx="1097280" cy="237744"/>
          </a:xfrm>
          <a:prstGeom prst="rect">
            <a:avLst/>
          </a:prstGeom>
          <a:noFill/>
          <a:ln/>
        </p:spPr>
        <p:txBody>
          <a:bodyPr wrap="square" lIns="0" tIns="0" rIns="0" bIns="0" rtlCol="0" anchor="ctr">
            <a:normAutofit/>
          </a:bodyPr>
          <a:lstStyle/>
          <a:p>
            <a:pPr indent="0" marL="0">
              <a:buNone/>
            </a:pPr>
            <a:r>
              <a:rPr lang="en-US" sz="1000" b="1" dirty="0">
                <a:solidFill>
                  <a:srgbClr val="61706D"/>
                </a:solidFill>
                <a:latin typeface="Aptos" pitchFamily="34" charset="0"/>
                <a:ea typeface="Aptos" pitchFamily="34" charset="-122"/>
                <a:cs typeface="Aptos" pitchFamily="34" charset="-120"/>
              </a:rPr>
              <a:t>Source code</a:t>
            </a:r>
            <a:endParaRPr lang="en-US" sz="1000" dirty="0"/>
          </a:p>
        </p:txBody>
      </p:sp>
      <p:sp>
        <p:nvSpPr>
          <p:cNvPr id="25" name="Text 22">
            <a:hlinkClick r:id="rId4" tooltip=""/>
          </p:cNvPr>
          <p:cNvSpPr/>
          <p:nvPr/>
        </p:nvSpPr>
        <p:spPr>
          <a:xfrm>
            <a:off x="8759952" y="4654296"/>
            <a:ext cx="2331720" cy="475488"/>
          </a:xfrm>
          <a:prstGeom prst="rect">
            <a:avLst/>
          </a:prstGeom>
          <a:noFill/>
          <a:ln/>
        </p:spPr>
        <p:txBody>
          <a:bodyPr wrap="square" lIns="0" tIns="0" rIns="0" bIns="0" rtlCol="0" anchor="ctr">
            <a:normAutofit/>
          </a:bodyPr>
          <a:lstStyle/>
          <a:p>
            <a:pPr indent="0" marL="0">
              <a:buNone/>
            </a:pPr>
            <a:r>
              <a:rPr lang="en-US" sz="1020" u="sng" dirty="0">
                <a:solidFill>
                  <a:srgbClr val="1D6B62"/>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github.com/Sebastian-Alexis/</a:t>
            </a:r>
            <a:endParaRPr lang="en-US" sz="1020" dirty="0"/>
          </a:p>
          <a:p>
            <a:pPr indent="0" marL="0">
              <a:buNone/>
            </a:pPr>
            <a:r>
              <a:rPr lang="en-US" sz="1020" u="sng" dirty="0">
                <a:solidFill>
                  <a:srgbClr val="1D6B62"/>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ai_supplychain_foodbank</a:t>
            </a:r>
            <a:endParaRPr lang="en-US" sz="1020" dirty="0"/>
          </a:p>
        </p:txBody>
      </p:sp>
      <p:sp>
        <p:nvSpPr>
          <p:cNvPr id="26" name="Shape 23"/>
          <p:cNvSpPr/>
          <p:nvPr/>
        </p:nvSpPr>
        <p:spPr>
          <a:xfrm>
            <a:off x="7726680" y="5532120"/>
            <a:ext cx="1325880" cy="274320"/>
          </a:xfrm>
          <a:prstGeom prst="roundRect">
            <a:avLst/>
          </a:prstGeom>
          <a:solidFill>
            <a:srgbClr val="B94735"/>
          </a:solidFill>
          <a:ln w="12700">
            <a:solidFill>
              <a:srgbClr val="B94735"/>
            </a:solidFill>
            <a:prstDash val="solid"/>
          </a:ln>
        </p:spPr>
      </p:sp>
      <p:sp>
        <p:nvSpPr>
          <p:cNvPr id="27" name="Text 24"/>
          <p:cNvSpPr/>
          <p:nvPr/>
        </p:nvSpPr>
        <p:spPr>
          <a:xfrm>
            <a:off x="7799832" y="5559552"/>
            <a:ext cx="117957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SYNTHETIC DATA</a:t>
            </a:r>
            <a:endParaRPr lang="en-US" sz="900" dirty="0"/>
          </a:p>
        </p:txBody>
      </p:sp>
      <p:sp>
        <p:nvSpPr>
          <p:cNvPr id="28" name="Text 25"/>
          <p:cNvSpPr/>
          <p:nvPr/>
        </p:nvSpPr>
        <p:spPr>
          <a:xfrm>
            <a:off x="9217152" y="5522976"/>
            <a:ext cx="1874520" cy="283464"/>
          </a:xfrm>
          <a:prstGeom prst="rect">
            <a:avLst/>
          </a:prstGeom>
          <a:noFill/>
          <a:ln/>
        </p:spPr>
        <p:txBody>
          <a:bodyPr wrap="square" lIns="0" tIns="0" rIns="0" bIns="0" rtlCol="0" anchor="ctr">
            <a:normAutofit/>
          </a:bodyPr>
          <a:lstStyle/>
          <a:p>
            <a:pPr indent="0" marL="0">
              <a:buNone/>
            </a:pPr>
            <a:r>
              <a:rPr lang="en-US" sz="950" dirty="0">
                <a:solidFill>
                  <a:srgbClr val="61706D"/>
                </a:solidFill>
                <a:latin typeface="Aptos" pitchFamily="34" charset="0"/>
                <a:ea typeface="Aptos" pitchFamily="34" charset="-122"/>
                <a:cs typeface="Aptos" pitchFamily="34" charset="-120"/>
              </a:rPr>
              <a:t>No client PII. Human approval required.</a:t>
            </a:r>
            <a:endParaRPr lang="en-US" sz="950" dirty="0"/>
          </a:p>
        </p:txBody>
      </p:sp>
      <p:sp>
        <p:nvSpPr>
          <p:cNvPr id="29" name="Text 26"/>
          <p:cNvSpPr/>
          <p:nvPr/>
        </p:nvSpPr>
        <p:spPr>
          <a:xfrm>
            <a:off x="658368" y="6345936"/>
            <a:ext cx="6080760" cy="228600"/>
          </a:xfrm>
          <a:prstGeom prst="rect">
            <a:avLst/>
          </a:prstGeom>
          <a:noFill/>
          <a:ln/>
        </p:spPr>
        <p:txBody>
          <a:bodyPr wrap="square" lIns="0" tIns="0" rIns="0" bIns="0" rtlCol="0" anchor="ctr">
            <a:normAutofit/>
          </a:bodyPr>
          <a:lstStyle/>
          <a:p>
            <a:pPr indent="0" marL="0">
              <a:buNone/>
            </a:pPr>
            <a:r>
              <a:rPr lang="en-US" sz="850" b="1" dirty="0">
                <a:solidFill>
                  <a:srgbClr val="78B7A9"/>
                </a:solidFill>
                <a:latin typeface="Aptos" pitchFamily="34" charset="0"/>
                <a:ea typeface="Aptos" pitchFamily="34" charset="-122"/>
                <a:cs typeface="Aptos" pitchFamily="34" charset="-120"/>
              </a:rPr>
              <a:t>Sources: </a:t>
            </a:r>
            <a:pPr indent="0" marL="0">
              <a:buNone/>
            </a:pPr>
            <a:r>
              <a:rPr lang="en-US" sz="850" u="sng" dirty="0">
                <a:solidFill>
                  <a:srgbClr val="FFFDF8"/>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openFDA</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FSIS</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CDC/FDA</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SF-Marin</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9" invalidUrl="" action="" tgtFrame="" tooltip="" history="1" highlightClick="0" endSnd="0">
                  <a:extLst>
                    <a:ext uri="{A12FA001-AC4F-418D-AE19-62706E023703}">
                      <ahyp:hlinkClr xmlns:ahyp="http://schemas.microsoft.com/office/drawing/2018/hyperlinkcolor" val="tx"/>
                    </a:ext>
                  </a:extLst>
                </a:hlinkClick>
              </a:rPr>
              <a:t>RI Food Bank</a:t>
            </a:r>
            <a:endParaRPr lang="en-US" sz="850" dirty="0"/>
          </a:p>
        </p:txBody>
      </p:sp>
      <p:sp>
        <p:nvSpPr>
          <p:cNvPr id="30" name="Text 27"/>
          <p:cNvSpPr/>
          <p:nvPr/>
        </p:nvSpPr>
        <p:spPr>
          <a:xfrm>
            <a:off x="11448288" y="6428232"/>
            <a:ext cx="219456" cy="182880"/>
          </a:xfrm>
          <a:prstGeom prst="rect">
            <a:avLst/>
          </a:prstGeom>
          <a:noFill/>
          <a:ln/>
        </p:spPr>
        <p:txBody>
          <a:bodyPr wrap="square" lIns="0" tIns="0" rIns="0" bIns="0" rtlCol="0" anchor="ctr">
            <a:normAutofit/>
          </a:bodyPr>
          <a:lstStyle/>
          <a:p>
            <a:pPr algn="r" indent="0" marL="0">
              <a:buNone/>
            </a:pPr>
            <a:r>
              <a:rPr lang="en-US" sz="800" dirty="0">
                <a:solidFill>
                  <a:srgbClr val="78B7A9"/>
                </a:solidFill>
                <a:latin typeface="Aptos" pitchFamily="34" charset="0"/>
                <a:ea typeface="Aptos" pitchFamily="34" charset="-122"/>
                <a:cs typeface="Aptos" pitchFamily="34" charset="-120"/>
              </a:rPr>
              <a:t>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FoodShock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FoodShock — recall response command center</dc:title>
  <dc:subject>Human-approved food-bank recall response and recovery planning</dc:subject>
  <dc:creator>FoodShock</dc:creator>
  <cp:lastModifiedBy>FoodShock</cp:lastModifiedBy>
  <cp:revision>1</cp:revision>
  <dcterms:created xsi:type="dcterms:W3CDTF">2026-07-16T23:26:52Z</dcterms:created>
  <dcterms:modified xsi:type="dcterms:W3CDTF">2026-07-16T23:26:52Z</dcterms:modified>
</cp:coreProperties>
</file>