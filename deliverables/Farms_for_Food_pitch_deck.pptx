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charts/chart1.xml" ContentType="application/vnd.openxmlformats-officedocument.drawingml.chart+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Lst>
  <p:notesMasterIdLst>
    <p:notesMasterId r:id="rId1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Do nothing</c:v>
                </c:pt>
              </c:strCache>
            </c:strRef>
          </c:tx>
          <c:spPr>
            <a:solidFill>
              <a:srgbClr val="64757A"/>
            </a:solidFill>
            <a:effectLst/>
          </c:spPr>
          <c:invertIfNegative val="0"/>
          <c:dLbls>
            <c:numFmt formatCode="#,##0" sourceLinked="0"/>
            <c:txPr>
              <a:bodyPr/>
              <a:lstStyle/>
              <a:p>
                <a:pPr>
                  <a:defRPr b="0" i="0" strike="noStrike" sz="900" u="none">
                    <a:solidFill>
                      <a:srgbClr val="000000"/>
                    </a:solidFill>
                    <a:latin typeface="Aptos"/>
                  </a:defRPr>
                </a:pPr>
              </a:p>
            </c:txPr>
            <c:showLegendKey val="0"/>
            <c:showVal val="1"/>
            <c:showCatName val="0"/>
            <c:showSerName val="0"/>
            <c:showPercent val="0"/>
            <c:showBubbleSize val="0"/>
            <c:showLeaderLines val="0"/>
          </c:dLbls>
          <c:cat>
            <c:multiLvlStrRef>
              <c:f>Sheet1!$A$2:$A$3</c:f>
              <c:multiLvlStrCache>
                <c:ptCount val="2"/>
                <c:lvl>
                  <c:pt idx="0">
                    <c:v>Served</c:v>
                  </c:pt>
                  <c:pt idx="1">
                    <c:v>Unmet</c:v>
                  </c:pt>
                </c:lvl>
              </c:multiLvlStrCache>
            </c:multiLvlStrRef>
          </c:cat>
          <c:val>
            <c:numRef>
              <c:f>Sheet1!$B$2:$B$3</c:f>
              <c:numCache>
                <c:formatCode>General</c:formatCode>
                <c:ptCount val="2"/>
                <c:pt idx="0">
                  <c:v>10922.5</c:v>
                </c:pt>
                <c:pt idx="1">
                  <c:v>1677.5</c:v>
                </c:pt>
              </c:numCache>
            </c:numRef>
          </c:val>
        </c:ser>
        <c:ser>
          <c:idx val="1"/>
          <c:order val="1"/>
          <c:tx>
            <c:strRef>
              <c:f>Sheet1!$C$1</c:f>
              <c:strCache>
                <c:ptCount val="1"/>
                <c:pt idx="0">
                  <c:v>Recommended</c:v>
                </c:pt>
              </c:strCache>
            </c:strRef>
          </c:tx>
          <c:spPr>
            <a:solidFill>
              <a:srgbClr val="1D6B62"/>
            </a:solidFill>
            <a:effectLst/>
          </c:spPr>
          <c:invertIfNegative val="0"/>
          <c:dLbls>
            <c:numFmt formatCode="#,##0" sourceLinked="0"/>
            <c:txPr>
              <a:bodyPr/>
              <a:lstStyle/>
              <a:p>
                <a:pPr>
                  <a:defRPr b="0" i="0" strike="noStrike" sz="900" u="none">
                    <a:solidFill>
                      <a:srgbClr val="000000"/>
                    </a:solidFill>
                    <a:latin typeface="Aptos"/>
                  </a:defRPr>
                </a:pPr>
              </a:p>
            </c:txPr>
            <c:showLegendKey val="0"/>
            <c:showVal val="1"/>
            <c:showCatName val="0"/>
            <c:showSerName val="0"/>
            <c:showPercent val="0"/>
            <c:showBubbleSize val="0"/>
            <c:showLeaderLines val="0"/>
          </c:dLbls>
          <c:cat>
            <c:multiLvlStrRef>
              <c:f>Sheet1!$A$2:$A$3</c:f>
              <c:multiLvlStrCache>
                <c:ptCount val="2"/>
                <c:lvl>
                  <c:pt idx="0">
                    <c:v>Served</c:v>
                  </c:pt>
                  <c:pt idx="1">
                    <c:v>Unmet</c:v>
                  </c:pt>
                </c:lvl>
              </c:multiLvlStrCache>
            </c:multiLvlStrRef>
          </c:cat>
          <c:val>
            <c:numRef>
              <c:f>Sheet1!$C$2:$C$3</c:f>
              <c:numCache>
                <c:formatCode>General</c:formatCode>
                <c:ptCount val="2"/>
                <c:pt idx="0">
                  <c:v>11922.5</c:v>
                </c:pt>
                <c:pt idx="1">
                  <c:v>677.5</c:v>
                </c:pt>
              </c:numCache>
            </c:numRef>
          </c:val>
        </c:ser>
        <c:dLbls>
          <c:numFmt formatCode="#,##0" sourceLinked="0"/>
          <c:txPr>
            <a:bodyPr/>
            <a:lstStyle/>
            <a:p>
              <a:pPr>
                <a:defRPr b="0" i="0" strike="noStrike" sz="900" u="none">
                  <a:solidFill>
                    <a:srgbClr val="000000"/>
                  </a:solidFill>
                  <a:latin typeface="Aptos"/>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000000"/>
                </a:solidFill>
                <a:latin typeface="Aptos"/>
              </a:defRPr>
            </a:pPr>
            <a:endParaRPr lang="en-US"/>
          </a:p>
        </c:txPr>
        <c:crossAx val="2094734552"/>
        <c:crosses val="autoZero"/>
        <c:auto val="1"/>
        <c:lblAlgn val="ctr"/>
        <c:noMultiLvlLbl val="1"/>
      </c:catAx>
      <c:valAx>
        <c:axId val="2094734552"/>
        <c:scaling>
          <c:orientation val="minMax"/>
          <c:max val="13000"/>
          <c:min val="0"/>
        </c:scaling>
        <c:delete val="0"/>
        <c:axPos val="l"/>
        <c:majorGridlines>
          <c:spPr>
            <a:ln w="12700" cap="flat">
              <a:solidFill>
                <a:srgbClr val="888888"/>
              </a:solidFill>
              <a:prstDash val="solid"/>
              <a:round/>
            </a:ln>
          </c:spPr>
        </c:majorGridlines>
        <c:numFmt formatCode="#,##0"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000000"/>
                </a:solidFill>
                <a:latin typeface="Aptos"/>
              </a:defRPr>
            </a:pPr>
            <a:endParaRPr lang="en-US"/>
          </a:p>
        </c:txPr>
        <c:crossAx val="2094734554"/>
        <c:crosses val="autoZero"/>
        <c:crossBetween val="between"/>
        <c:majorUnit val="2500"/>
      </c:valAx>
      <c:spPr>
        <a:noFill/>
        <a:ln>
          <a:noFill/>
        </a:ln>
        <a:effectLst/>
      </c:spPr>
    </c:plotArea>
    <c:legend>
      <c:legendPos val="b"/>
      <c:overlay val="0"/>
      <c:txPr>
        <a:bodyPr/>
        <a:lstStyle/>
        <a:p>
          <a:pPr>
            <a:defRPr sz="1000">
              <a:latin typeface="Aptos"/>
              <a:cs typeface="Aptos"/>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Farms for Food is a decision-support command center for food-bank recall response. Current openFDA and USDA FSIS incidents enter through official APIs, while inventory, purchase orders, demand, and recovery offers remain synthetic. The system ends at a human approval gate and exposes no action when an authority incident has no linked lot or purchase order.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public-record counts are evidence of volume, not a claim about food-bank-specific incident frequency. The network scale comes from the SF-Marin Food Bank annual report and illustrates why perishable inventory and distributed pantry demand complicate recovery.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job is not summarization. It is a relational join across notice fields and operational records, followed by constrained recovery planning. Farms for Food makes each join inspectable.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architectural boundary is deliberate. Each authority feed fails independently. Structured API fields are verified against the retained normalized source snapshot, and malformed fields cannot become operational facts. Language-model output cannot mutate inventory or approve a plan; approval revalidates identity, payload integrity, and hard constraints inside the state layer.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source-evidence pairs come from the public deterministic positive-exposure replay and are enlarged so the provenance contract is inspectable in the room. Current openFDA and USDA FSIS records retain the same field-level provenance, authority warning, retrieval time, and source link. If no synthetic lot or purchase order joins to a real incident, Farms for Food presents an explicit no-exposure result instead of manufacturing a recovery action.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recommended plan adds 1,000 pounds served, cuts unmet demand by the same amount, raises the worst pantry fill rate by 15.5 percentage points, and cuts disrupted boxes from 168 to 68 for 550 dollars. The runtime is a measured software run; the manual-time comparator remains hypothetical and is intentionally excluded from the chart.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Approval is idempotent, rejects unknown or stale plans, revalidates plan lines and payload integrity, and re-checks hard constraints. Any mismatch rejects the transaction before side effects. Communications are scoped to implicated lot IDs instead of broadcasting generic recall language to unaffected recipients.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live source adapters retrieve current openFDA and USDA FSIS records, but an authority record is not evidence that the synthetic network is exposed. The deck does not report extraction accuracy because the committed live-model evaluation has not been run with an isolated credential. The gold set and scorer are committed for a reproducible future run. Operational outcomes remain synthetic and are not operator-validated.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proposed next step is a bounded shadow pilot. The public command center already accepts current openFDA and USDA FSIS incidents while keeping food-bank operations synthetic. The goal of a pilot is to connect real operational records and validate the evidence loop with operators before making impact claims.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FARMS_FOR_FOOD">
    <p:bg>
      <p:bgPr>
        <a:solidFill>
          <a:srgbClr val="F4F0E6"/>
        </a:solidFill>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B94735"/>
          </a:solidFill>
          <a:ln w="12700">
            <a:solidFill>
              <a:srgbClr val="B94735"/>
            </a:solidFill>
            <a:prstDash val="solid"/>
          </a:ln>
        </p:spPr>
      </p:sp>
      <p:sp>
        <p:nvSpPr>
          <p:cNvPr id="3" name="Text 1"/>
          <p:cNvSpPr/>
          <p:nvPr/>
        </p:nvSpPr>
        <p:spPr>
          <a:xfrm>
            <a:off x="621792" y="256032"/>
            <a:ext cx="347472" cy="274320"/>
          </a:xfrm>
          <a:prstGeom prst="rect">
            <a:avLst/>
          </a:prstGeom>
          <a:solidFill>
            <a:srgbClr val="143B37"/>
          </a:solidFill>
          <a:ln/>
        </p:spPr>
        <p:txBody>
          <a:bodyPr wrap="square" lIns="0" tIns="0" rIns="0" bIns="0" rtlCol="0" anchor="ctr"/>
          <a:lstStyle/>
          <a:p>
            <a:pPr algn="ctr" indent="0" marL="0">
              <a:buNone/>
            </a:pPr>
            <a:r>
              <a:rPr lang="en-US" sz="1000" b="1" dirty="0">
                <a:solidFill>
                  <a:srgbClr val="FFFDF8"/>
                </a:solidFill>
                <a:latin typeface="Aptos" pitchFamily="34" charset="0"/>
                <a:ea typeface="Aptos" pitchFamily="34" charset="-122"/>
                <a:cs typeface="Aptos" pitchFamily="34" charset="-120"/>
              </a:rPr>
              <a:t>FF</a:t>
            </a:r>
            <a:endParaRPr lang="en-US" sz="1000" dirty="0"/>
          </a:p>
        </p:txBody>
      </p:sp>
      <p:sp>
        <p:nvSpPr>
          <p:cNvPr id="4" name="Text 2"/>
          <p:cNvSpPr/>
          <p:nvPr/>
        </p:nvSpPr>
        <p:spPr>
          <a:xfrm>
            <a:off x="1033272" y="237744"/>
            <a:ext cx="1417320" cy="292608"/>
          </a:xfrm>
          <a:prstGeom prst="rect">
            <a:avLst/>
          </a:prstGeom>
          <a:noFill/>
          <a:ln/>
        </p:spPr>
        <p:txBody>
          <a:bodyPr wrap="square" lIns="0" tIns="0" rIns="0" bIns="0" rtlCol="0" anchor="ctr"/>
          <a:lstStyle/>
          <a:p>
            <a:pPr indent="0" marL="0">
              <a:buNone/>
            </a:pPr>
            <a:r>
              <a:rPr lang="en-US" sz="1100" b="1" dirty="0">
                <a:solidFill>
                  <a:srgbClr val="143B37"/>
                </a:solidFill>
                <a:latin typeface="Aptos" pitchFamily="34" charset="0"/>
                <a:ea typeface="Aptos" pitchFamily="34" charset="-122"/>
                <a:cs typeface="Aptos" pitchFamily="34" charset="-120"/>
              </a:rPr>
              <a:t>Farms for Food</a:t>
            </a:r>
            <a:endParaRPr lang="en-US" sz="1100" dirty="0"/>
          </a:p>
        </p:txBody>
      </p:sp>
      <p:sp>
        <p:nvSpPr>
          <p:cNvPr id="25" name="Slide Number Placeholder 0"/>
          <p:cNvSpPr>
            <a:spLocks noGrp="1"/>
          </p:cNvSpPr>
          <p:nvPr>
            <p:ph type="sldNum" sz="quarter" idx="4294967295"/>
          </p:nvPr>
        </p:nvSpPr>
        <p:spPr>
          <a:xfrm>
            <a:off x="11448288" y="6437376"/>
            <a:ext cx="219456" cy="182880"/>
          </a:xfrm>
          <a:prstGeom prst="rect">
            <a:avLst/>
          </a:prstGeom>
          <a:extLst>
            <a:ext uri="{C572A759-6A51-4108-AA02-DFA0A04FC94B}">
              <ma14:wrappingTextBoxFlag xmlns:ma14="http://schemas.microsoft.com/office/mac/drawingml/2011/main" val="0"/>
            </a:ext>
          </a:extLst>
        </p:spPr>
        <p:txBody>
          <a:bodyPr lIns="0" tIns="0" rIns="0" bIns="0"/>
          <a:lstStyle>
            <a:lvl1pPr>
              <a:defRPr sz="800">
                <a:solidFill>
                  <a:srgbClr val="61706D"/>
                </a:solidFill>
                <a:latin typeface="Aptos"/>
                <a:ea typeface="Aptos"/>
                <a:cs typeface="Aptos"/>
              </a:defRPr>
            </a:lvl1pPr>
          </a:lstStyle>
          <a:p>
            <a:pPr algn="r"/>
            <a:fld id="{F7021451-1387-4CA6-816F-3879F97B5CBC}" type="slidenum">
              <a:rPr b="0" lang="en-US"/>
              <a:t>1002</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448288" y="6437376"/>
            <a:ext cx="219456" cy="182880"/>
          </a:xfrm>
          <a:prstGeom prst="rect">
            <a:avLst/>
          </a:prstGeom>
          <a:extLst>
            <a:ext uri="{C572A759-6A51-4108-AA02-DFA0A04FC94B}">
              <ma14:wrappingTextBoxFlag xmlns:ma14="http://schemas.microsoft.com/office/mac/drawingml/2011/main" val="0"/>
            </a:ext>
          </a:extLst>
        </p:spPr>
        <p:txBody>
          <a:bodyPr lIns="0" tIns="0" rIns="0" bIns="0"/>
          <a:lstStyle>
            <a:lvl1pPr>
              <a:defRPr sz="800">
                <a:solidFill>
                  <a:srgbClr val="61706D"/>
                </a:solidFill>
                <a:latin typeface="Aptos"/>
                <a:ea typeface="Aptos"/>
                <a:cs typeface="Aptos"/>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hyperlink" Target="https://farmsforfood.sebastianalexis.com" TargetMode="External"/><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hyperlink" Target="https://api.fda.gov/food/enforcement.json?search=recall_initiation_date:%5B20240101%2BTO%2B20241231%5D&amp;count=event_id&amp;limit=1000" TargetMode="External"/><Relationship Id="rId2" Type="http://schemas.openxmlformats.org/officeDocument/2006/relationships/hyperlink" Target="https://www.fsis.usda.gov/fsis/api/recall/v/1" TargetMode="External"/><Relationship Id="rId3" Type="http://schemas.openxmlformats.org/officeDocument/2006/relationships/hyperlink" Target="https://www.cdc.gov/ecoli/outbreaks/e-coli-O157.html" TargetMode="External"/><Relationship Id="rId4" Type="http://schemas.openxmlformats.org/officeDocument/2006/relationships/hyperlink" Target="https://www.sfmfoodbank.org/annual-report-2023-2024/" TargetMode="External"/><Relationship Id="rId5" Type="http://schemas.openxmlformats.org/officeDocument/2006/relationships/slideLayout" Target="../slideLayouts/slideLayout2.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hyperlink" Target="https://rifoodbank.org/wp-content/uploads/2023/06/Food-Safety-Recall-Process-doc.pdf" TargetMode="External"/><Relationship Id="rId2" Type="http://schemas.openxmlformats.org/officeDocument/2006/relationships/hyperlink" Target="https://mannafoodbank.org/agency-access-and-information/product-recalls/" TargetMode="External"/><Relationship Id="rId3" Type="http://schemas.openxmlformats.org/officeDocument/2006/relationships/slideLayout" Target="../slideLayouts/slideLayout2.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hyperlink" Target="https://github.com/Sebastian-Alexis/ai_supplychain_foodbank/blob/main/PLAN.md#7-technical-architecture" TargetMode="External"/><Relationship Id="rId2" Type="http://schemas.openxmlformats.org/officeDocument/2006/relationships/hyperlink" Target="https://github.com/Sebastian-Alexis/ai_supplychain_foodbank/blob/main/foodshock/incident_sources.py" TargetMode="External"/><Relationship Id="rId3" Type="http://schemas.openxmlformats.org/officeDocument/2006/relationships/hyperlink" Target="https://github.com/Sebastian-Alexis/ai_supplychain_foodbank/blob/main/foodshock/engine.py" TargetMode="External"/><Relationship Id="rId4" Type="http://schemas.openxmlformats.org/officeDocument/2006/relationships/slideLayout" Target="../slideLayouts/slideLayout2.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hyperlink" Target="https://farmsforfood.sebastianalexis.com" TargetMode="External"/><Relationship Id="rId2" Type="http://schemas.openxmlformats.org/officeDocument/2006/relationships/hyperlink" Target="https://github.com/Sebastian-Alexis/ai_supplychain_foodbank/blob/main/foodshock/extraction.py" TargetMode="External"/><Relationship Id="rId3" Type="http://schemas.openxmlformats.org/officeDocument/2006/relationships/slideLayout" Target="../slideLayouts/slideLayout2.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2" Type="http://schemas.openxmlformats.org/officeDocument/2006/relationships/hyperlink" Target="https://github.com/Sebastian-Alexis/ai_supplychain_foodbank/blob/main/foodshock/demo.py" TargetMode="External"/><Relationship Id="rId3" Type="http://schemas.openxmlformats.org/officeDocument/2006/relationships/hyperlink" Target="https://github.com/Sebastian-Alexis/ai_supplychain_foodbank/tree/main/data" TargetMode="External"/><Relationship Id="rId1" Type="http://schemas.openxmlformats.org/officeDocument/2006/relationships/chart" Target="/ppt/charts/chart1.xml"/><Relationship Id="rId4" Type="http://schemas.openxmlformats.org/officeDocument/2006/relationships/slideLayout" Target="../slideLayouts/slideLayout2.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hyperlink" Target="https://farmsforfood.sebastianalexis.com" TargetMode="External"/><Relationship Id="rId2" Type="http://schemas.openxmlformats.org/officeDocument/2006/relationships/hyperlink" Target="https://github.com/Sebastian-Alexis/ai_supplychain_foodbank/blob/main/tests/test_agent.py" TargetMode="External"/><Relationship Id="rId3" Type="http://schemas.openxmlformats.org/officeDocument/2006/relationships/slideLayout" Target="../slideLayouts/slideLayout2.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hyperlink" Target="https://github.com/Sebastian-Alexis/ai_supplychain_foodbank/blob/main/data/eval/gold.json" TargetMode="External"/><Relationship Id="rId2" Type="http://schemas.openxmlformats.org/officeDocument/2006/relationships/hyperlink" Target="https://github.com/Sebastian-Alexis/ai_supplychain_foodbank/blob/main/foodshock/eval_extraction.py" TargetMode="External"/><Relationship Id="rId3" Type="http://schemas.openxmlformats.org/officeDocument/2006/relationships/hyperlink" Target="https://github.com/Sebastian-Alexis/ai_supplychain_foodbank/tree/main/tests" TargetMode="External"/><Relationship Id="rId4" Type="http://schemas.openxmlformats.org/officeDocument/2006/relationships/slideLayout" Target="../slideLayouts/slideLayout2.xml"/><Relationship Id="rId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2" Type="http://schemas.openxmlformats.org/officeDocument/2006/relationships/hyperlink" Target="https://farmsforfood.sebastianalexis.com" TargetMode="External"/><Relationship Id="rId3" Type="http://schemas.openxmlformats.org/officeDocument/2006/relationships/hyperlink" Target="https://farmsforfood.sebastianalexis.com" TargetMode="External"/><Relationship Id="rId4" Type="http://schemas.openxmlformats.org/officeDocument/2006/relationships/hyperlink" Target="https://github.com/Sebastian-Alexis/ai_supplychain_foodbank" TargetMode="External"/><Relationship Id="rId5" Type="http://schemas.openxmlformats.org/officeDocument/2006/relationships/hyperlink" Target="https://api.fda.gov/food/enforcement.json" TargetMode="External"/><Relationship Id="rId6" Type="http://schemas.openxmlformats.org/officeDocument/2006/relationships/hyperlink" Target="https://www.fsis.usda.gov/recalls" TargetMode="External"/><Relationship Id="rId7" Type="http://schemas.openxmlformats.org/officeDocument/2006/relationships/hyperlink" Target="https://www.cdc.gov/ecoli/outbreaks/e-coli-O157.html" TargetMode="External"/><Relationship Id="rId8" Type="http://schemas.openxmlformats.org/officeDocument/2006/relationships/hyperlink" Target="https://www.sfmfoodbank.org/annual-report-2023-2024/" TargetMode="External"/><Relationship Id="rId9" Type="http://schemas.openxmlformats.org/officeDocument/2006/relationships/hyperlink" Target="https://rifoodbank.org/wp-content/uploads/2023/06/Food-Safety-Recall-Process-doc.pdf" TargetMode="External"/><Relationship Id="rId1" Type="http://schemas.openxmlformats.org/officeDocument/2006/relationships/image" Target="../media/image-9-1.png"/><Relationship Id="rId10" Type="http://schemas.openxmlformats.org/officeDocument/2006/relationships/slideLayout" Target="../slideLayouts/slideLayout1.xml"/><Relationship Id="rId11"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3B37"/>
        </a:solidFill>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B94735"/>
          </a:solidFill>
          <a:ln w="12700">
            <a:solidFill>
              <a:srgbClr val="B94735"/>
            </a:solidFill>
            <a:prstDash val="solid"/>
          </a:ln>
        </p:spPr>
      </p:sp>
      <p:sp>
        <p:nvSpPr>
          <p:cNvPr id="3" name="Shape 1"/>
          <p:cNvSpPr/>
          <p:nvPr/>
        </p:nvSpPr>
        <p:spPr>
          <a:xfrm>
            <a:off x="7269480" y="0"/>
            <a:ext cx="4919472" cy="6858000"/>
          </a:xfrm>
          <a:prstGeom prst="rect">
            <a:avLst/>
          </a:prstGeom>
          <a:solidFill>
            <a:srgbClr val="0E302D"/>
          </a:solidFill>
          <a:ln w="12700">
            <a:solidFill>
              <a:srgbClr val="0E302D"/>
            </a:solidFill>
            <a:prstDash val="solid"/>
          </a:ln>
        </p:spPr>
      </p:sp>
      <p:sp>
        <p:nvSpPr>
          <p:cNvPr id="4" name="Shape 2"/>
          <p:cNvSpPr/>
          <p:nvPr/>
        </p:nvSpPr>
        <p:spPr>
          <a:xfrm>
            <a:off x="658368" y="548640"/>
            <a:ext cx="438912" cy="438912"/>
          </a:xfrm>
          <a:prstGeom prst="rect">
            <a:avLst/>
          </a:prstGeom>
          <a:solidFill>
            <a:srgbClr val="FFFDF8">
              <a:alpha val="0"/>
            </a:srgbClr>
          </a:solidFill>
          <a:ln w="12700">
            <a:solidFill>
              <a:srgbClr val="FFFDF8"/>
            </a:solidFill>
            <a:prstDash val="solid"/>
          </a:ln>
        </p:spPr>
      </p:sp>
      <p:sp>
        <p:nvSpPr>
          <p:cNvPr id="5" name="Text 3"/>
          <p:cNvSpPr/>
          <p:nvPr/>
        </p:nvSpPr>
        <p:spPr>
          <a:xfrm>
            <a:off x="658368" y="594360"/>
            <a:ext cx="438912" cy="292608"/>
          </a:xfrm>
          <a:prstGeom prst="rect">
            <a:avLst/>
          </a:prstGeom>
          <a:noFill/>
          <a:ln/>
        </p:spPr>
        <p:txBody>
          <a:bodyPr wrap="square" lIns="0" tIns="0" rIns="0" bIns="0" rtlCol="0" anchor="ctr">
            <a:normAutofit/>
          </a:bodyPr>
          <a:lstStyle/>
          <a:p>
            <a:pPr algn="ctr" indent="0" marL="0">
              <a:buNone/>
            </a:pPr>
            <a:r>
              <a:rPr lang="en-US" sz="1100" b="1" dirty="0">
                <a:solidFill>
                  <a:srgbClr val="FFFDF8"/>
                </a:solidFill>
                <a:latin typeface="Aptos" pitchFamily="34" charset="0"/>
                <a:ea typeface="Aptos" pitchFamily="34" charset="-122"/>
                <a:cs typeface="Aptos" pitchFamily="34" charset="-120"/>
              </a:rPr>
              <a:t>FF</a:t>
            </a:r>
            <a:endParaRPr lang="en-US" sz="1100" dirty="0"/>
          </a:p>
        </p:txBody>
      </p:sp>
      <p:sp>
        <p:nvSpPr>
          <p:cNvPr id="6" name="Text 4"/>
          <p:cNvSpPr/>
          <p:nvPr/>
        </p:nvSpPr>
        <p:spPr>
          <a:xfrm>
            <a:off x="1261872" y="576072"/>
            <a:ext cx="2011680" cy="329184"/>
          </a:xfrm>
          <a:prstGeom prst="rect">
            <a:avLst/>
          </a:prstGeom>
          <a:noFill/>
          <a:ln/>
        </p:spPr>
        <p:txBody>
          <a:bodyPr wrap="square" lIns="0" tIns="0" rIns="0" bIns="0" rtlCol="0" anchor="ctr">
            <a:normAutofit/>
          </a:bodyPr>
          <a:lstStyle/>
          <a:p>
            <a:pPr indent="0" marL="0">
              <a:buNone/>
            </a:pPr>
            <a:r>
              <a:rPr lang="en-US" sz="1500" b="1" dirty="0">
                <a:solidFill>
                  <a:srgbClr val="FFFDF8"/>
                </a:solidFill>
                <a:latin typeface="Aptos" pitchFamily="34" charset="0"/>
                <a:ea typeface="Aptos" pitchFamily="34" charset="-122"/>
                <a:cs typeface="Aptos" pitchFamily="34" charset="-120"/>
              </a:rPr>
              <a:t>Farms for Food</a:t>
            </a:r>
            <a:endParaRPr lang="en-US" sz="1500" dirty="0"/>
          </a:p>
        </p:txBody>
      </p:sp>
      <p:sp>
        <p:nvSpPr>
          <p:cNvPr id="7" name="Text 5"/>
          <p:cNvSpPr/>
          <p:nvPr/>
        </p:nvSpPr>
        <p:spPr>
          <a:xfrm>
            <a:off x="658368" y="1417320"/>
            <a:ext cx="5303520" cy="274320"/>
          </a:xfrm>
          <a:prstGeom prst="rect">
            <a:avLst/>
          </a:prstGeom>
          <a:noFill/>
          <a:ln/>
        </p:spPr>
        <p:txBody>
          <a:bodyPr wrap="square" lIns="0" tIns="0" rIns="0" bIns="0" rtlCol="0" anchor="ctr">
            <a:normAutofit/>
          </a:bodyPr>
          <a:lstStyle/>
          <a:p>
            <a:pPr indent="0" marL="0">
              <a:buNone/>
            </a:pPr>
            <a:r>
              <a:rPr lang="en-US" sz="1050" b="1" spc="150" kern="0" dirty="0">
                <a:solidFill>
                  <a:srgbClr val="78B7A9"/>
                </a:solidFill>
                <a:latin typeface="Aptos" pitchFamily="34" charset="0"/>
                <a:ea typeface="Aptos" pitchFamily="34" charset="-122"/>
                <a:cs typeface="Aptos" pitchFamily="34" charset="-120"/>
              </a:rPr>
              <a:t>RECALL RESPONSE COMMAND CENTER</a:t>
            </a:r>
            <a:endParaRPr lang="en-US" sz="1050" dirty="0"/>
          </a:p>
        </p:txBody>
      </p:sp>
      <p:sp>
        <p:nvSpPr>
          <p:cNvPr id="8" name="Text 6"/>
          <p:cNvSpPr/>
          <p:nvPr/>
        </p:nvSpPr>
        <p:spPr>
          <a:xfrm>
            <a:off x="658368" y="1783080"/>
            <a:ext cx="6400800" cy="1298448"/>
          </a:xfrm>
          <a:prstGeom prst="rect">
            <a:avLst/>
          </a:prstGeom>
          <a:noFill/>
          <a:ln/>
        </p:spPr>
        <p:txBody>
          <a:bodyPr wrap="square" lIns="0" tIns="0" rIns="0" bIns="0" rtlCol="0" anchor="t">
            <a:normAutofit/>
          </a:bodyPr>
          <a:lstStyle/>
          <a:p>
            <a:pPr indent="0" marL="0">
              <a:buNone/>
            </a:pPr>
            <a:r>
              <a:rPr lang="en-US" sz="3700" b="1" dirty="0">
                <a:solidFill>
                  <a:srgbClr val="FFFDF8"/>
                </a:solidFill>
                <a:latin typeface="Aptos Display" pitchFamily="34" charset="0"/>
                <a:ea typeface="Aptos Display" pitchFamily="34" charset="-122"/>
                <a:cs typeface="Aptos Display" pitchFamily="34" charset="-120"/>
              </a:rPr>
              <a:t>From recall notice to</a:t>
            </a:r>
            <a:endParaRPr lang="en-US" sz="3700" dirty="0"/>
          </a:p>
          <a:p>
            <a:pPr indent="0" marL="0">
              <a:buNone/>
            </a:pPr>
            <a:r>
              <a:rPr lang="en-US" sz="3700" b="1" dirty="0">
                <a:solidFill>
                  <a:srgbClr val="FFFDF8"/>
                </a:solidFill>
                <a:latin typeface="Aptos Display" pitchFamily="34" charset="0"/>
                <a:ea typeface="Aptos Display" pitchFamily="34" charset="-122"/>
                <a:cs typeface="Aptos Display" pitchFamily="34" charset="-120"/>
              </a:rPr>
              <a:t>human-approved recovery plan.</a:t>
            </a:r>
            <a:endParaRPr lang="en-US" sz="3700" dirty="0"/>
          </a:p>
        </p:txBody>
      </p:sp>
      <p:sp>
        <p:nvSpPr>
          <p:cNvPr id="9" name="Text 7"/>
          <p:cNvSpPr/>
          <p:nvPr/>
        </p:nvSpPr>
        <p:spPr>
          <a:xfrm>
            <a:off x="658368" y="3456432"/>
            <a:ext cx="5989320" cy="914400"/>
          </a:xfrm>
          <a:prstGeom prst="rect">
            <a:avLst/>
          </a:prstGeom>
          <a:noFill/>
          <a:ln/>
        </p:spPr>
        <p:txBody>
          <a:bodyPr wrap="square" lIns="0" tIns="0" rIns="0" bIns="0" rtlCol="0" anchor="t">
            <a:normAutofit/>
          </a:bodyPr>
          <a:lstStyle/>
          <a:p>
            <a:pPr indent="0" marL="0">
              <a:buNone/>
            </a:pPr>
            <a:r>
              <a:rPr lang="en-US" sz="1800" dirty="0">
                <a:solidFill>
                  <a:srgbClr val="D7E7E1"/>
                </a:solidFill>
                <a:latin typeface="Aptos" pitchFamily="34" charset="0"/>
                <a:ea typeface="Aptos" pitchFamily="34" charset="-122"/>
                <a:cs typeface="Aptos" pitchFamily="34" charset="-120"/>
              </a:rPr>
              <a:t>Trace implicated lots and inbound orders, quantify seven-day supply risk, then optimize a feasible response before anything executes.</a:t>
            </a:r>
            <a:endParaRPr lang="en-US" sz="1800" dirty="0"/>
          </a:p>
        </p:txBody>
      </p:sp>
      <p:sp>
        <p:nvSpPr>
          <p:cNvPr id="10" name="Shape 8"/>
          <p:cNvSpPr/>
          <p:nvPr/>
        </p:nvSpPr>
        <p:spPr>
          <a:xfrm>
            <a:off x="7726680" y="1344168"/>
            <a:ext cx="621792" cy="621792"/>
          </a:xfrm>
          <a:prstGeom prst="ellipse">
            <a:avLst/>
          </a:prstGeom>
          <a:solidFill>
            <a:srgbClr val="1D6B62"/>
          </a:solidFill>
          <a:ln w="12700">
            <a:solidFill>
              <a:srgbClr val="FFFDF8">
                <a:alpha val="55000"/>
              </a:srgbClr>
            </a:solidFill>
            <a:prstDash val="solid"/>
          </a:ln>
        </p:spPr>
      </p:sp>
      <p:sp>
        <p:nvSpPr>
          <p:cNvPr id="11" name="Text 9"/>
          <p:cNvSpPr/>
          <p:nvPr/>
        </p:nvSpPr>
        <p:spPr>
          <a:xfrm>
            <a:off x="7726680" y="1481328"/>
            <a:ext cx="621792" cy="246888"/>
          </a:xfrm>
          <a:prstGeom prst="rect">
            <a:avLst/>
          </a:prstGeom>
          <a:noFill/>
          <a:ln/>
        </p:spPr>
        <p:txBody>
          <a:bodyPr wrap="square" lIns="0" tIns="0" rIns="0" bIns="0" rtlCol="0" anchor="ctr">
            <a:normAutofit/>
          </a:bodyPr>
          <a:lstStyle/>
          <a:p>
            <a:pPr algn="ctr" indent="0" marL="0">
              <a:buNone/>
            </a:pPr>
            <a:r>
              <a:rPr lang="en-US" sz="1400" b="1" dirty="0">
                <a:solidFill>
                  <a:srgbClr val="FFFFFF"/>
                </a:solidFill>
                <a:latin typeface="Aptos" pitchFamily="34" charset="0"/>
                <a:ea typeface="Aptos" pitchFamily="34" charset="-122"/>
                <a:cs typeface="Aptos" pitchFamily="34" charset="-120"/>
              </a:rPr>
              <a:t>1</a:t>
            </a:r>
            <a:endParaRPr lang="en-US" sz="1400" dirty="0"/>
          </a:p>
        </p:txBody>
      </p:sp>
      <p:sp>
        <p:nvSpPr>
          <p:cNvPr id="12" name="Text 10"/>
          <p:cNvSpPr/>
          <p:nvPr/>
        </p:nvSpPr>
        <p:spPr>
          <a:xfrm>
            <a:off x="7552944" y="2084832"/>
            <a:ext cx="969264" cy="237744"/>
          </a:xfrm>
          <a:prstGeom prst="rect">
            <a:avLst/>
          </a:prstGeom>
          <a:noFill/>
          <a:ln/>
        </p:spPr>
        <p:txBody>
          <a:bodyPr wrap="square" lIns="0" tIns="0" rIns="0" bIns="0" rtlCol="0" anchor="ctr">
            <a:normAutofit/>
          </a:bodyPr>
          <a:lstStyle/>
          <a:p>
            <a:pPr algn="ctr" indent="0" marL="0">
              <a:buNone/>
            </a:pPr>
            <a:r>
              <a:rPr lang="en-US" sz="1000" b="1" dirty="0">
                <a:solidFill>
                  <a:srgbClr val="FFFDF8"/>
                </a:solidFill>
                <a:latin typeface="Aptos" pitchFamily="34" charset="0"/>
                <a:ea typeface="Aptos" pitchFamily="34" charset="-122"/>
                <a:cs typeface="Aptos" pitchFamily="34" charset="-120"/>
              </a:rPr>
              <a:t>NOTICE</a:t>
            </a:r>
            <a:endParaRPr lang="en-US" sz="1000" dirty="0"/>
          </a:p>
        </p:txBody>
      </p:sp>
      <p:sp>
        <p:nvSpPr>
          <p:cNvPr id="13" name="Text 11"/>
          <p:cNvSpPr/>
          <p:nvPr/>
        </p:nvSpPr>
        <p:spPr>
          <a:xfrm>
            <a:off x="7498080" y="2340864"/>
            <a:ext cx="1078992" cy="219456"/>
          </a:xfrm>
          <a:prstGeom prst="rect">
            <a:avLst/>
          </a:prstGeom>
          <a:noFill/>
          <a:ln/>
        </p:spPr>
        <p:txBody>
          <a:bodyPr wrap="square" lIns="0" tIns="0" rIns="0" bIns="0" rtlCol="0" anchor="ctr">
            <a:normAutofit/>
          </a:bodyPr>
          <a:lstStyle/>
          <a:p>
            <a:pPr algn="ctr" indent="0" marL="0">
              <a:buNone/>
            </a:pPr>
            <a:r>
              <a:rPr lang="en-US" sz="850" dirty="0">
                <a:solidFill>
                  <a:srgbClr val="78B7A9"/>
                </a:solidFill>
                <a:latin typeface="Aptos" pitchFamily="34" charset="0"/>
                <a:ea typeface="Aptos" pitchFamily="34" charset="-122"/>
                <a:cs typeface="Aptos" pitchFamily="34" charset="-120"/>
              </a:rPr>
              <a:t>live authority</a:t>
            </a:r>
            <a:endParaRPr lang="en-US" sz="850" dirty="0"/>
          </a:p>
        </p:txBody>
      </p:sp>
      <p:sp>
        <p:nvSpPr>
          <p:cNvPr id="14" name="Shape 12"/>
          <p:cNvSpPr/>
          <p:nvPr/>
        </p:nvSpPr>
        <p:spPr>
          <a:xfrm>
            <a:off x="8385048" y="1655064"/>
            <a:ext cx="310896" cy="0"/>
          </a:xfrm>
          <a:prstGeom prst="line">
            <a:avLst/>
          </a:prstGeom>
          <a:noFill/>
          <a:ln w="16510">
            <a:solidFill>
              <a:srgbClr val="78B7A9"/>
            </a:solidFill>
            <a:prstDash val="solid"/>
            <a:headEnd type="none"/>
            <a:tailEnd type="triangle"/>
          </a:ln>
        </p:spPr>
      </p:sp>
      <p:sp>
        <p:nvSpPr>
          <p:cNvPr id="15" name="Shape 13"/>
          <p:cNvSpPr/>
          <p:nvPr/>
        </p:nvSpPr>
        <p:spPr>
          <a:xfrm>
            <a:off x="8732520" y="1344168"/>
            <a:ext cx="621792" cy="621792"/>
          </a:xfrm>
          <a:prstGeom prst="ellipse">
            <a:avLst/>
          </a:prstGeom>
          <a:solidFill>
            <a:srgbClr val="1D6B62"/>
          </a:solidFill>
          <a:ln w="12700">
            <a:solidFill>
              <a:srgbClr val="FFFDF8">
                <a:alpha val="55000"/>
              </a:srgbClr>
            </a:solidFill>
            <a:prstDash val="solid"/>
          </a:ln>
        </p:spPr>
      </p:sp>
      <p:sp>
        <p:nvSpPr>
          <p:cNvPr id="16" name="Text 14"/>
          <p:cNvSpPr/>
          <p:nvPr/>
        </p:nvSpPr>
        <p:spPr>
          <a:xfrm>
            <a:off x="8732520" y="1481328"/>
            <a:ext cx="621792" cy="246888"/>
          </a:xfrm>
          <a:prstGeom prst="rect">
            <a:avLst/>
          </a:prstGeom>
          <a:noFill/>
          <a:ln/>
        </p:spPr>
        <p:txBody>
          <a:bodyPr wrap="square" lIns="0" tIns="0" rIns="0" bIns="0" rtlCol="0" anchor="ctr">
            <a:normAutofit/>
          </a:bodyPr>
          <a:lstStyle/>
          <a:p>
            <a:pPr algn="ctr" indent="0" marL="0">
              <a:buNone/>
            </a:pPr>
            <a:r>
              <a:rPr lang="en-US" sz="1400" b="1" dirty="0">
                <a:solidFill>
                  <a:srgbClr val="FFFFFF"/>
                </a:solidFill>
                <a:latin typeface="Aptos" pitchFamily="34" charset="0"/>
                <a:ea typeface="Aptos" pitchFamily="34" charset="-122"/>
                <a:cs typeface="Aptos" pitchFamily="34" charset="-120"/>
              </a:rPr>
              <a:t>2</a:t>
            </a:r>
            <a:endParaRPr lang="en-US" sz="1400" dirty="0"/>
          </a:p>
        </p:txBody>
      </p:sp>
      <p:sp>
        <p:nvSpPr>
          <p:cNvPr id="17" name="Text 15"/>
          <p:cNvSpPr/>
          <p:nvPr/>
        </p:nvSpPr>
        <p:spPr>
          <a:xfrm>
            <a:off x="8558784" y="2084832"/>
            <a:ext cx="969264" cy="237744"/>
          </a:xfrm>
          <a:prstGeom prst="rect">
            <a:avLst/>
          </a:prstGeom>
          <a:noFill/>
          <a:ln/>
        </p:spPr>
        <p:txBody>
          <a:bodyPr wrap="square" lIns="0" tIns="0" rIns="0" bIns="0" rtlCol="0" anchor="ctr">
            <a:normAutofit/>
          </a:bodyPr>
          <a:lstStyle/>
          <a:p>
            <a:pPr algn="ctr" indent="0" marL="0">
              <a:buNone/>
            </a:pPr>
            <a:r>
              <a:rPr lang="en-US" sz="1000" b="1" dirty="0">
                <a:solidFill>
                  <a:srgbClr val="FFFDF8"/>
                </a:solidFill>
                <a:latin typeface="Aptos" pitchFamily="34" charset="0"/>
                <a:ea typeface="Aptos" pitchFamily="34" charset="-122"/>
                <a:cs typeface="Aptos" pitchFamily="34" charset="-120"/>
              </a:rPr>
              <a:t>TRACE</a:t>
            </a:r>
            <a:endParaRPr lang="en-US" sz="1000" dirty="0"/>
          </a:p>
        </p:txBody>
      </p:sp>
      <p:sp>
        <p:nvSpPr>
          <p:cNvPr id="18" name="Text 16"/>
          <p:cNvSpPr/>
          <p:nvPr/>
        </p:nvSpPr>
        <p:spPr>
          <a:xfrm>
            <a:off x="8503920" y="2340864"/>
            <a:ext cx="1078992" cy="219456"/>
          </a:xfrm>
          <a:prstGeom prst="rect">
            <a:avLst/>
          </a:prstGeom>
          <a:noFill/>
          <a:ln/>
        </p:spPr>
        <p:txBody>
          <a:bodyPr wrap="square" lIns="0" tIns="0" rIns="0" bIns="0" rtlCol="0" anchor="ctr">
            <a:normAutofit/>
          </a:bodyPr>
          <a:lstStyle/>
          <a:p>
            <a:pPr algn="ctr" indent="0" marL="0">
              <a:buNone/>
            </a:pPr>
            <a:r>
              <a:rPr lang="en-US" sz="850" dirty="0">
                <a:solidFill>
                  <a:srgbClr val="78B7A9"/>
                </a:solidFill>
                <a:latin typeface="Aptos" pitchFamily="34" charset="0"/>
                <a:ea typeface="Aptos" pitchFamily="34" charset="-122"/>
                <a:cs typeface="Aptos" pitchFamily="34" charset="-120"/>
              </a:rPr>
              <a:t>lots + POs</a:t>
            </a:r>
            <a:endParaRPr lang="en-US" sz="850" dirty="0"/>
          </a:p>
        </p:txBody>
      </p:sp>
      <p:sp>
        <p:nvSpPr>
          <p:cNvPr id="19" name="Shape 17"/>
          <p:cNvSpPr/>
          <p:nvPr/>
        </p:nvSpPr>
        <p:spPr>
          <a:xfrm>
            <a:off x="9390888" y="1655064"/>
            <a:ext cx="310896" cy="0"/>
          </a:xfrm>
          <a:prstGeom prst="line">
            <a:avLst/>
          </a:prstGeom>
          <a:noFill/>
          <a:ln w="16510">
            <a:solidFill>
              <a:srgbClr val="78B7A9"/>
            </a:solidFill>
            <a:prstDash val="solid"/>
            <a:headEnd type="none"/>
            <a:tailEnd type="triangle"/>
          </a:ln>
        </p:spPr>
      </p:sp>
      <p:sp>
        <p:nvSpPr>
          <p:cNvPr id="20" name="Shape 18"/>
          <p:cNvSpPr/>
          <p:nvPr/>
        </p:nvSpPr>
        <p:spPr>
          <a:xfrm>
            <a:off x="9738360" y="1344168"/>
            <a:ext cx="621792" cy="621792"/>
          </a:xfrm>
          <a:prstGeom prst="ellipse">
            <a:avLst/>
          </a:prstGeom>
          <a:solidFill>
            <a:srgbClr val="1D6B62"/>
          </a:solidFill>
          <a:ln w="12700">
            <a:solidFill>
              <a:srgbClr val="FFFDF8">
                <a:alpha val="55000"/>
              </a:srgbClr>
            </a:solidFill>
            <a:prstDash val="solid"/>
          </a:ln>
        </p:spPr>
      </p:sp>
      <p:sp>
        <p:nvSpPr>
          <p:cNvPr id="21" name="Text 19"/>
          <p:cNvSpPr/>
          <p:nvPr/>
        </p:nvSpPr>
        <p:spPr>
          <a:xfrm>
            <a:off x="9738360" y="1481328"/>
            <a:ext cx="621792" cy="246888"/>
          </a:xfrm>
          <a:prstGeom prst="rect">
            <a:avLst/>
          </a:prstGeom>
          <a:noFill/>
          <a:ln/>
        </p:spPr>
        <p:txBody>
          <a:bodyPr wrap="square" lIns="0" tIns="0" rIns="0" bIns="0" rtlCol="0" anchor="ctr">
            <a:normAutofit/>
          </a:bodyPr>
          <a:lstStyle/>
          <a:p>
            <a:pPr algn="ctr" indent="0" marL="0">
              <a:buNone/>
            </a:pPr>
            <a:r>
              <a:rPr lang="en-US" sz="1400" b="1" dirty="0">
                <a:solidFill>
                  <a:srgbClr val="FFFFFF"/>
                </a:solidFill>
                <a:latin typeface="Aptos" pitchFamily="34" charset="0"/>
                <a:ea typeface="Aptos" pitchFamily="34" charset="-122"/>
                <a:cs typeface="Aptos" pitchFamily="34" charset="-120"/>
              </a:rPr>
              <a:t>3</a:t>
            </a:r>
            <a:endParaRPr lang="en-US" sz="1400" dirty="0"/>
          </a:p>
        </p:txBody>
      </p:sp>
      <p:sp>
        <p:nvSpPr>
          <p:cNvPr id="22" name="Text 20"/>
          <p:cNvSpPr/>
          <p:nvPr/>
        </p:nvSpPr>
        <p:spPr>
          <a:xfrm>
            <a:off x="9564624" y="2084832"/>
            <a:ext cx="969264" cy="237744"/>
          </a:xfrm>
          <a:prstGeom prst="rect">
            <a:avLst/>
          </a:prstGeom>
          <a:noFill/>
          <a:ln/>
        </p:spPr>
        <p:txBody>
          <a:bodyPr wrap="square" lIns="0" tIns="0" rIns="0" bIns="0" rtlCol="0" anchor="ctr">
            <a:normAutofit/>
          </a:bodyPr>
          <a:lstStyle/>
          <a:p>
            <a:pPr algn="ctr" indent="0" marL="0">
              <a:buNone/>
            </a:pPr>
            <a:r>
              <a:rPr lang="en-US" sz="1000" b="1" dirty="0">
                <a:solidFill>
                  <a:srgbClr val="FFFDF8"/>
                </a:solidFill>
                <a:latin typeface="Aptos" pitchFamily="34" charset="0"/>
                <a:ea typeface="Aptos" pitchFamily="34" charset="-122"/>
                <a:cs typeface="Aptos" pitchFamily="34" charset="-120"/>
              </a:rPr>
              <a:t>REPLAN</a:t>
            </a:r>
            <a:endParaRPr lang="en-US" sz="1000" dirty="0"/>
          </a:p>
        </p:txBody>
      </p:sp>
      <p:sp>
        <p:nvSpPr>
          <p:cNvPr id="23" name="Text 21"/>
          <p:cNvSpPr/>
          <p:nvPr/>
        </p:nvSpPr>
        <p:spPr>
          <a:xfrm>
            <a:off x="9509760" y="2340864"/>
            <a:ext cx="1078992" cy="219456"/>
          </a:xfrm>
          <a:prstGeom prst="rect">
            <a:avLst/>
          </a:prstGeom>
          <a:noFill/>
          <a:ln/>
        </p:spPr>
        <p:txBody>
          <a:bodyPr wrap="square" lIns="0" tIns="0" rIns="0" bIns="0" rtlCol="0" anchor="ctr">
            <a:normAutofit/>
          </a:bodyPr>
          <a:lstStyle/>
          <a:p>
            <a:pPr algn="ctr" indent="0" marL="0">
              <a:buNone/>
            </a:pPr>
            <a:r>
              <a:rPr lang="en-US" sz="850" dirty="0">
                <a:solidFill>
                  <a:srgbClr val="78B7A9"/>
                </a:solidFill>
                <a:latin typeface="Aptos" pitchFamily="34" charset="0"/>
                <a:ea typeface="Aptos" pitchFamily="34" charset="-122"/>
                <a:cs typeface="Aptos" pitchFamily="34" charset="-120"/>
              </a:rPr>
              <a:t>LP + FEFO</a:t>
            </a:r>
            <a:endParaRPr lang="en-US" sz="850" dirty="0"/>
          </a:p>
        </p:txBody>
      </p:sp>
      <p:sp>
        <p:nvSpPr>
          <p:cNvPr id="24" name="Shape 22"/>
          <p:cNvSpPr/>
          <p:nvPr/>
        </p:nvSpPr>
        <p:spPr>
          <a:xfrm>
            <a:off x="10396728" y="1655064"/>
            <a:ext cx="310896" cy="0"/>
          </a:xfrm>
          <a:prstGeom prst="line">
            <a:avLst/>
          </a:prstGeom>
          <a:noFill/>
          <a:ln w="16510">
            <a:solidFill>
              <a:srgbClr val="78B7A9"/>
            </a:solidFill>
            <a:prstDash val="solid"/>
            <a:headEnd type="none"/>
            <a:tailEnd type="triangle"/>
          </a:ln>
        </p:spPr>
      </p:sp>
      <p:sp>
        <p:nvSpPr>
          <p:cNvPr id="25" name="Shape 23"/>
          <p:cNvSpPr/>
          <p:nvPr/>
        </p:nvSpPr>
        <p:spPr>
          <a:xfrm>
            <a:off x="10744200" y="1344168"/>
            <a:ext cx="621792" cy="621792"/>
          </a:xfrm>
          <a:prstGeom prst="ellipse">
            <a:avLst/>
          </a:prstGeom>
          <a:solidFill>
            <a:srgbClr val="B94735"/>
          </a:solidFill>
          <a:ln w="12700">
            <a:solidFill>
              <a:srgbClr val="FFFDF8">
                <a:alpha val="55000"/>
              </a:srgbClr>
            </a:solidFill>
            <a:prstDash val="solid"/>
          </a:ln>
        </p:spPr>
      </p:sp>
      <p:sp>
        <p:nvSpPr>
          <p:cNvPr id="26" name="Text 24"/>
          <p:cNvSpPr/>
          <p:nvPr/>
        </p:nvSpPr>
        <p:spPr>
          <a:xfrm>
            <a:off x="10744200" y="1481328"/>
            <a:ext cx="621792" cy="246888"/>
          </a:xfrm>
          <a:prstGeom prst="rect">
            <a:avLst/>
          </a:prstGeom>
          <a:noFill/>
          <a:ln/>
        </p:spPr>
        <p:txBody>
          <a:bodyPr wrap="square" lIns="0" tIns="0" rIns="0" bIns="0" rtlCol="0" anchor="ctr">
            <a:normAutofit/>
          </a:bodyPr>
          <a:lstStyle/>
          <a:p>
            <a:pPr algn="ctr" indent="0" marL="0">
              <a:buNone/>
            </a:pPr>
            <a:r>
              <a:rPr lang="en-US" sz="1400" b="1" dirty="0">
                <a:solidFill>
                  <a:srgbClr val="FFFFFF"/>
                </a:solidFill>
                <a:latin typeface="Aptos" pitchFamily="34" charset="0"/>
                <a:ea typeface="Aptos" pitchFamily="34" charset="-122"/>
                <a:cs typeface="Aptos" pitchFamily="34" charset="-120"/>
              </a:rPr>
              <a:t>4</a:t>
            </a:r>
            <a:endParaRPr lang="en-US" sz="1400" dirty="0"/>
          </a:p>
        </p:txBody>
      </p:sp>
      <p:sp>
        <p:nvSpPr>
          <p:cNvPr id="27" name="Text 25"/>
          <p:cNvSpPr/>
          <p:nvPr/>
        </p:nvSpPr>
        <p:spPr>
          <a:xfrm>
            <a:off x="10570464" y="2084832"/>
            <a:ext cx="969264" cy="237744"/>
          </a:xfrm>
          <a:prstGeom prst="rect">
            <a:avLst/>
          </a:prstGeom>
          <a:noFill/>
          <a:ln/>
        </p:spPr>
        <p:txBody>
          <a:bodyPr wrap="square" lIns="0" tIns="0" rIns="0" bIns="0" rtlCol="0" anchor="ctr">
            <a:normAutofit/>
          </a:bodyPr>
          <a:lstStyle/>
          <a:p>
            <a:pPr algn="ctr" indent="0" marL="0">
              <a:buNone/>
            </a:pPr>
            <a:r>
              <a:rPr lang="en-US" sz="1000" b="1" dirty="0">
                <a:solidFill>
                  <a:srgbClr val="FFFDF8"/>
                </a:solidFill>
                <a:latin typeface="Aptos" pitchFamily="34" charset="0"/>
                <a:ea typeface="Aptos" pitchFamily="34" charset="-122"/>
                <a:cs typeface="Aptos" pitchFamily="34" charset="-120"/>
              </a:rPr>
              <a:t>APPROVE</a:t>
            </a:r>
            <a:endParaRPr lang="en-US" sz="1000" dirty="0"/>
          </a:p>
        </p:txBody>
      </p:sp>
      <p:sp>
        <p:nvSpPr>
          <p:cNvPr id="28" name="Text 26"/>
          <p:cNvSpPr/>
          <p:nvPr/>
        </p:nvSpPr>
        <p:spPr>
          <a:xfrm>
            <a:off x="10515600" y="2340864"/>
            <a:ext cx="1078992" cy="219456"/>
          </a:xfrm>
          <a:prstGeom prst="rect">
            <a:avLst/>
          </a:prstGeom>
          <a:noFill/>
          <a:ln/>
        </p:spPr>
        <p:txBody>
          <a:bodyPr wrap="square" lIns="0" tIns="0" rIns="0" bIns="0" rtlCol="0" anchor="ctr">
            <a:normAutofit/>
          </a:bodyPr>
          <a:lstStyle/>
          <a:p>
            <a:pPr algn="ctr" indent="0" marL="0">
              <a:buNone/>
            </a:pPr>
            <a:r>
              <a:rPr lang="en-US" sz="850" dirty="0">
                <a:solidFill>
                  <a:srgbClr val="78B7A9"/>
                </a:solidFill>
                <a:latin typeface="Aptos" pitchFamily="34" charset="0"/>
                <a:ea typeface="Aptos" pitchFamily="34" charset="-122"/>
                <a:cs typeface="Aptos" pitchFamily="34" charset="-120"/>
              </a:rPr>
              <a:t>human gate</a:t>
            </a:r>
            <a:endParaRPr lang="en-US" sz="850" dirty="0"/>
          </a:p>
        </p:txBody>
      </p:sp>
      <p:sp>
        <p:nvSpPr>
          <p:cNvPr id="29" name="Shape 27"/>
          <p:cNvSpPr/>
          <p:nvPr/>
        </p:nvSpPr>
        <p:spPr>
          <a:xfrm>
            <a:off x="7726680" y="3246120"/>
            <a:ext cx="1188720" cy="1325880"/>
          </a:xfrm>
          <a:prstGeom prst="roundRect">
            <a:avLst>
              <a:gd name="adj" fmla="val 6154"/>
            </a:avLst>
          </a:prstGeom>
          <a:solidFill>
            <a:srgbClr val="FFFDF8"/>
          </a:solidFill>
          <a:ln w="12700">
            <a:solidFill>
              <a:srgbClr val="D9D2C2"/>
            </a:solidFill>
            <a:prstDash val="solid"/>
          </a:ln>
        </p:spPr>
      </p:sp>
      <p:sp>
        <p:nvSpPr>
          <p:cNvPr id="30" name="Shape 28"/>
          <p:cNvSpPr/>
          <p:nvPr/>
        </p:nvSpPr>
        <p:spPr>
          <a:xfrm>
            <a:off x="7726680" y="3246120"/>
            <a:ext cx="73152" cy="1325880"/>
          </a:xfrm>
          <a:prstGeom prst="rect">
            <a:avLst/>
          </a:prstGeom>
          <a:solidFill>
            <a:srgbClr val="78B7A9"/>
          </a:solidFill>
          <a:ln w="12700">
            <a:solidFill>
              <a:srgbClr val="78B7A9"/>
            </a:solidFill>
            <a:prstDash val="solid"/>
          </a:ln>
        </p:spPr>
      </p:sp>
      <p:sp>
        <p:nvSpPr>
          <p:cNvPr id="31" name="Text 29"/>
          <p:cNvSpPr/>
          <p:nvPr/>
        </p:nvSpPr>
        <p:spPr>
          <a:xfrm>
            <a:off x="7909560" y="3392424"/>
            <a:ext cx="868680" cy="411480"/>
          </a:xfrm>
          <a:prstGeom prst="rect">
            <a:avLst/>
          </a:prstGeom>
          <a:noFill/>
          <a:ln/>
        </p:spPr>
        <p:txBody>
          <a:bodyPr wrap="square" lIns="0" tIns="0" rIns="0" bIns="0" rtlCol="0" anchor="ctr">
            <a:normAutofit/>
          </a:bodyPr>
          <a:lstStyle/>
          <a:p>
            <a:pPr indent="0" marL="0">
              <a:buNone/>
            </a:pPr>
            <a:r>
              <a:rPr lang="en-US" sz="2500" b="1" dirty="0">
                <a:solidFill>
                  <a:srgbClr val="132524"/>
                </a:solidFill>
                <a:latin typeface="Aptos Display" pitchFamily="34" charset="0"/>
                <a:ea typeface="Aptos Display" pitchFamily="34" charset="-122"/>
                <a:cs typeface="Aptos Display" pitchFamily="34" charset="-120"/>
              </a:rPr>
              <a:t>0.10s</a:t>
            </a:r>
            <a:endParaRPr lang="en-US" sz="2500" dirty="0"/>
          </a:p>
        </p:txBody>
      </p:sp>
      <p:sp>
        <p:nvSpPr>
          <p:cNvPr id="32" name="Text 30"/>
          <p:cNvSpPr/>
          <p:nvPr/>
        </p:nvSpPr>
        <p:spPr>
          <a:xfrm>
            <a:off x="7909560" y="3822192"/>
            <a:ext cx="868680" cy="310896"/>
          </a:xfrm>
          <a:prstGeom prst="rect">
            <a:avLst/>
          </a:prstGeom>
          <a:noFill/>
          <a:ln/>
        </p:spPr>
        <p:txBody>
          <a:bodyPr wrap="square" lIns="0" tIns="0" rIns="0" bIns="0" rtlCol="0" anchor="ctr">
            <a:normAutofit/>
          </a:bodyPr>
          <a:lstStyle/>
          <a:p>
            <a:pPr indent="0" marL="0">
              <a:buNone/>
            </a:pPr>
            <a:r>
              <a:rPr lang="en-US" sz="1050" b="1" dirty="0">
                <a:solidFill>
                  <a:srgbClr val="61706D"/>
                </a:solidFill>
                <a:latin typeface="Aptos" pitchFamily="34" charset="0"/>
                <a:ea typeface="Aptos" pitchFamily="34" charset="-122"/>
                <a:cs typeface="Aptos" pitchFamily="34" charset="-120"/>
              </a:rPr>
              <a:t>planning time</a:t>
            </a:r>
            <a:endParaRPr lang="en-US" sz="1050" dirty="0"/>
          </a:p>
        </p:txBody>
      </p:sp>
      <p:sp>
        <p:nvSpPr>
          <p:cNvPr id="33" name="Text 31"/>
          <p:cNvSpPr/>
          <p:nvPr/>
        </p:nvSpPr>
        <p:spPr>
          <a:xfrm>
            <a:off x="7909560" y="4270248"/>
            <a:ext cx="868680" cy="201168"/>
          </a:xfrm>
          <a:prstGeom prst="rect">
            <a:avLst/>
          </a:prstGeom>
          <a:noFill/>
          <a:ln/>
        </p:spPr>
        <p:txBody>
          <a:bodyPr wrap="square" lIns="0" tIns="0" rIns="0" bIns="0" rtlCol="0" anchor="ctr">
            <a:normAutofit/>
          </a:bodyPr>
          <a:lstStyle/>
          <a:p>
            <a:pPr indent="0" marL="0">
              <a:buNone/>
            </a:pPr>
            <a:r>
              <a:rPr lang="en-US" sz="850" dirty="0">
                <a:solidFill>
                  <a:srgbClr val="61706D"/>
                </a:solidFill>
                <a:latin typeface="Aptos" pitchFamily="34" charset="0"/>
                <a:ea typeface="Aptos" pitchFamily="34" charset="-122"/>
                <a:cs typeface="Aptos" pitchFamily="34" charset="-120"/>
              </a:rPr>
              <a:t>deployed seeded run</a:t>
            </a:r>
            <a:endParaRPr lang="en-US" sz="850" dirty="0"/>
          </a:p>
        </p:txBody>
      </p:sp>
      <p:sp>
        <p:nvSpPr>
          <p:cNvPr id="34" name="Shape 32"/>
          <p:cNvSpPr/>
          <p:nvPr/>
        </p:nvSpPr>
        <p:spPr>
          <a:xfrm>
            <a:off x="9098280" y="3246120"/>
            <a:ext cx="1188720" cy="1325880"/>
          </a:xfrm>
          <a:prstGeom prst="roundRect">
            <a:avLst>
              <a:gd name="adj" fmla="val 6154"/>
            </a:avLst>
          </a:prstGeom>
          <a:solidFill>
            <a:srgbClr val="FFFDF8"/>
          </a:solidFill>
          <a:ln w="12700">
            <a:solidFill>
              <a:srgbClr val="D9D2C2"/>
            </a:solidFill>
            <a:prstDash val="solid"/>
          </a:ln>
        </p:spPr>
      </p:sp>
      <p:sp>
        <p:nvSpPr>
          <p:cNvPr id="35" name="Shape 33"/>
          <p:cNvSpPr/>
          <p:nvPr/>
        </p:nvSpPr>
        <p:spPr>
          <a:xfrm>
            <a:off x="9098280" y="3246120"/>
            <a:ext cx="73152" cy="1325880"/>
          </a:xfrm>
          <a:prstGeom prst="rect">
            <a:avLst/>
          </a:prstGeom>
          <a:solidFill>
            <a:srgbClr val="B94735"/>
          </a:solidFill>
          <a:ln w="12700">
            <a:solidFill>
              <a:srgbClr val="B94735"/>
            </a:solidFill>
            <a:prstDash val="solid"/>
          </a:ln>
        </p:spPr>
      </p:sp>
      <p:sp>
        <p:nvSpPr>
          <p:cNvPr id="36" name="Text 34"/>
          <p:cNvSpPr/>
          <p:nvPr/>
        </p:nvSpPr>
        <p:spPr>
          <a:xfrm>
            <a:off x="9281160" y="3392424"/>
            <a:ext cx="868680" cy="411480"/>
          </a:xfrm>
          <a:prstGeom prst="rect">
            <a:avLst/>
          </a:prstGeom>
          <a:noFill/>
          <a:ln/>
        </p:spPr>
        <p:txBody>
          <a:bodyPr wrap="square" lIns="0" tIns="0" rIns="0" bIns="0" rtlCol="0" anchor="ctr">
            <a:normAutofit/>
          </a:bodyPr>
          <a:lstStyle/>
          <a:p>
            <a:pPr indent="0" marL="0">
              <a:buNone/>
            </a:pPr>
            <a:r>
              <a:rPr lang="en-US" sz="2500" b="1" dirty="0">
                <a:solidFill>
                  <a:srgbClr val="132524"/>
                </a:solidFill>
                <a:latin typeface="Aptos Display" pitchFamily="34" charset="0"/>
                <a:ea typeface="Aptos Display" pitchFamily="34" charset="-122"/>
                <a:cs typeface="Aptos Display" pitchFamily="34" charset="-120"/>
              </a:rPr>
              <a:t>+1,000</a:t>
            </a:r>
            <a:endParaRPr lang="en-US" sz="2500" dirty="0"/>
          </a:p>
        </p:txBody>
      </p:sp>
      <p:sp>
        <p:nvSpPr>
          <p:cNvPr id="37" name="Text 35"/>
          <p:cNvSpPr/>
          <p:nvPr/>
        </p:nvSpPr>
        <p:spPr>
          <a:xfrm>
            <a:off x="9281160" y="3822192"/>
            <a:ext cx="868680" cy="310896"/>
          </a:xfrm>
          <a:prstGeom prst="rect">
            <a:avLst/>
          </a:prstGeom>
          <a:noFill/>
          <a:ln/>
        </p:spPr>
        <p:txBody>
          <a:bodyPr wrap="square" lIns="0" tIns="0" rIns="0" bIns="0" rtlCol="0" anchor="ctr">
            <a:normAutofit/>
          </a:bodyPr>
          <a:lstStyle/>
          <a:p>
            <a:pPr indent="0" marL="0">
              <a:buNone/>
            </a:pPr>
            <a:r>
              <a:rPr lang="en-US" sz="1050" b="1" dirty="0">
                <a:solidFill>
                  <a:srgbClr val="61706D"/>
                </a:solidFill>
                <a:latin typeface="Aptos" pitchFamily="34" charset="0"/>
                <a:ea typeface="Aptos" pitchFamily="34" charset="-122"/>
                <a:cs typeface="Aptos" pitchFamily="34" charset="-120"/>
              </a:rPr>
              <a:t>lb served</a:t>
            </a:r>
            <a:endParaRPr lang="en-US" sz="1050" dirty="0"/>
          </a:p>
        </p:txBody>
      </p:sp>
      <p:sp>
        <p:nvSpPr>
          <p:cNvPr id="38" name="Text 36"/>
          <p:cNvSpPr/>
          <p:nvPr/>
        </p:nvSpPr>
        <p:spPr>
          <a:xfrm>
            <a:off x="9281160" y="4270248"/>
            <a:ext cx="868680" cy="201168"/>
          </a:xfrm>
          <a:prstGeom prst="rect">
            <a:avLst/>
          </a:prstGeom>
          <a:noFill/>
          <a:ln/>
        </p:spPr>
        <p:txBody>
          <a:bodyPr wrap="square" lIns="0" tIns="0" rIns="0" bIns="0" rtlCol="0" anchor="ctr">
            <a:normAutofit/>
          </a:bodyPr>
          <a:lstStyle/>
          <a:p>
            <a:pPr indent="0" marL="0">
              <a:buNone/>
            </a:pPr>
            <a:r>
              <a:rPr lang="en-US" sz="850" dirty="0">
                <a:solidFill>
                  <a:srgbClr val="61706D"/>
                </a:solidFill>
                <a:latin typeface="Aptos" pitchFamily="34" charset="0"/>
                <a:ea typeface="Aptos" pitchFamily="34" charset="-122"/>
                <a:cs typeface="Aptos" pitchFamily="34" charset="-120"/>
              </a:rPr>
              <a:t>vs baseline</a:t>
            </a:r>
            <a:endParaRPr lang="en-US" sz="850" dirty="0"/>
          </a:p>
        </p:txBody>
      </p:sp>
      <p:sp>
        <p:nvSpPr>
          <p:cNvPr id="39" name="Shape 37"/>
          <p:cNvSpPr/>
          <p:nvPr/>
        </p:nvSpPr>
        <p:spPr>
          <a:xfrm>
            <a:off x="10469880" y="3246120"/>
            <a:ext cx="1188720" cy="1325880"/>
          </a:xfrm>
          <a:prstGeom prst="roundRect">
            <a:avLst>
              <a:gd name="adj" fmla="val 6154"/>
            </a:avLst>
          </a:prstGeom>
          <a:solidFill>
            <a:srgbClr val="FFFDF8"/>
          </a:solidFill>
          <a:ln w="12700">
            <a:solidFill>
              <a:srgbClr val="D9D2C2"/>
            </a:solidFill>
            <a:prstDash val="solid"/>
          </a:ln>
        </p:spPr>
      </p:sp>
      <p:sp>
        <p:nvSpPr>
          <p:cNvPr id="40" name="Shape 38"/>
          <p:cNvSpPr/>
          <p:nvPr/>
        </p:nvSpPr>
        <p:spPr>
          <a:xfrm>
            <a:off x="10469880" y="3246120"/>
            <a:ext cx="73152" cy="1325880"/>
          </a:xfrm>
          <a:prstGeom prst="rect">
            <a:avLst/>
          </a:prstGeom>
          <a:solidFill>
            <a:srgbClr val="78B7A9"/>
          </a:solidFill>
          <a:ln w="12700">
            <a:solidFill>
              <a:srgbClr val="78B7A9"/>
            </a:solidFill>
            <a:prstDash val="solid"/>
          </a:ln>
        </p:spPr>
      </p:sp>
      <p:sp>
        <p:nvSpPr>
          <p:cNvPr id="41" name="Text 39"/>
          <p:cNvSpPr/>
          <p:nvPr/>
        </p:nvSpPr>
        <p:spPr>
          <a:xfrm>
            <a:off x="10652760" y="3392424"/>
            <a:ext cx="868680" cy="411480"/>
          </a:xfrm>
          <a:prstGeom prst="rect">
            <a:avLst/>
          </a:prstGeom>
          <a:noFill/>
          <a:ln/>
        </p:spPr>
        <p:txBody>
          <a:bodyPr wrap="square" lIns="0" tIns="0" rIns="0" bIns="0" rtlCol="0" anchor="ctr">
            <a:normAutofit/>
          </a:bodyPr>
          <a:lstStyle/>
          <a:p>
            <a:pPr indent="0" marL="0">
              <a:buNone/>
            </a:pPr>
            <a:r>
              <a:rPr lang="en-US" sz="2500" b="1" dirty="0">
                <a:solidFill>
                  <a:srgbClr val="132524"/>
                </a:solidFill>
                <a:latin typeface="Aptos Display" pitchFamily="34" charset="0"/>
                <a:ea typeface="Aptos Display" pitchFamily="34" charset="-122"/>
                <a:cs typeface="Aptos Display" pitchFamily="34" charset="-120"/>
              </a:rPr>
              <a:t>0</a:t>
            </a:r>
            <a:endParaRPr lang="en-US" sz="2500" dirty="0"/>
          </a:p>
        </p:txBody>
      </p:sp>
      <p:sp>
        <p:nvSpPr>
          <p:cNvPr id="42" name="Text 40"/>
          <p:cNvSpPr/>
          <p:nvPr/>
        </p:nvSpPr>
        <p:spPr>
          <a:xfrm>
            <a:off x="10652760" y="3822192"/>
            <a:ext cx="868680" cy="310896"/>
          </a:xfrm>
          <a:prstGeom prst="rect">
            <a:avLst/>
          </a:prstGeom>
          <a:noFill/>
          <a:ln/>
        </p:spPr>
        <p:txBody>
          <a:bodyPr wrap="square" lIns="0" tIns="0" rIns="0" bIns="0" rtlCol="0" anchor="ctr">
            <a:normAutofit/>
          </a:bodyPr>
          <a:lstStyle/>
          <a:p>
            <a:pPr indent="0" marL="0">
              <a:buNone/>
            </a:pPr>
            <a:r>
              <a:rPr lang="en-US" sz="1050" b="1" dirty="0">
                <a:solidFill>
                  <a:srgbClr val="61706D"/>
                </a:solidFill>
                <a:latin typeface="Aptos" pitchFamily="34" charset="0"/>
                <a:ea typeface="Aptos" pitchFamily="34" charset="-122"/>
                <a:cs typeface="Aptos" pitchFamily="34" charset="-120"/>
              </a:rPr>
              <a:t>violations</a:t>
            </a:r>
            <a:endParaRPr lang="en-US" sz="1050" dirty="0"/>
          </a:p>
        </p:txBody>
      </p:sp>
      <p:sp>
        <p:nvSpPr>
          <p:cNvPr id="43" name="Text 41"/>
          <p:cNvSpPr/>
          <p:nvPr/>
        </p:nvSpPr>
        <p:spPr>
          <a:xfrm>
            <a:off x="10652760" y="4270248"/>
            <a:ext cx="868680" cy="201168"/>
          </a:xfrm>
          <a:prstGeom prst="rect">
            <a:avLst/>
          </a:prstGeom>
          <a:noFill/>
          <a:ln/>
        </p:spPr>
        <p:txBody>
          <a:bodyPr wrap="square" lIns="0" tIns="0" rIns="0" bIns="0" rtlCol="0" anchor="ctr">
            <a:normAutofit/>
          </a:bodyPr>
          <a:lstStyle/>
          <a:p>
            <a:pPr indent="0" marL="0">
              <a:buNone/>
            </a:pPr>
            <a:r>
              <a:rPr lang="en-US" sz="850" dirty="0">
                <a:solidFill>
                  <a:srgbClr val="61706D"/>
                </a:solidFill>
                <a:latin typeface="Aptos" pitchFamily="34" charset="0"/>
                <a:ea typeface="Aptos" pitchFamily="34" charset="-122"/>
                <a:cs typeface="Aptos" pitchFamily="34" charset="-120"/>
              </a:rPr>
              <a:t>hard constraints</a:t>
            </a:r>
            <a:endParaRPr lang="en-US" sz="850" dirty="0"/>
          </a:p>
        </p:txBody>
      </p:sp>
      <p:sp>
        <p:nvSpPr>
          <p:cNvPr id="44" name="Shape 42"/>
          <p:cNvSpPr/>
          <p:nvPr/>
        </p:nvSpPr>
        <p:spPr>
          <a:xfrm>
            <a:off x="7726680" y="5074920"/>
            <a:ext cx="1005840" cy="274320"/>
          </a:xfrm>
          <a:prstGeom prst="roundRect">
            <a:avLst/>
          </a:prstGeom>
          <a:solidFill>
            <a:srgbClr val="B94735"/>
          </a:solidFill>
          <a:ln w="12700">
            <a:solidFill>
              <a:srgbClr val="B94735"/>
            </a:solidFill>
            <a:prstDash val="solid"/>
          </a:ln>
        </p:spPr>
      </p:sp>
      <p:sp>
        <p:nvSpPr>
          <p:cNvPr id="45" name="Text 43"/>
          <p:cNvSpPr/>
          <p:nvPr/>
        </p:nvSpPr>
        <p:spPr>
          <a:xfrm>
            <a:off x="7799832" y="5102352"/>
            <a:ext cx="859536" cy="210312"/>
          </a:xfrm>
          <a:prstGeom prst="rect">
            <a:avLst/>
          </a:prstGeom>
          <a:noFill/>
          <a:ln/>
        </p:spPr>
        <p:txBody>
          <a:bodyPr wrap="square" lIns="0" tIns="0" rIns="0" bIns="0" rtlCol="0" anchor="ctr">
            <a:normAutofit/>
          </a:bodyPr>
          <a:lstStyle/>
          <a:p>
            <a:pPr algn="ctr" indent="0" marL="0">
              <a:buNone/>
            </a:pPr>
            <a:r>
              <a:rPr lang="en-US" sz="900" b="1" dirty="0">
                <a:solidFill>
                  <a:srgbClr val="FFFFFF"/>
                </a:solidFill>
                <a:latin typeface="Aptos" pitchFamily="34" charset="0"/>
                <a:ea typeface="Aptos" pitchFamily="34" charset="-122"/>
                <a:cs typeface="Aptos" pitchFamily="34" charset="-120"/>
              </a:rPr>
              <a:t>LIVE DEMO</a:t>
            </a:r>
            <a:endParaRPr lang="en-US" sz="900" dirty="0"/>
          </a:p>
        </p:txBody>
      </p:sp>
      <p:sp>
        <p:nvSpPr>
          <p:cNvPr id="46" name="Text 44">
            <a:hlinkClick r:id="rId1" tooltip=""/>
          </p:cNvPr>
          <p:cNvSpPr/>
          <p:nvPr/>
        </p:nvSpPr>
        <p:spPr>
          <a:xfrm>
            <a:off x="8887968" y="5056632"/>
            <a:ext cx="2761488" cy="320040"/>
          </a:xfrm>
          <a:prstGeom prst="rect">
            <a:avLst/>
          </a:prstGeom>
          <a:noFill/>
          <a:ln/>
        </p:spPr>
        <p:txBody>
          <a:bodyPr wrap="square" lIns="0" tIns="0" rIns="0" bIns="0" rtlCol="0" anchor="ctr">
            <a:normAutofit/>
          </a:bodyPr>
          <a:lstStyle/>
          <a:p>
            <a:pPr indent="0" marL="0">
              <a:buNone/>
            </a:pPr>
            <a:r>
              <a:rPr lang="en-US" sz="1050" b="1" u="sng" dirty="0">
                <a:solidFill>
                  <a:srgbClr val="FFFDF8"/>
                </a:solidFill>
                <a:latin typeface="Aptos" pitchFamily="34" charset="0"/>
                <a:ea typeface="Aptos" pitchFamily="34" charset="-122"/>
                <a:cs typeface="Aptos" pitchFamily="34" charset="-120"/>
                <a:hlinkClick r:id="rId1" invalidUrl="" action="" tgtFrame="" tooltip="" history="1" highlightClick="0" endSnd="0">
                  <a:extLst>
                    <a:ext uri="{A12FA001-AC4F-418D-AE19-62706E023703}">
                      <ahyp:hlinkClr xmlns:ahyp="http://schemas.microsoft.com/office/drawing/2018/hyperlinkcolor" val="tx"/>
                    </a:ext>
                  </a:extLst>
                </a:hlinkClick>
              </a:rPr>
              <a:t>farmsforfood.sebastianalexis.com</a:t>
            </a:r>
            <a:endParaRPr lang="en-US" sz="1050" dirty="0"/>
          </a:p>
        </p:txBody>
      </p:sp>
      <p:sp>
        <p:nvSpPr>
          <p:cNvPr id="47" name="Text 45"/>
          <p:cNvSpPr/>
          <p:nvPr/>
        </p:nvSpPr>
        <p:spPr>
          <a:xfrm>
            <a:off x="658368" y="6327648"/>
            <a:ext cx="6766560" cy="228600"/>
          </a:xfrm>
          <a:prstGeom prst="rect">
            <a:avLst/>
          </a:prstGeom>
          <a:noFill/>
          <a:ln/>
        </p:spPr>
        <p:txBody>
          <a:bodyPr wrap="square" lIns="0" tIns="0" rIns="0" bIns="0" rtlCol="0" anchor="ctr">
            <a:normAutofit/>
          </a:bodyPr>
          <a:lstStyle/>
          <a:p>
            <a:pPr indent="0" marL="0">
              <a:buNone/>
            </a:pPr>
            <a:r>
              <a:rPr lang="en-US" sz="900" dirty="0">
                <a:solidFill>
                  <a:srgbClr val="78B7A9"/>
                </a:solidFill>
                <a:latin typeface="Aptos" pitchFamily="34" charset="0"/>
                <a:ea typeface="Aptos" pitchFamily="34" charset="-122"/>
                <a:cs typeface="Aptos" pitchFamily="34" charset="-120"/>
              </a:rPr>
              <a:t>Live FDA/USDA incidents. Synthetic food-bank operations. No client PII.</a:t>
            </a:r>
            <a:endParaRPr lang="en-US" sz="900" dirty="0"/>
          </a:p>
        </p:txBody>
      </p:sp>
      <p:sp>
        <p:nvSpPr>
          <p:cNvPr id="48" name="Text 46"/>
          <p:cNvSpPr/>
          <p:nvPr/>
        </p:nvSpPr>
        <p:spPr>
          <a:xfrm>
            <a:off x="11448288" y="6428232"/>
            <a:ext cx="219456" cy="182880"/>
          </a:xfrm>
          <a:prstGeom prst="rect">
            <a:avLst/>
          </a:prstGeom>
          <a:noFill/>
          <a:ln/>
        </p:spPr>
        <p:txBody>
          <a:bodyPr wrap="square" lIns="0" tIns="0" rIns="0" bIns="0" rtlCol="0" anchor="ctr">
            <a:normAutofit/>
          </a:bodyPr>
          <a:lstStyle/>
          <a:p>
            <a:pPr algn="r" indent="0" marL="0">
              <a:buNone/>
            </a:pPr>
            <a:r>
              <a:rPr lang="en-US" sz="800" dirty="0">
                <a:solidFill>
                  <a:srgbClr val="78B7A9"/>
                </a:solidFill>
                <a:latin typeface="Aptos" pitchFamily="34" charset="0"/>
                <a:ea typeface="Aptos" pitchFamily="34" charset="-122"/>
                <a:cs typeface="Aptos" pitchFamily="34" charset="-120"/>
              </a:rPr>
              <a:t>1</a:t>
            </a:r>
            <a:endParaRPr lang="en-US" sz="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658368" y="658368"/>
            <a:ext cx="4937760" cy="228600"/>
          </a:xfrm>
          <a:prstGeom prst="rect">
            <a:avLst/>
          </a:prstGeom>
          <a:noFill/>
          <a:ln/>
        </p:spPr>
        <p:txBody>
          <a:bodyPr wrap="square" lIns="0" tIns="0" rIns="0" bIns="0" rtlCol="0" anchor="ctr">
            <a:normAutofit/>
          </a:bodyPr>
          <a:lstStyle/>
          <a:p>
            <a:pPr indent="0" marL="0">
              <a:buNone/>
            </a:pPr>
            <a:r>
              <a:rPr lang="en-US" sz="1050" b="1" spc="120" kern="0" dirty="0">
                <a:solidFill>
                  <a:srgbClr val="B94735"/>
                </a:solidFill>
                <a:latin typeface="Aptos" pitchFamily="34" charset="0"/>
                <a:ea typeface="Aptos" pitchFamily="34" charset="-122"/>
                <a:cs typeface="Aptos" pitchFamily="34" charset="-120"/>
              </a:rPr>
              <a:t>WHY NOW</a:t>
            </a:r>
            <a:endParaRPr lang="en-US" sz="1050" dirty="0"/>
          </a:p>
        </p:txBody>
      </p:sp>
      <p:sp>
        <p:nvSpPr>
          <p:cNvPr id="3" name="Text 1"/>
          <p:cNvSpPr/>
          <p:nvPr/>
        </p:nvSpPr>
        <p:spPr>
          <a:xfrm>
            <a:off x="658368" y="932688"/>
            <a:ext cx="10835640" cy="594360"/>
          </a:xfrm>
          <a:prstGeom prst="rect">
            <a:avLst/>
          </a:prstGeom>
          <a:noFill/>
          <a:ln/>
        </p:spPr>
        <p:txBody>
          <a:bodyPr wrap="square" lIns="0" tIns="0" rIns="0" bIns="0" rtlCol="0" anchor="ctr">
            <a:normAutofit/>
          </a:bodyPr>
          <a:lstStyle/>
          <a:p>
            <a:pPr indent="0" marL="0">
              <a:buNone/>
            </a:pPr>
            <a:r>
              <a:rPr lang="en-US" sz="3600" b="1" dirty="0">
                <a:solidFill>
                  <a:srgbClr val="132524"/>
                </a:solidFill>
                <a:latin typeface="Aptos Display" pitchFamily="34" charset="0"/>
                <a:ea typeface="Aptos Display" pitchFamily="34" charset="-122"/>
                <a:cs typeface="Aptos Display" pitchFamily="34" charset="-120"/>
              </a:rPr>
              <a:t>Recall volume is high; consequences are operational.</a:t>
            </a:r>
            <a:endParaRPr lang="en-US" sz="3600" dirty="0"/>
          </a:p>
        </p:txBody>
      </p:sp>
      <p:sp>
        <p:nvSpPr>
          <p:cNvPr id="4" name="Text 2"/>
          <p:cNvSpPr/>
          <p:nvPr/>
        </p:nvSpPr>
        <p:spPr>
          <a:xfrm>
            <a:off x="658368" y="1572768"/>
            <a:ext cx="10789920" cy="530352"/>
          </a:xfrm>
          <a:prstGeom prst="rect">
            <a:avLst/>
          </a:prstGeom>
          <a:noFill/>
          <a:ln/>
        </p:spPr>
        <p:txBody>
          <a:bodyPr wrap="square" lIns="0" tIns="0" rIns="0" bIns="0" rtlCol="0" anchor="t">
            <a:normAutofit/>
          </a:bodyPr>
          <a:lstStyle/>
          <a:p>
            <a:pPr indent="0" marL="0">
              <a:buNone/>
            </a:pPr>
            <a:r>
              <a:rPr lang="en-US" sz="1600" dirty="0">
                <a:solidFill>
                  <a:srgbClr val="61706D"/>
                </a:solidFill>
                <a:latin typeface="Aptos" pitchFamily="34" charset="0"/>
                <a:ea typeface="Aptos" pitchFamily="34" charset="-122"/>
                <a:cs typeface="Aptos" pitchFamily="34" charset="-120"/>
              </a:rPr>
              <a:t>Public 2024 records show the scale. A single contaminated ingredient can intersect a perishable, high-throughput food-bank network.</a:t>
            </a:r>
            <a:endParaRPr lang="en-US" sz="1600" dirty="0"/>
          </a:p>
        </p:txBody>
      </p:sp>
      <p:sp>
        <p:nvSpPr>
          <p:cNvPr id="5" name="Shape 3"/>
          <p:cNvSpPr/>
          <p:nvPr/>
        </p:nvSpPr>
        <p:spPr>
          <a:xfrm>
            <a:off x="658368" y="2331720"/>
            <a:ext cx="2057400" cy="1444752"/>
          </a:xfrm>
          <a:prstGeom prst="roundRect">
            <a:avLst>
              <a:gd name="adj" fmla="val 5063"/>
            </a:avLst>
          </a:prstGeom>
          <a:solidFill>
            <a:srgbClr val="FFFDF8"/>
          </a:solidFill>
          <a:ln w="12700">
            <a:solidFill>
              <a:srgbClr val="D9D2C2"/>
            </a:solidFill>
            <a:prstDash val="solid"/>
          </a:ln>
        </p:spPr>
      </p:sp>
      <p:sp>
        <p:nvSpPr>
          <p:cNvPr id="6" name="Shape 4"/>
          <p:cNvSpPr/>
          <p:nvPr/>
        </p:nvSpPr>
        <p:spPr>
          <a:xfrm>
            <a:off x="658368" y="2331720"/>
            <a:ext cx="73152" cy="1444752"/>
          </a:xfrm>
          <a:prstGeom prst="rect">
            <a:avLst/>
          </a:prstGeom>
          <a:solidFill>
            <a:srgbClr val="B94735"/>
          </a:solidFill>
          <a:ln w="12700">
            <a:solidFill>
              <a:srgbClr val="B94735"/>
            </a:solidFill>
            <a:prstDash val="solid"/>
          </a:ln>
        </p:spPr>
      </p:sp>
      <p:sp>
        <p:nvSpPr>
          <p:cNvPr id="7" name="Text 5"/>
          <p:cNvSpPr/>
          <p:nvPr/>
        </p:nvSpPr>
        <p:spPr>
          <a:xfrm>
            <a:off x="841248" y="2478024"/>
            <a:ext cx="1737360" cy="411480"/>
          </a:xfrm>
          <a:prstGeom prst="rect">
            <a:avLst/>
          </a:prstGeom>
          <a:noFill/>
          <a:ln/>
        </p:spPr>
        <p:txBody>
          <a:bodyPr wrap="square" lIns="0" tIns="0" rIns="0" bIns="0" rtlCol="0" anchor="ctr">
            <a:normAutofit/>
          </a:bodyPr>
          <a:lstStyle/>
          <a:p>
            <a:pPr indent="0" marL="0">
              <a:buNone/>
            </a:pPr>
            <a:r>
              <a:rPr lang="en-US" sz="2500" b="1" dirty="0">
                <a:solidFill>
                  <a:srgbClr val="132524"/>
                </a:solidFill>
                <a:latin typeface="Aptos Display" pitchFamily="34" charset="0"/>
                <a:ea typeface="Aptos Display" pitchFamily="34" charset="-122"/>
                <a:cs typeface="Aptos Display" pitchFamily="34" charset="-120"/>
              </a:rPr>
              <a:t>482</a:t>
            </a:r>
            <a:endParaRPr lang="en-US" sz="2500" dirty="0"/>
          </a:p>
        </p:txBody>
      </p:sp>
      <p:sp>
        <p:nvSpPr>
          <p:cNvPr id="8" name="Text 6"/>
          <p:cNvSpPr/>
          <p:nvPr/>
        </p:nvSpPr>
        <p:spPr>
          <a:xfrm>
            <a:off x="841248" y="2907792"/>
            <a:ext cx="1737360" cy="310896"/>
          </a:xfrm>
          <a:prstGeom prst="rect">
            <a:avLst/>
          </a:prstGeom>
          <a:noFill/>
          <a:ln/>
        </p:spPr>
        <p:txBody>
          <a:bodyPr wrap="square" lIns="0" tIns="0" rIns="0" bIns="0" rtlCol="0" anchor="ctr">
            <a:normAutofit/>
          </a:bodyPr>
          <a:lstStyle/>
          <a:p>
            <a:pPr indent="0" marL="0">
              <a:buNone/>
            </a:pPr>
            <a:r>
              <a:rPr lang="en-US" sz="1050" b="1" dirty="0">
                <a:solidFill>
                  <a:srgbClr val="61706D"/>
                </a:solidFill>
                <a:latin typeface="Aptos" pitchFamily="34" charset="0"/>
                <a:ea typeface="Aptos" pitchFamily="34" charset="-122"/>
                <a:cs typeface="Aptos" pitchFamily="34" charset="-120"/>
              </a:rPr>
              <a:t>distinct FDA event IDs</a:t>
            </a:r>
            <a:endParaRPr lang="en-US" sz="1050" dirty="0"/>
          </a:p>
        </p:txBody>
      </p:sp>
      <p:sp>
        <p:nvSpPr>
          <p:cNvPr id="9" name="Text 7"/>
          <p:cNvSpPr/>
          <p:nvPr/>
        </p:nvSpPr>
        <p:spPr>
          <a:xfrm>
            <a:off x="841248" y="3474720"/>
            <a:ext cx="1737360" cy="201168"/>
          </a:xfrm>
          <a:prstGeom prst="rect">
            <a:avLst/>
          </a:prstGeom>
          <a:noFill/>
          <a:ln/>
        </p:spPr>
        <p:txBody>
          <a:bodyPr wrap="square" lIns="0" tIns="0" rIns="0" bIns="0" rtlCol="0" anchor="ctr">
            <a:normAutofit/>
          </a:bodyPr>
          <a:lstStyle/>
          <a:p>
            <a:pPr indent="0" marL="0">
              <a:buNone/>
            </a:pPr>
            <a:r>
              <a:rPr lang="en-US" sz="850" dirty="0">
                <a:solidFill>
                  <a:srgbClr val="61706D"/>
                </a:solidFill>
                <a:latin typeface="Aptos" pitchFamily="34" charset="0"/>
                <a:ea typeface="Aptos" pitchFamily="34" charset="-122"/>
                <a:cs typeface="Aptos" pitchFamily="34" charset="-120"/>
              </a:rPr>
              <a:t>1,387 product records initiated in 2024</a:t>
            </a:r>
            <a:endParaRPr lang="en-US" sz="850" dirty="0"/>
          </a:p>
        </p:txBody>
      </p:sp>
      <p:sp>
        <p:nvSpPr>
          <p:cNvPr id="10" name="Shape 8"/>
          <p:cNvSpPr/>
          <p:nvPr/>
        </p:nvSpPr>
        <p:spPr>
          <a:xfrm>
            <a:off x="2926080" y="2331720"/>
            <a:ext cx="2057400" cy="1444752"/>
          </a:xfrm>
          <a:prstGeom prst="roundRect">
            <a:avLst>
              <a:gd name="adj" fmla="val 5063"/>
            </a:avLst>
          </a:prstGeom>
          <a:solidFill>
            <a:srgbClr val="FFFDF8"/>
          </a:solidFill>
          <a:ln w="12700">
            <a:solidFill>
              <a:srgbClr val="D9D2C2"/>
            </a:solidFill>
            <a:prstDash val="solid"/>
          </a:ln>
        </p:spPr>
      </p:sp>
      <p:sp>
        <p:nvSpPr>
          <p:cNvPr id="11" name="Shape 9"/>
          <p:cNvSpPr/>
          <p:nvPr/>
        </p:nvSpPr>
        <p:spPr>
          <a:xfrm>
            <a:off x="2926080" y="2331720"/>
            <a:ext cx="73152" cy="1444752"/>
          </a:xfrm>
          <a:prstGeom prst="rect">
            <a:avLst/>
          </a:prstGeom>
          <a:solidFill>
            <a:srgbClr val="1D6B62"/>
          </a:solidFill>
          <a:ln w="12700">
            <a:solidFill>
              <a:srgbClr val="1D6B62"/>
            </a:solidFill>
            <a:prstDash val="solid"/>
          </a:ln>
        </p:spPr>
      </p:sp>
      <p:sp>
        <p:nvSpPr>
          <p:cNvPr id="12" name="Text 10"/>
          <p:cNvSpPr/>
          <p:nvPr/>
        </p:nvSpPr>
        <p:spPr>
          <a:xfrm>
            <a:off x="3108960" y="2478024"/>
            <a:ext cx="1737360" cy="411480"/>
          </a:xfrm>
          <a:prstGeom prst="rect">
            <a:avLst/>
          </a:prstGeom>
          <a:noFill/>
          <a:ln/>
        </p:spPr>
        <p:txBody>
          <a:bodyPr wrap="square" lIns="0" tIns="0" rIns="0" bIns="0" rtlCol="0" anchor="ctr">
            <a:normAutofit/>
          </a:bodyPr>
          <a:lstStyle/>
          <a:p>
            <a:pPr indent="0" marL="0">
              <a:buNone/>
            </a:pPr>
            <a:r>
              <a:rPr lang="en-US" sz="2500" b="1" dirty="0">
                <a:solidFill>
                  <a:srgbClr val="132524"/>
                </a:solidFill>
                <a:latin typeface="Aptos Display" pitchFamily="34" charset="0"/>
                <a:ea typeface="Aptos Display" pitchFamily="34" charset="-122"/>
                <a:cs typeface="Aptos Display" pitchFamily="34" charset="-120"/>
              </a:rPr>
              <a:t>34 + 19</a:t>
            </a:r>
            <a:endParaRPr lang="en-US" sz="2500" dirty="0"/>
          </a:p>
        </p:txBody>
      </p:sp>
      <p:sp>
        <p:nvSpPr>
          <p:cNvPr id="13" name="Text 11"/>
          <p:cNvSpPr/>
          <p:nvPr/>
        </p:nvSpPr>
        <p:spPr>
          <a:xfrm>
            <a:off x="3108960" y="2907792"/>
            <a:ext cx="1737360" cy="310896"/>
          </a:xfrm>
          <a:prstGeom prst="rect">
            <a:avLst/>
          </a:prstGeom>
          <a:noFill/>
          <a:ln/>
        </p:spPr>
        <p:txBody>
          <a:bodyPr wrap="square" lIns="0" tIns="0" rIns="0" bIns="0" rtlCol="0" anchor="ctr">
            <a:normAutofit/>
          </a:bodyPr>
          <a:lstStyle/>
          <a:p>
            <a:pPr indent="0" marL="0">
              <a:buNone/>
            </a:pPr>
            <a:r>
              <a:rPr lang="en-US" sz="1050" b="1" dirty="0">
                <a:solidFill>
                  <a:srgbClr val="61706D"/>
                </a:solidFill>
                <a:latin typeface="Aptos" pitchFamily="34" charset="0"/>
                <a:ea typeface="Aptos" pitchFamily="34" charset="-122"/>
                <a:cs typeface="Aptos" pitchFamily="34" charset="-120"/>
              </a:rPr>
              <a:t>FSIS recalls + PHAs</a:t>
            </a:r>
            <a:endParaRPr lang="en-US" sz="1050" dirty="0"/>
          </a:p>
        </p:txBody>
      </p:sp>
      <p:sp>
        <p:nvSpPr>
          <p:cNvPr id="14" name="Text 12"/>
          <p:cNvSpPr/>
          <p:nvPr/>
        </p:nvSpPr>
        <p:spPr>
          <a:xfrm>
            <a:off x="3108960" y="3474720"/>
            <a:ext cx="1737360" cy="201168"/>
          </a:xfrm>
          <a:prstGeom prst="rect">
            <a:avLst/>
          </a:prstGeom>
          <a:noFill/>
          <a:ln/>
        </p:spPr>
        <p:txBody>
          <a:bodyPr wrap="square" lIns="0" tIns="0" rIns="0" bIns="0" rtlCol="0" anchor="ctr">
            <a:normAutofit/>
          </a:bodyPr>
          <a:lstStyle/>
          <a:p>
            <a:pPr indent="0" marL="0">
              <a:buNone/>
            </a:pPr>
            <a:r>
              <a:rPr lang="en-US" sz="850" dirty="0">
                <a:solidFill>
                  <a:srgbClr val="61706D"/>
                </a:solidFill>
                <a:latin typeface="Aptos" pitchFamily="34" charset="0"/>
                <a:ea typeface="Aptos" pitchFamily="34" charset="-122"/>
                <a:cs typeface="Aptos" pitchFamily="34" charset="-120"/>
              </a:rPr>
              <a:t>numbered recalls and public-health alerts</a:t>
            </a:r>
            <a:endParaRPr lang="en-US" sz="850" dirty="0"/>
          </a:p>
        </p:txBody>
      </p:sp>
      <p:sp>
        <p:nvSpPr>
          <p:cNvPr id="15" name="Shape 13"/>
          <p:cNvSpPr/>
          <p:nvPr/>
        </p:nvSpPr>
        <p:spPr>
          <a:xfrm>
            <a:off x="5193792" y="2331720"/>
            <a:ext cx="2057400" cy="1444752"/>
          </a:xfrm>
          <a:prstGeom prst="roundRect">
            <a:avLst>
              <a:gd name="adj" fmla="val 5063"/>
            </a:avLst>
          </a:prstGeom>
          <a:solidFill>
            <a:srgbClr val="FFFDF8"/>
          </a:solidFill>
          <a:ln w="12700">
            <a:solidFill>
              <a:srgbClr val="D9D2C2"/>
            </a:solidFill>
            <a:prstDash val="solid"/>
          </a:ln>
        </p:spPr>
      </p:sp>
      <p:sp>
        <p:nvSpPr>
          <p:cNvPr id="16" name="Shape 14"/>
          <p:cNvSpPr/>
          <p:nvPr/>
        </p:nvSpPr>
        <p:spPr>
          <a:xfrm>
            <a:off x="5193792" y="2331720"/>
            <a:ext cx="73152" cy="1444752"/>
          </a:xfrm>
          <a:prstGeom prst="rect">
            <a:avLst/>
          </a:prstGeom>
          <a:solidFill>
            <a:srgbClr val="B94735"/>
          </a:solidFill>
          <a:ln w="12700">
            <a:solidFill>
              <a:srgbClr val="B94735"/>
            </a:solidFill>
            <a:prstDash val="solid"/>
          </a:ln>
        </p:spPr>
      </p:sp>
      <p:sp>
        <p:nvSpPr>
          <p:cNvPr id="17" name="Text 15"/>
          <p:cNvSpPr/>
          <p:nvPr/>
        </p:nvSpPr>
        <p:spPr>
          <a:xfrm>
            <a:off x="5376672" y="2478024"/>
            <a:ext cx="1737360" cy="411480"/>
          </a:xfrm>
          <a:prstGeom prst="rect">
            <a:avLst/>
          </a:prstGeom>
          <a:noFill/>
          <a:ln/>
        </p:spPr>
        <p:txBody>
          <a:bodyPr wrap="square" lIns="0" tIns="0" rIns="0" bIns="0" rtlCol="0" anchor="ctr">
            <a:normAutofit/>
          </a:bodyPr>
          <a:lstStyle/>
          <a:p>
            <a:pPr indent="0" marL="0">
              <a:buNone/>
            </a:pPr>
            <a:r>
              <a:rPr lang="en-US" sz="2500" b="1" dirty="0">
                <a:solidFill>
                  <a:srgbClr val="132524"/>
                </a:solidFill>
                <a:latin typeface="Aptos Display" pitchFamily="34" charset="0"/>
                <a:ea typeface="Aptos Display" pitchFamily="34" charset="-122"/>
                <a:cs typeface="Aptos Display" pitchFamily="34" charset="-120"/>
              </a:rPr>
              <a:t>104</a:t>
            </a:r>
            <a:endParaRPr lang="en-US" sz="2500" dirty="0"/>
          </a:p>
        </p:txBody>
      </p:sp>
      <p:sp>
        <p:nvSpPr>
          <p:cNvPr id="18" name="Text 16"/>
          <p:cNvSpPr/>
          <p:nvPr/>
        </p:nvSpPr>
        <p:spPr>
          <a:xfrm>
            <a:off x="5376672" y="2907792"/>
            <a:ext cx="1737360" cy="310896"/>
          </a:xfrm>
          <a:prstGeom prst="rect">
            <a:avLst/>
          </a:prstGeom>
          <a:noFill/>
          <a:ln/>
        </p:spPr>
        <p:txBody>
          <a:bodyPr wrap="square" lIns="0" tIns="0" rIns="0" bIns="0" rtlCol="0" anchor="ctr">
            <a:normAutofit/>
          </a:bodyPr>
          <a:lstStyle/>
          <a:p>
            <a:pPr indent="0" marL="0">
              <a:buNone/>
            </a:pPr>
            <a:r>
              <a:rPr lang="en-US" sz="1050" b="1" dirty="0">
                <a:solidFill>
                  <a:srgbClr val="61706D"/>
                </a:solidFill>
                <a:latin typeface="Aptos" pitchFamily="34" charset="0"/>
                <a:ea typeface="Aptos" pitchFamily="34" charset="-122"/>
                <a:cs typeface="Aptos" pitchFamily="34" charset="-120"/>
              </a:rPr>
              <a:t>onion-outbreak cases</a:t>
            </a:r>
            <a:endParaRPr lang="en-US" sz="1050" dirty="0"/>
          </a:p>
        </p:txBody>
      </p:sp>
      <p:sp>
        <p:nvSpPr>
          <p:cNvPr id="19" name="Text 17"/>
          <p:cNvSpPr/>
          <p:nvPr/>
        </p:nvSpPr>
        <p:spPr>
          <a:xfrm>
            <a:off x="5376672" y="3474720"/>
            <a:ext cx="1737360" cy="201168"/>
          </a:xfrm>
          <a:prstGeom prst="rect">
            <a:avLst/>
          </a:prstGeom>
          <a:noFill/>
          <a:ln/>
        </p:spPr>
        <p:txBody>
          <a:bodyPr wrap="square" lIns="0" tIns="0" rIns="0" bIns="0" rtlCol="0" anchor="ctr">
            <a:normAutofit/>
          </a:bodyPr>
          <a:lstStyle/>
          <a:p>
            <a:pPr indent="0" marL="0">
              <a:buNone/>
            </a:pPr>
            <a:r>
              <a:rPr lang="en-US" sz="850" dirty="0">
                <a:solidFill>
                  <a:srgbClr val="61706D"/>
                </a:solidFill>
                <a:latin typeface="Aptos" pitchFamily="34" charset="0"/>
                <a:ea typeface="Aptos" pitchFamily="34" charset="-122"/>
                <a:cs typeface="Aptos" pitchFamily="34" charset="-120"/>
              </a:rPr>
              <a:t>34 hospitalized, 1 death, 14 states</a:t>
            </a:r>
            <a:endParaRPr lang="en-US" sz="850" dirty="0"/>
          </a:p>
        </p:txBody>
      </p:sp>
      <p:sp>
        <p:nvSpPr>
          <p:cNvPr id="20" name="Shape 18"/>
          <p:cNvSpPr/>
          <p:nvPr/>
        </p:nvSpPr>
        <p:spPr>
          <a:xfrm>
            <a:off x="7635240" y="2331720"/>
            <a:ext cx="3913632" cy="3429000"/>
          </a:xfrm>
          <a:prstGeom prst="roundRect">
            <a:avLst>
              <a:gd name="adj" fmla="val 2133"/>
            </a:avLst>
          </a:prstGeom>
          <a:solidFill>
            <a:srgbClr val="143B37"/>
          </a:solidFill>
          <a:ln w="12700">
            <a:solidFill>
              <a:srgbClr val="143B37"/>
            </a:solidFill>
            <a:prstDash val="solid"/>
          </a:ln>
        </p:spPr>
      </p:sp>
      <p:sp>
        <p:nvSpPr>
          <p:cNvPr id="21" name="Text 19"/>
          <p:cNvSpPr/>
          <p:nvPr/>
        </p:nvSpPr>
        <p:spPr>
          <a:xfrm>
            <a:off x="8028432" y="2651760"/>
            <a:ext cx="3108960" cy="310896"/>
          </a:xfrm>
          <a:prstGeom prst="rect">
            <a:avLst/>
          </a:prstGeom>
          <a:noFill/>
          <a:ln/>
        </p:spPr>
        <p:txBody>
          <a:bodyPr wrap="square" lIns="0" tIns="0" rIns="0" bIns="0" rtlCol="0" anchor="ctr">
            <a:normAutofit/>
          </a:bodyPr>
          <a:lstStyle/>
          <a:p>
            <a:pPr indent="0" marL="0">
              <a:buNone/>
            </a:pPr>
            <a:r>
              <a:rPr lang="en-US" sz="1400" b="1" dirty="0">
                <a:solidFill>
                  <a:srgbClr val="FFFDF8"/>
                </a:solidFill>
                <a:latin typeface="Aptos" pitchFamily="34" charset="0"/>
                <a:ea typeface="Aptos" pitchFamily="34" charset="-122"/>
                <a:cs typeface="Aptos" pitchFamily="34" charset="-120"/>
              </a:rPr>
              <a:t>A reference food-bank network</a:t>
            </a:r>
            <a:endParaRPr lang="en-US" sz="1400" dirty="0"/>
          </a:p>
        </p:txBody>
      </p:sp>
      <p:sp>
        <p:nvSpPr>
          <p:cNvPr id="22" name="Text 20"/>
          <p:cNvSpPr/>
          <p:nvPr/>
        </p:nvSpPr>
        <p:spPr>
          <a:xfrm>
            <a:off x="8028432" y="3154680"/>
            <a:ext cx="1828800" cy="475488"/>
          </a:xfrm>
          <a:prstGeom prst="rect">
            <a:avLst/>
          </a:prstGeom>
          <a:noFill/>
          <a:ln/>
        </p:spPr>
        <p:txBody>
          <a:bodyPr wrap="square" lIns="0" tIns="0" rIns="0" bIns="0" rtlCol="0" anchor="ctr">
            <a:normAutofit/>
          </a:bodyPr>
          <a:lstStyle/>
          <a:p>
            <a:pPr indent="0" marL="0">
              <a:buNone/>
            </a:pPr>
            <a:r>
              <a:rPr lang="en-US" sz="3100" b="1" dirty="0">
                <a:solidFill>
                  <a:srgbClr val="FFFDF8"/>
                </a:solidFill>
                <a:latin typeface="Aptos Display" pitchFamily="34" charset="0"/>
                <a:ea typeface="Aptos Display" pitchFamily="34" charset="-122"/>
                <a:cs typeface="Aptos Display" pitchFamily="34" charset="-120"/>
              </a:rPr>
              <a:t>67M lb</a:t>
            </a:r>
            <a:endParaRPr lang="en-US" sz="3100" dirty="0"/>
          </a:p>
        </p:txBody>
      </p:sp>
      <p:sp>
        <p:nvSpPr>
          <p:cNvPr id="23" name="Text 21"/>
          <p:cNvSpPr/>
          <p:nvPr/>
        </p:nvSpPr>
        <p:spPr>
          <a:xfrm>
            <a:off x="9720072" y="3255264"/>
            <a:ext cx="1298448" cy="274320"/>
          </a:xfrm>
          <a:prstGeom prst="rect">
            <a:avLst/>
          </a:prstGeom>
          <a:noFill/>
          <a:ln/>
        </p:spPr>
        <p:txBody>
          <a:bodyPr wrap="square" lIns="0" tIns="0" rIns="0" bIns="0" rtlCol="0" anchor="ctr">
            <a:normAutofit/>
          </a:bodyPr>
          <a:lstStyle/>
          <a:p>
            <a:pPr indent="0" marL="0">
              <a:buNone/>
            </a:pPr>
            <a:r>
              <a:rPr lang="en-US" sz="1050" dirty="0">
                <a:solidFill>
                  <a:srgbClr val="78B7A9"/>
                </a:solidFill>
                <a:latin typeface="Aptos" pitchFamily="34" charset="0"/>
                <a:ea typeface="Aptos" pitchFamily="34" charset="-122"/>
                <a:cs typeface="Aptos" pitchFamily="34" charset="-120"/>
              </a:rPr>
              <a:t>distributed in FY2024</a:t>
            </a:r>
            <a:endParaRPr lang="en-US" sz="1050" dirty="0"/>
          </a:p>
        </p:txBody>
      </p:sp>
      <p:sp>
        <p:nvSpPr>
          <p:cNvPr id="24" name="Text 22"/>
          <p:cNvSpPr/>
          <p:nvPr/>
        </p:nvSpPr>
        <p:spPr>
          <a:xfrm>
            <a:off x="8028432" y="3895344"/>
            <a:ext cx="2194560" cy="228600"/>
          </a:xfrm>
          <a:prstGeom prst="rect">
            <a:avLst/>
          </a:prstGeom>
          <a:noFill/>
          <a:ln/>
        </p:spPr>
        <p:txBody>
          <a:bodyPr wrap="square" lIns="0" tIns="0" rIns="0" bIns="0" rtlCol="0" anchor="ctr">
            <a:normAutofit/>
          </a:bodyPr>
          <a:lstStyle/>
          <a:p>
            <a:pPr indent="0" marL="0">
              <a:buNone/>
            </a:pPr>
            <a:r>
              <a:rPr lang="en-US" sz="1050" b="1" dirty="0">
                <a:solidFill>
                  <a:srgbClr val="FFFDF8"/>
                </a:solidFill>
                <a:latin typeface="Aptos" pitchFamily="34" charset="0"/>
                <a:ea typeface="Aptos" pitchFamily="34" charset="-122"/>
                <a:cs typeface="Aptos" pitchFamily="34" charset="-120"/>
              </a:rPr>
              <a:t>Fresh product share</a:t>
            </a:r>
            <a:endParaRPr lang="en-US" sz="1050" dirty="0"/>
          </a:p>
        </p:txBody>
      </p:sp>
      <p:sp>
        <p:nvSpPr>
          <p:cNvPr id="25" name="Shape 23"/>
          <p:cNvSpPr/>
          <p:nvPr/>
        </p:nvSpPr>
        <p:spPr>
          <a:xfrm>
            <a:off x="8028432" y="4224528"/>
            <a:ext cx="3063240" cy="320040"/>
          </a:xfrm>
          <a:prstGeom prst="roundRect">
            <a:avLst/>
          </a:prstGeom>
          <a:solidFill>
            <a:srgbClr val="48635E"/>
          </a:solidFill>
          <a:ln w="12700">
            <a:solidFill>
              <a:srgbClr val="48635E"/>
            </a:solidFill>
            <a:prstDash val="solid"/>
          </a:ln>
        </p:spPr>
      </p:sp>
      <p:sp>
        <p:nvSpPr>
          <p:cNvPr id="26" name="Shape 24"/>
          <p:cNvSpPr/>
          <p:nvPr/>
        </p:nvSpPr>
        <p:spPr>
          <a:xfrm>
            <a:off x="8028432" y="4224528"/>
            <a:ext cx="2148840" cy="320040"/>
          </a:xfrm>
          <a:prstGeom prst="roundRect">
            <a:avLst/>
          </a:prstGeom>
          <a:solidFill>
            <a:srgbClr val="B94735"/>
          </a:solidFill>
          <a:ln w="12700">
            <a:solidFill>
              <a:srgbClr val="B94735"/>
            </a:solidFill>
            <a:prstDash val="solid"/>
          </a:ln>
        </p:spPr>
      </p:sp>
      <p:sp>
        <p:nvSpPr>
          <p:cNvPr id="27" name="Text 25"/>
          <p:cNvSpPr/>
          <p:nvPr/>
        </p:nvSpPr>
        <p:spPr>
          <a:xfrm>
            <a:off x="9400032" y="4215384"/>
            <a:ext cx="658368" cy="265176"/>
          </a:xfrm>
          <a:prstGeom prst="rect">
            <a:avLst/>
          </a:prstGeom>
          <a:noFill/>
          <a:ln/>
        </p:spPr>
        <p:txBody>
          <a:bodyPr wrap="square" lIns="0" tIns="0" rIns="0" bIns="0" rtlCol="0" anchor="ctr">
            <a:normAutofit/>
          </a:bodyPr>
          <a:lstStyle/>
          <a:p>
            <a:pPr algn="r" indent="0" marL="0">
              <a:buNone/>
            </a:pPr>
            <a:r>
              <a:rPr lang="en-US" sz="1200" b="1" dirty="0">
                <a:solidFill>
                  <a:srgbClr val="FFFDF8"/>
                </a:solidFill>
                <a:latin typeface="Aptos" pitchFamily="34" charset="0"/>
                <a:ea typeface="Aptos" pitchFamily="34" charset="-122"/>
                <a:cs typeface="Aptos" pitchFamily="34" charset="-120"/>
              </a:rPr>
              <a:t>~70%</a:t>
            </a:r>
            <a:endParaRPr lang="en-US" sz="1200" dirty="0"/>
          </a:p>
        </p:txBody>
      </p:sp>
      <p:sp>
        <p:nvSpPr>
          <p:cNvPr id="28" name="Text 26"/>
          <p:cNvSpPr/>
          <p:nvPr/>
        </p:nvSpPr>
        <p:spPr>
          <a:xfrm>
            <a:off x="8028432" y="4828032"/>
            <a:ext cx="1005840" cy="356616"/>
          </a:xfrm>
          <a:prstGeom prst="rect">
            <a:avLst/>
          </a:prstGeom>
          <a:noFill/>
          <a:ln/>
        </p:spPr>
        <p:txBody>
          <a:bodyPr wrap="square" lIns="0" tIns="0" rIns="0" bIns="0" rtlCol="0" anchor="ctr">
            <a:normAutofit/>
          </a:bodyPr>
          <a:lstStyle/>
          <a:p>
            <a:pPr indent="0" marL="0">
              <a:buNone/>
            </a:pPr>
            <a:r>
              <a:rPr lang="en-US" sz="2300" b="1" dirty="0">
                <a:solidFill>
                  <a:srgbClr val="FFFDF8"/>
                </a:solidFill>
                <a:latin typeface="Aptos" pitchFamily="34" charset="0"/>
                <a:ea typeface="Aptos" pitchFamily="34" charset="-122"/>
                <a:cs typeface="Aptos" pitchFamily="34" charset="-120"/>
              </a:rPr>
              <a:t>53k</a:t>
            </a:r>
            <a:endParaRPr lang="en-US" sz="2300" dirty="0"/>
          </a:p>
        </p:txBody>
      </p:sp>
      <p:sp>
        <p:nvSpPr>
          <p:cNvPr id="29" name="Text 27"/>
          <p:cNvSpPr/>
          <p:nvPr/>
        </p:nvSpPr>
        <p:spPr>
          <a:xfrm>
            <a:off x="8028432" y="5230368"/>
            <a:ext cx="1417320" cy="237744"/>
          </a:xfrm>
          <a:prstGeom prst="rect">
            <a:avLst/>
          </a:prstGeom>
          <a:noFill/>
          <a:ln/>
        </p:spPr>
        <p:txBody>
          <a:bodyPr wrap="square" lIns="0" tIns="0" rIns="0" bIns="0" rtlCol="0" anchor="ctr">
            <a:normAutofit/>
          </a:bodyPr>
          <a:lstStyle/>
          <a:p>
            <a:pPr indent="0" marL="0">
              <a:buNone/>
            </a:pPr>
            <a:r>
              <a:rPr lang="en-US" sz="930" dirty="0">
                <a:solidFill>
                  <a:srgbClr val="78B7A9"/>
                </a:solidFill>
                <a:latin typeface="Aptos" pitchFamily="34" charset="0"/>
                <a:ea typeface="Aptos" pitchFamily="34" charset="-122"/>
                <a:cs typeface="Aptos" pitchFamily="34" charset="-120"/>
              </a:rPr>
              <a:t>households / week</a:t>
            </a:r>
            <a:endParaRPr lang="en-US" sz="930" dirty="0"/>
          </a:p>
        </p:txBody>
      </p:sp>
      <p:sp>
        <p:nvSpPr>
          <p:cNvPr id="30" name="Text 28"/>
          <p:cNvSpPr/>
          <p:nvPr/>
        </p:nvSpPr>
        <p:spPr>
          <a:xfrm>
            <a:off x="10012680" y="4828032"/>
            <a:ext cx="777240" cy="356616"/>
          </a:xfrm>
          <a:prstGeom prst="rect">
            <a:avLst/>
          </a:prstGeom>
          <a:noFill/>
          <a:ln/>
        </p:spPr>
        <p:txBody>
          <a:bodyPr wrap="square" lIns="0" tIns="0" rIns="0" bIns="0" rtlCol="0" anchor="ctr">
            <a:normAutofit/>
          </a:bodyPr>
          <a:lstStyle/>
          <a:p>
            <a:pPr indent="0" marL="0">
              <a:buNone/>
            </a:pPr>
            <a:r>
              <a:rPr lang="en-US" sz="2300" b="1" dirty="0">
                <a:solidFill>
                  <a:srgbClr val="FFFDF8"/>
                </a:solidFill>
                <a:latin typeface="Aptos" pitchFamily="34" charset="0"/>
                <a:ea typeface="Aptos" pitchFamily="34" charset="-122"/>
                <a:cs typeface="Aptos" pitchFamily="34" charset="-120"/>
              </a:rPr>
              <a:t>215</a:t>
            </a:r>
            <a:endParaRPr lang="en-US" sz="2300" dirty="0"/>
          </a:p>
        </p:txBody>
      </p:sp>
      <p:sp>
        <p:nvSpPr>
          <p:cNvPr id="31" name="Text 29"/>
          <p:cNvSpPr/>
          <p:nvPr/>
        </p:nvSpPr>
        <p:spPr>
          <a:xfrm>
            <a:off x="10012680" y="5230368"/>
            <a:ext cx="822960" cy="237744"/>
          </a:xfrm>
          <a:prstGeom prst="rect">
            <a:avLst/>
          </a:prstGeom>
          <a:noFill/>
          <a:ln/>
        </p:spPr>
        <p:txBody>
          <a:bodyPr wrap="square" lIns="0" tIns="0" rIns="0" bIns="0" rtlCol="0" anchor="ctr">
            <a:normAutofit/>
          </a:bodyPr>
          <a:lstStyle/>
          <a:p>
            <a:pPr indent="0" marL="0">
              <a:buNone/>
            </a:pPr>
            <a:r>
              <a:rPr lang="en-US" sz="930" dirty="0">
                <a:solidFill>
                  <a:srgbClr val="78B7A9"/>
                </a:solidFill>
                <a:latin typeface="Aptos" pitchFamily="34" charset="0"/>
                <a:ea typeface="Aptos" pitchFamily="34" charset="-122"/>
                <a:cs typeface="Aptos" pitchFamily="34" charset="-120"/>
              </a:rPr>
              <a:t>pantries</a:t>
            </a:r>
            <a:endParaRPr lang="en-US" sz="930" dirty="0"/>
          </a:p>
        </p:txBody>
      </p:sp>
      <p:sp>
        <p:nvSpPr>
          <p:cNvPr id="32" name="Text 30"/>
          <p:cNvSpPr/>
          <p:nvPr/>
        </p:nvSpPr>
        <p:spPr>
          <a:xfrm>
            <a:off x="658368" y="4572000"/>
            <a:ext cx="6583680" cy="777240"/>
          </a:xfrm>
          <a:prstGeom prst="rect">
            <a:avLst/>
          </a:prstGeom>
          <a:noFill/>
          <a:ln/>
        </p:spPr>
        <p:txBody>
          <a:bodyPr wrap="square" lIns="0" tIns="0" rIns="0" bIns="0" rtlCol="0" anchor="t">
            <a:normAutofit/>
          </a:bodyPr>
          <a:lstStyle/>
          <a:p>
            <a:pPr indent="0" marL="0">
              <a:buNone/>
            </a:pPr>
            <a:r>
              <a:rPr lang="en-US" sz="2200" b="1" dirty="0">
                <a:solidFill>
                  <a:srgbClr val="132524"/>
                </a:solidFill>
                <a:latin typeface="Aptos Display" pitchFamily="34" charset="0"/>
                <a:ea typeface="Aptos Display" pitchFamily="34" charset="-122"/>
                <a:cs typeface="Aptos Display" pitchFamily="34" charset="-120"/>
              </a:rPr>
              <a:t>The constraint is not only finding recalled product. It is restoring service without reintroducing risk.</a:t>
            </a:r>
            <a:endParaRPr lang="en-US" sz="2200" dirty="0"/>
          </a:p>
        </p:txBody>
      </p:sp>
      <p:sp>
        <p:nvSpPr>
          <p:cNvPr id="33" name="Shape 31"/>
          <p:cNvSpPr/>
          <p:nvPr/>
        </p:nvSpPr>
        <p:spPr>
          <a:xfrm>
            <a:off x="658368" y="5623560"/>
            <a:ext cx="841248" cy="274320"/>
          </a:xfrm>
          <a:prstGeom prst="roundRect">
            <a:avLst/>
          </a:prstGeom>
          <a:solidFill>
            <a:srgbClr val="B94735"/>
          </a:solidFill>
          <a:ln w="12700">
            <a:solidFill>
              <a:srgbClr val="B94735"/>
            </a:solidFill>
            <a:prstDash val="solid"/>
          </a:ln>
        </p:spPr>
      </p:sp>
      <p:sp>
        <p:nvSpPr>
          <p:cNvPr id="34" name="Text 32"/>
          <p:cNvSpPr/>
          <p:nvPr/>
        </p:nvSpPr>
        <p:spPr>
          <a:xfrm>
            <a:off x="731520" y="5650992"/>
            <a:ext cx="694944" cy="210312"/>
          </a:xfrm>
          <a:prstGeom prst="rect">
            <a:avLst/>
          </a:prstGeom>
          <a:noFill/>
          <a:ln/>
        </p:spPr>
        <p:txBody>
          <a:bodyPr wrap="square" lIns="0" tIns="0" rIns="0" bIns="0" rtlCol="0" anchor="ctr">
            <a:normAutofit/>
          </a:bodyPr>
          <a:lstStyle/>
          <a:p>
            <a:pPr algn="ctr" indent="0" marL="0">
              <a:buNone/>
            </a:pPr>
            <a:r>
              <a:rPr lang="en-US" sz="900" b="1" dirty="0">
                <a:solidFill>
                  <a:srgbClr val="FFFFFF"/>
                </a:solidFill>
                <a:latin typeface="Aptos" pitchFamily="34" charset="0"/>
                <a:ea typeface="Aptos" pitchFamily="34" charset="-122"/>
                <a:cs typeface="Aptos" pitchFamily="34" charset="-120"/>
              </a:rPr>
              <a:t>SAFETY</a:t>
            </a:r>
            <a:endParaRPr lang="en-US" sz="900" dirty="0"/>
          </a:p>
        </p:txBody>
      </p:sp>
      <p:sp>
        <p:nvSpPr>
          <p:cNvPr id="35" name="Text 33"/>
          <p:cNvSpPr/>
          <p:nvPr/>
        </p:nvSpPr>
        <p:spPr>
          <a:xfrm>
            <a:off x="1664208" y="5586984"/>
            <a:ext cx="5577840" cy="384048"/>
          </a:xfrm>
          <a:prstGeom prst="rect">
            <a:avLst/>
          </a:prstGeom>
          <a:noFill/>
          <a:ln/>
        </p:spPr>
        <p:txBody>
          <a:bodyPr wrap="square" lIns="0" tIns="0" rIns="0" bIns="0" rtlCol="0" anchor="ctr">
            <a:normAutofit/>
          </a:bodyPr>
          <a:lstStyle/>
          <a:p>
            <a:pPr indent="0" marL="0">
              <a:buNone/>
            </a:pPr>
            <a:r>
              <a:rPr lang="en-US" sz="1350" dirty="0">
                <a:solidFill>
                  <a:srgbClr val="61706D"/>
                </a:solidFill>
                <a:latin typeface="Aptos" pitchFamily="34" charset="0"/>
                <a:ea typeface="Aptos" pitchFamily="34" charset="-122"/>
                <a:cs typeface="Aptos" pitchFamily="34" charset="-120"/>
              </a:rPr>
              <a:t>Quarantine, cancellation, and lot-state exclusions must survive every scenario and plan.</a:t>
            </a:r>
            <a:endParaRPr lang="en-US" sz="1350" dirty="0"/>
          </a:p>
        </p:txBody>
      </p:sp>
      <p:sp>
        <p:nvSpPr>
          <p:cNvPr id="36" name="Text 34"/>
          <p:cNvSpPr/>
          <p:nvPr/>
        </p:nvSpPr>
        <p:spPr>
          <a:xfrm>
            <a:off x="658368" y="6419088"/>
            <a:ext cx="10469880" cy="210312"/>
          </a:xfrm>
          <a:prstGeom prst="rect">
            <a:avLst/>
          </a:prstGeom>
          <a:noFill/>
          <a:ln/>
        </p:spPr>
        <p:txBody>
          <a:bodyPr wrap="square" lIns="0" tIns="0" rIns="0" bIns="0" rtlCol="0" anchor="ctr">
            <a:normAutofit/>
          </a:bodyPr>
          <a:lstStyle/>
          <a:p>
            <a:pPr indent="0" marL="0">
              <a:buNone/>
            </a:pPr>
            <a:r>
              <a:rPr lang="en-US" sz="850" dirty="0">
                <a:solidFill>
                  <a:srgbClr val="61706D"/>
                </a:solidFill>
                <a:latin typeface="Aptos" pitchFamily="34" charset="0"/>
                <a:ea typeface="Aptos" pitchFamily="34" charset="-122"/>
                <a:cs typeface="Aptos" pitchFamily="34" charset="-120"/>
              </a:rPr>
              <a:t>Counts retrieved for calendar year 2024; event/product distinction preserved.  </a:t>
            </a:r>
            <a:pPr indent="0" marL="0">
              <a:buNone/>
            </a:pPr>
            <a:r>
              <a:rPr lang="en-US" sz="850" u="sng" dirty="0">
                <a:solidFill>
                  <a:srgbClr val="1D6B62"/>
                </a:solidFill>
                <a:uFill>
                  <a:solidFill>
                    <a:srgbClr val="1D6B62"/>
                  </a:solidFill>
                </a:uFill>
                <a:latin typeface="Aptos" pitchFamily="34" charset="0"/>
                <a:ea typeface="Aptos" pitchFamily="34" charset="-122"/>
                <a:cs typeface="Aptos" pitchFamily="34" charset="-120"/>
                <a:hlinkClick r:id="rId1" invalidUrl="" action="" tgtFrame="" tooltip="openFDA enforcement API" history="1" highlightClick="0" endSnd="0">
                  <a:extLst>
                    <a:ext uri="{A12FA001-AC4F-418D-AE19-62706E023703}">
                      <ahyp:hlinkClr xmlns:ahyp="http://schemas.microsoft.com/office/drawing/2018/hyperlinkcolor" val="tx"/>
                    </a:ext>
                  </a:extLst>
                </a:hlinkClick>
              </a:rPr>
              <a:t>openFDA enforcement API</a:t>
            </a:r>
            <a:pPr indent="0" marL="0">
              <a:buNone/>
            </a:pPr>
            <a:r>
              <a:rPr lang="en-US" sz="850" dirty="0">
                <a:solidFill>
                  <a:srgbClr val="D9D2C2"/>
                </a:solidFill>
                <a:latin typeface="Aptos" pitchFamily="34" charset="0"/>
                <a:ea typeface="Aptos" pitchFamily="34" charset="-122"/>
                <a:cs typeface="Aptos" pitchFamily="34" charset="-120"/>
              </a:rPr>
              <a:t>  |  </a:t>
            </a:r>
            <a:pPr indent="0" marL="0">
              <a:buNone/>
            </a:pPr>
            <a:r>
              <a:rPr lang="en-US" sz="850" u="sng" dirty="0">
                <a:solidFill>
                  <a:srgbClr val="1D6B62"/>
                </a:solidFill>
                <a:uFill>
                  <a:solidFill>
                    <a:srgbClr val="1D6B62"/>
                  </a:solidFill>
                </a:uFill>
                <a:latin typeface="Aptos" pitchFamily="34" charset="0"/>
                <a:ea typeface="Aptos" pitchFamily="34" charset="-122"/>
                <a:cs typeface="Aptos" pitchFamily="34" charset="-120"/>
                <a:hlinkClick r:id="rId2" invalidUrl="" action="" tgtFrame="" tooltip="FSIS recalls API" history="1" highlightClick="0" endSnd="0">
                  <a:extLst>
                    <a:ext uri="{A12FA001-AC4F-418D-AE19-62706E023703}">
                      <ahyp:hlinkClr xmlns:ahyp="http://schemas.microsoft.com/office/drawing/2018/hyperlinkcolor" val="tx"/>
                    </a:ext>
                  </a:extLst>
                </a:hlinkClick>
              </a:rPr>
              <a:t>FSIS recalls API</a:t>
            </a:r>
            <a:pPr indent="0" marL="0">
              <a:buNone/>
            </a:pPr>
            <a:r>
              <a:rPr lang="en-US" sz="850" dirty="0">
                <a:solidFill>
                  <a:srgbClr val="D9D2C2"/>
                </a:solidFill>
                <a:latin typeface="Aptos" pitchFamily="34" charset="0"/>
                <a:ea typeface="Aptos" pitchFamily="34" charset="-122"/>
                <a:cs typeface="Aptos" pitchFamily="34" charset="-120"/>
              </a:rPr>
              <a:t>  |  </a:t>
            </a:r>
            <a:pPr indent="0" marL="0">
              <a:buNone/>
            </a:pPr>
            <a:r>
              <a:rPr lang="en-US" sz="850" u="sng" dirty="0">
                <a:solidFill>
                  <a:srgbClr val="1D6B62"/>
                </a:solidFill>
                <a:uFill>
                  <a:solidFill>
                    <a:srgbClr val="1D6B62"/>
                  </a:solidFill>
                </a:uFill>
                <a:latin typeface="Aptos" pitchFamily="34" charset="0"/>
                <a:ea typeface="Aptos" pitchFamily="34" charset="-122"/>
                <a:cs typeface="Aptos" pitchFamily="34" charset="-120"/>
                <a:hlinkClick r:id="rId3" invalidUrl="" action="" tgtFrame="" tooltip="CDC/FDA onion outbreak" history="1" highlightClick="0" endSnd="0">
                  <a:extLst>
                    <a:ext uri="{A12FA001-AC4F-418D-AE19-62706E023703}">
                      <ahyp:hlinkClr xmlns:ahyp="http://schemas.microsoft.com/office/drawing/2018/hyperlinkcolor" val="tx"/>
                    </a:ext>
                  </a:extLst>
                </a:hlinkClick>
              </a:rPr>
              <a:t>CDC/FDA onion outbreak</a:t>
            </a:r>
            <a:pPr indent="0" marL="0">
              <a:buNone/>
            </a:pPr>
            <a:r>
              <a:rPr lang="en-US" sz="850" dirty="0">
                <a:solidFill>
                  <a:srgbClr val="D9D2C2"/>
                </a:solidFill>
                <a:latin typeface="Aptos" pitchFamily="34" charset="0"/>
                <a:ea typeface="Aptos" pitchFamily="34" charset="-122"/>
                <a:cs typeface="Aptos" pitchFamily="34" charset="-120"/>
              </a:rPr>
              <a:t>  |  </a:t>
            </a:r>
            <a:pPr indent="0" marL="0">
              <a:buNone/>
            </a:pPr>
            <a:r>
              <a:rPr lang="en-US" sz="850" u="sng" dirty="0">
                <a:solidFill>
                  <a:srgbClr val="1D6B62"/>
                </a:solidFill>
                <a:uFill>
                  <a:solidFill>
                    <a:srgbClr val="1D6B62"/>
                  </a:solidFill>
                </a:uFill>
                <a:latin typeface="Aptos" pitchFamily="34" charset="0"/>
                <a:ea typeface="Aptos" pitchFamily="34" charset="-122"/>
                <a:cs typeface="Aptos" pitchFamily="34" charset="-120"/>
                <a:hlinkClick r:id="rId4" invalidUrl="" action="" tgtFrame="" tooltip="SF-Marin Food Bank FY2024" history="1" highlightClick="0" endSnd="0">
                  <a:extLst>
                    <a:ext uri="{A12FA001-AC4F-418D-AE19-62706E023703}">
                      <ahyp:hlinkClr xmlns:ahyp="http://schemas.microsoft.com/office/drawing/2018/hyperlinkcolor" val="tx"/>
                    </a:ext>
                  </a:extLst>
                </a:hlinkClick>
              </a:rPr>
              <a:t>SF-Marin Food Bank FY2024</a:t>
            </a:r>
            <a:endParaRPr lang="en-US" sz="850" dirty="0"/>
          </a:p>
        </p:txBody>
      </p:sp>
      <p:sp>
        <p:nvSpPr>
          <p:cNvPr id="25" name="Slide Number Placeholder 0"/>
          <p:cNvSpPr>
            <a:spLocks noGrp="1"/>
          </p:cNvSpPr>
          <p:nvPr>
            <p:ph type="sldNum" sz="quarter" idx="4294967295"/>
          </p:nvPr>
        </p:nvSpPr>
        <p:spPr>
          <a:xfrm>
            <a:off x="11448288" y="6437376"/>
            <a:ext cx="219456" cy="182880"/>
          </a:xfrm>
          <a:prstGeom prst="rect">
            <a:avLst/>
          </a:prstGeom>
          <a:extLst>
            <a:ext uri="{C572A759-6A51-4108-AA02-DFA0A04FC94B}">
              <ma14:wrappingTextBoxFlag xmlns:ma14="http://schemas.microsoft.com/office/mac/drawingml/2011/main" val="0"/>
            </a:ext>
          </a:extLst>
        </p:spPr>
        <p:txBody>
          <a:bodyPr lIns="0" tIns="0" rIns="0" bIns="0"/>
          <a:lstStyle>
            <a:lvl1pPr>
              <a:defRPr sz="800">
                <a:solidFill>
                  <a:srgbClr val="61706D"/>
                </a:solidFill>
                <a:latin typeface="Aptos"/>
                <a:ea typeface="Aptos"/>
                <a:cs typeface="Aptos"/>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658368" y="658368"/>
            <a:ext cx="4937760" cy="228600"/>
          </a:xfrm>
          <a:prstGeom prst="rect">
            <a:avLst/>
          </a:prstGeom>
          <a:noFill/>
          <a:ln/>
        </p:spPr>
        <p:txBody>
          <a:bodyPr wrap="square" lIns="0" tIns="0" rIns="0" bIns="0" rtlCol="0" anchor="ctr">
            <a:normAutofit/>
          </a:bodyPr>
          <a:lstStyle/>
          <a:p>
            <a:pPr indent="0" marL="0">
              <a:buNone/>
            </a:pPr>
            <a:r>
              <a:rPr lang="en-US" sz="1050" b="1" spc="120" kern="0" dirty="0">
                <a:solidFill>
                  <a:srgbClr val="B94735"/>
                </a:solidFill>
                <a:latin typeface="Aptos" pitchFamily="34" charset="0"/>
                <a:ea typeface="Aptos" pitchFamily="34" charset="-122"/>
                <a:cs typeface="Aptos" pitchFamily="34" charset="-120"/>
              </a:rPr>
              <a:t>PROBLEM</a:t>
            </a:r>
            <a:endParaRPr lang="en-US" sz="1050" dirty="0"/>
          </a:p>
        </p:txBody>
      </p:sp>
      <p:sp>
        <p:nvSpPr>
          <p:cNvPr id="3" name="Text 1"/>
          <p:cNvSpPr/>
          <p:nvPr/>
        </p:nvSpPr>
        <p:spPr>
          <a:xfrm>
            <a:off x="658368" y="932688"/>
            <a:ext cx="10835640" cy="594360"/>
          </a:xfrm>
          <a:prstGeom prst="rect">
            <a:avLst/>
          </a:prstGeom>
          <a:noFill/>
          <a:ln/>
        </p:spPr>
        <p:txBody>
          <a:bodyPr wrap="square" lIns="0" tIns="0" rIns="0" bIns="0" rtlCol="0" anchor="ctr">
            <a:normAutofit/>
          </a:bodyPr>
          <a:lstStyle/>
          <a:p>
            <a:pPr indent="0" marL="0">
              <a:buNone/>
            </a:pPr>
            <a:r>
              <a:rPr lang="en-US" sz="3600" b="1" dirty="0">
                <a:solidFill>
                  <a:srgbClr val="132524"/>
                </a:solidFill>
                <a:latin typeface="Aptos Display" pitchFamily="34" charset="0"/>
                <a:ea typeface="Aptos Display" pitchFamily="34" charset="-122"/>
                <a:cs typeface="Aptos Display" pitchFamily="34" charset="-120"/>
              </a:rPr>
              <a:t>The operational blind spot is the join.</a:t>
            </a:r>
            <a:endParaRPr lang="en-US" sz="3600" dirty="0"/>
          </a:p>
        </p:txBody>
      </p:sp>
      <p:sp>
        <p:nvSpPr>
          <p:cNvPr id="4" name="Text 2"/>
          <p:cNvSpPr/>
          <p:nvPr/>
        </p:nvSpPr>
        <p:spPr>
          <a:xfrm>
            <a:off x="658368" y="1572768"/>
            <a:ext cx="10698480" cy="566928"/>
          </a:xfrm>
          <a:prstGeom prst="rect">
            <a:avLst/>
          </a:prstGeom>
          <a:noFill/>
          <a:ln/>
        </p:spPr>
        <p:txBody>
          <a:bodyPr wrap="square" lIns="0" tIns="0" rIns="0" bIns="0" rtlCol="0" anchor="t">
            <a:normAutofit/>
          </a:bodyPr>
          <a:lstStyle/>
          <a:p>
            <a:pPr indent="0" marL="0">
              <a:buNone/>
            </a:pPr>
            <a:r>
              <a:rPr lang="en-US" sz="1600" dirty="0">
                <a:solidFill>
                  <a:srgbClr val="61706D"/>
                </a:solidFill>
                <a:latin typeface="Aptos" pitchFamily="34" charset="0"/>
                <a:ea typeface="Aptos" pitchFamily="34" charset="-122"/>
                <a:cs typeface="Aptos" pitchFamily="34" charset="-120"/>
              </a:rPr>
              <a:t>Recall notices describe risk in prose. Response teams must connect that prose to exact inventory, inbound purchase orders, pantry commitments, and feasible replacements.</a:t>
            </a:r>
            <a:endParaRPr lang="en-US" sz="1600" dirty="0"/>
          </a:p>
        </p:txBody>
      </p:sp>
      <p:sp>
        <p:nvSpPr>
          <p:cNvPr id="5" name="Shape 3"/>
          <p:cNvSpPr/>
          <p:nvPr/>
        </p:nvSpPr>
        <p:spPr>
          <a:xfrm>
            <a:off x="658368" y="2331720"/>
            <a:ext cx="2743200" cy="3310128"/>
          </a:xfrm>
          <a:prstGeom prst="roundRect">
            <a:avLst>
              <a:gd name="adj" fmla="val 2667"/>
            </a:avLst>
          </a:prstGeom>
          <a:solidFill>
            <a:srgbClr val="FFFDF8"/>
          </a:solidFill>
          <a:ln w="12700">
            <a:solidFill>
              <a:srgbClr val="D9D2C2"/>
            </a:solidFill>
            <a:prstDash val="solid"/>
          </a:ln>
        </p:spPr>
      </p:sp>
      <p:sp>
        <p:nvSpPr>
          <p:cNvPr id="6" name="Shape 4"/>
          <p:cNvSpPr/>
          <p:nvPr/>
        </p:nvSpPr>
        <p:spPr>
          <a:xfrm>
            <a:off x="932688" y="2606040"/>
            <a:ext cx="1298448" cy="274320"/>
          </a:xfrm>
          <a:prstGeom prst="roundRect">
            <a:avLst/>
          </a:prstGeom>
          <a:solidFill>
            <a:srgbClr val="B94735"/>
          </a:solidFill>
          <a:ln w="12700">
            <a:solidFill>
              <a:srgbClr val="B94735"/>
            </a:solidFill>
            <a:prstDash val="solid"/>
          </a:ln>
        </p:spPr>
      </p:sp>
      <p:sp>
        <p:nvSpPr>
          <p:cNvPr id="7" name="Text 5"/>
          <p:cNvSpPr/>
          <p:nvPr/>
        </p:nvSpPr>
        <p:spPr>
          <a:xfrm>
            <a:off x="1005840" y="2633472"/>
            <a:ext cx="1152144" cy="210312"/>
          </a:xfrm>
          <a:prstGeom prst="rect">
            <a:avLst/>
          </a:prstGeom>
          <a:noFill/>
          <a:ln/>
        </p:spPr>
        <p:txBody>
          <a:bodyPr wrap="square" lIns="0" tIns="0" rIns="0" bIns="0" rtlCol="0" anchor="ctr">
            <a:normAutofit/>
          </a:bodyPr>
          <a:lstStyle/>
          <a:p>
            <a:pPr algn="ctr" indent="0" marL="0">
              <a:buNone/>
            </a:pPr>
            <a:r>
              <a:rPr lang="en-US" sz="900" b="1" dirty="0">
                <a:solidFill>
                  <a:srgbClr val="FFFFFF"/>
                </a:solidFill>
                <a:latin typeface="Aptos" pitchFamily="34" charset="0"/>
                <a:ea typeface="Aptos" pitchFamily="34" charset="-122"/>
                <a:cs typeface="Aptos" pitchFamily="34" charset="-120"/>
              </a:rPr>
              <a:t>NARRATIVE NOTICE</a:t>
            </a:r>
            <a:endParaRPr lang="en-US" sz="900" dirty="0"/>
          </a:p>
        </p:txBody>
      </p:sp>
      <p:sp>
        <p:nvSpPr>
          <p:cNvPr id="8" name="Text 6"/>
          <p:cNvSpPr/>
          <p:nvPr/>
        </p:nvSpPr>
        <p:spPr>
          <a:xfrm>
            <a:off x="932688" y="3127248"/>
            <a:ext cx="2176272" cy="1508760"/>
          </a:xfrm>
          <a:prstGeom prst="rect">
            <a:avLst/>
          </a:prstGeom>
          <a:noFill/>
          <a:ln/>
        </p:spPr>
        <p:txBody>
          <a:bodyPr wrap="square" lIns="0" tIns="0" rIns="0" bIns="0" rtlCol="0" anchor="t">
            <a:normAutofit/>
          </a:bodyPr>
          <a:lstStyle/>
          <a:p>
            <a:pPr indent="0" marL="0">
              <a:buNone/>
            </a:pPr>
            <a:r>
              <a:rPr lang="en-US" sz="1600" i="1" dirty="0">
                <a:solidFill>
                  <a:srgbClr val="132524"/>
                </a:solidFill>
                <a:latin typeface="Aptos" pitchFamily="34" charset="0"/>
                <a:ea typeface="Aptos" pitchFamily="34" charset="-122"/>
                <a:cs typeface="Aptos" pitchFamily="34" charset="-120"/>
              </a:rPr>
              <a:t>“Fresh yellow onions … lot codes GVP-8842 and GVP-8843 … packed between June 20 and July 2 … distributed in California and Nevada.”</a:t>
            </a:r>
            <a:endParaRPr lang="en-US" sz="1600" dirty="0"/>
          </a:p>
        </p:txBody>
      </p:sp>
      <p:sp>
        <p:nvSpPr>
          <p:cNvPr id="9" name="Text 7"/>
          <p:cNvSpPr/>
          <p:nvPr/>
        </p:nvSpPr>
        <p:spPr>
          <a:xfrm>
            <a:off x="932688" y="4892040"/>
            <a:ext cx="2148840" cy="438912"/>
          </a:xfrm>
          <a:prstGeom prst="rect">
            <a:avLst/>
          </a:prstGeom>
          <a:noFill/>
          <a:ln/>
        </p:spPr>
        <p:txBody>
          <a:bodyPr wrap="square" lIns="0" tIns="0" rIns="0" bIns="0" rtlCol="0" anchor="t">
            <a:normAutofit/>
          </a:bodyPr>
          <a:lstStyle/>
          <a:p>
            <a:pPr indent="0" marL="0">
              <a:buNone/>
            </a:pPr>
            <a:r>
              <a:rPr lang="en-US" sz="1050" dirty="0">
                <a:solidFill>
                  <a:srgbClr val="61706D"/>
                </a:solidFill>
                <a:latin typeface="Aptos" pitchFamily="34" charset="0"/>
                <a:ea typeface="Aptos" pitchFamily="34" charset="-122"/>
                <a:cs typeface="Aptos" pitchFamily="34" charset="-120"/>
              </a:rPr>
              <a:t>Supplier, lot, date, region, and action are embedded—not normalized.</a:t>
            </a:r>
            <a:endParaRPr lang="en-US" sz="1050" dirty="0"/>
          </a:p>
        </p:txBody>
      </p:sp>
      <p:sp>
        <p:nvSpPr>
          <p:cNvPr id="10" name="Shape 8"/>
          <p:cNvSpPr/>
          <p:nvPr/>
        </p:nvSpPr>
        <p:spPr>
          <a:xfrm>
            <a:off x="3584448" y="3886200"/>
            <a:ext cx="667512" cy="0"/>
          </a:xfrm>
          <a:prstGeom prst="line">
            <a:avLst/>
          </a:prstGeom>
          <a:noFill/>
          <a:ln w="27940">
            <a:solidFill>
              <a:srgbClr val="B94735"/>
            </a:solidFill>
            <a:prstDash val="solid"/>
            <a:headEnd type="none"/>
            <a:tailEnd type="triangle"/>
          </a:ln>
        </p:spPr>
      </p:sp>
      <p:sp>
        <p:nvSpPr>
          <p:cNvPr id="11" name="Text 9"/>
          <p:cNvSpPr/>
          <p:nvPr/>
        </p:nvSpPr>
        <p:spPr>
          <a:xfrm>
            <a:off x="3657600" y="3502152"/>
            <a:ext cx="530352" cy="219456"/>
          </a:xfrm>
          <a:prstGeom prst="rect">
            <a:avLst/>
          </a:prstGeom>
          <a:noFill/>
          <a:ln/>
        </p:spPr>
        <p:txBody>
          <a:bodyPr wrap="square" lIns="0" tIns="0" rIns="0" bIns="0" rtlCol="0" anchor="ctr">
            <a:normAutofit/>
          </a:bodyPr>
          <a:lstStyle/>
          <a:p>
            <a:pPr algn="ctr" indent="0" marL="0">
              <a:buNone/>
            </a:pPr>
            <a:r>
              <a:rPr lang="en-US" sz="950" b="1" dirty="0">
                <a:solidFill>
                  <a:srgbClr val="B94735"/>
                </a:solidFill>
                <a:latin typeface="Aptos" pitchFamily="34" charset="0"/>
                <a:ea typeface="Aptos" pitchFamily="34" charset="-122"/>
                <a:cs typeface="Aptos" pitchFamily="34" charset="-120"/>
              </a:rPr>
              <a:t>JOIN</a:t>
            </a:r>
            <a:endParaRPr lang="en-US" sz="950" dirty="0"/>
          </a:p>
        </p:txBody>
      </p:sp>
      <p:sp>
        <p:nvSpPr>
          <p:cNvPr id="12" name="Shape 10"/>
          <p:cNvSpPr/>
          <p:nvPr/>
        </p:nvSpPr>
        <p:spPr>
          <a:xfrm>
            <a:off x="4407408" y="2331720"/>
            <a:ext cx="7132320" cy="3310128"/>
          </a:xfrm>
          <a:prstGeom prst="roundRect">
            <a:avLst>
              <a:gd name="adj" fmla="val 2210"/>
            </a:avLst>
          </a:prstGeom>
          <a:solidFill>
            <a:srgbClr val="143B37"/>
          </a:solidFill>
          <a:ln w="12700">
            <a:solidFill>
              <a:srgbClr val="143B37"/>
            </a:solidFill>
            <a:prstDash val="solid"/>
          </a:ln>
        </p:spPr>
      </p:sp>
      <p:sp>
        <p:nvSpPr>
          <p:cNvPr id="13" name="Shape 11"/>
          <p:cNvSpPr/>
          <p:nvPr/>
        </p:nvSpPr>
        <p:spPr>
          <a:xfrm>
            <a:off x="5696712" y="3273552"/>
            <a:ext cx="283464" cy="0"/>
          </a:xfrm>
          <a:prstGeom prst="line">
            <a:avLst/>
          </a:prstGeom>
          <a:noFill/>
          <a:ln w="17780">
            <a:solidFill>
              <a:srgbClr val="78B7A9"/>
            </a:solidFill>
            <a:prstDash val="solid"/>
            <a:headEnd type="none"/>
            <a:tailEnd type="triangle"/>
          </a:ln>
        </p:spPr>
      </p:sp>
      <p:sp>
        <p:nvSpPr>
          <p:cNvPr id="14" name="Shape 12"/>
          <p:cNvSpPr/>
          <p:nvPr/>
        </p:nvSpPr>
        <p:spPr>
          <a:xfrm>
            <a:off x="4736592" y="2880360"/>
            <a:ext cx="768096" cy="768096"/>
          </a:xfrm>
          <a:prstGeom prst="ellipse">
            <a:avLst/>
          </a:prstGeom>
          <a:solidFill>
            <a:srgbClr val="1D6B62"/>
          </a:solidFill>
          <a:ln w="12700">
            <a:solidFill>
              <a:srgbClr val="FFFDF8">
                <a:alpha val="45000"/>
              </a:srgbClr>
            </a:solidFill>
            <a:prstDash val="solid"/>
          </a:ln>
        </p:spPr>
      </p:sp>
      <p:sp>
        <p:nvSpPr>
          <p:cNvPr id="15" name="Text 13"/>
          <p:cNvSpPr/>
          <p:nvPr/>
        </p:nvSpPr>
        <p:spPr>
          <a:xfrm>
            <a:off x="4736592" y="3081528"/>
            <a:ext cx="768096" cy="256032"/>
          </a:xfrm>
          <a:prstGeom prst="rect">
            <a:avLst/>
          </a:prstGeom>
          <a:noFill/>
          <a:ln/>
        </p:spPr>
        <p:txBody>
          <a:bodyPr wrap="square" lIns="0" tIns="0" rIns="0" bIns="0" rtlCol="0" anchor="ctr">
            <a:normAutofit/>
          </a:bodyPr>
          <a:lstStyle/>
          <a:p>
            <a:pPr algn="ctr" indent="0" marL="0">
              <a:buNone/>
            </a:pPr>
            <a:r>
              <a:rPr lang="en-US" sz="1200" b="1" dirty="0">
                <a:solidFill>
                  <a:srgbClr val="FFFFFF"/>
                </a:solidFill>
                <a:latin typeface="Aptos" pitchFamily="34" charset="0"/>
                <a:ea typeface="Aptos" pitchFamily="34" charset="-122"/>
                <a:cs typeface="Aptos" pitchFamily="34" charset="-120"/>
              </a:rPr>
              <a:t>01</a:t>
            </a:r>
            <a:endParaRPr lang="en-US" sz="1200" dirty="0"/>
          </a:p>
        </p:txBody>
      </p:sp>
      <p:sp>
        <p:nvSpPr>
          <p:cNvPr id="16" name="Text 14"/>
          <p:cNvSpPr/>
          <p:nvPr/>
        </p:nvSpPr>
        <p:spPr>
          <a:xfrm>
            <a:off x="4590288" y="3877056"/>
            <a:ext cx="1069848" cy="256032"/>
          </a:xfrm>
          <a:prstGeom prst="rect">
            <a:avLst/>
          </a:prstGeom>
          <a:noFill/>
          <a:ln/>
        </p:spPr>
        <p:txBody>
          <a:bodyPr wrap="square" lIns="0" tIns="0" rIns="0" bIns="0" rtlCol="0" anchor="ctr">
            <a:normAutofit/>
          </a:bodyPr>
          <a:lstStyle/>
          <a:p>
            <a:pPr algn="ctr" indent="0" marL="0">
              <a:buNone/>
            </a:pPr>
            <a:r>
              <a:rPr lang="en-US" sz="1100" b="1" dirty="0">
                <a:solidFill>
                  <a:srgbClr val="FFFDF8"/>
                </a:solidFill>
                <a:latin typeface="Aptos" pitchFamily="34" charset="0"/>
                <a:ea typeface="Aptos" pitchFamily="34" charset="-122"/>
                <a:cs typeface="Aptos" pitchFamily="34" charset="-120"/>
              </a:rPr>
              <a:t>Product</a:t>
            </a:r>
            <a:endParaRPr lang="en-US" sz="1100" dirty="0"/>
          </a:p>
        </p:txBody>
      </p:sp>
      <p:sp>
        <p:nvSpPr>
          <p:cNvPr id="17" name="Text 15"/>
          <p:cNvSpPr/>
          <p:nvPr/>
        </p:nvSpPr>
        <p:spPr>
          <a:xfrm>
            <a:off x="4480560" y="4187952"/>
            <a:ext cx="1307592" cy="521208"/>
          </a:xfrm>
          <a:prstGeom prst="rect">
            <a:avLst/>
          </a:prstGeom>
          <a:noFill/>
          <a:ln/>
        </p:spPr>
        <p:txBody>
          <a:bodyPr wrap="square" lIns="0" tIns="0" rIns="0" bIns="0" rtlCol="0" anchor="t">
            <a:normAutofit/>
          </a:bodyPr>
          <a:lstStyle/>
          <a:p>
            <a:pPr algn="ctr" indent="0" marL="0">
              <a:buNone/>
            </a:pPr>
            <a:r>
              <a:rPr lang="en-US" sz="930" dirty="0">
                <a:solidFill>
                  <a:srgbClr val="78B7A9"/>
                </a:solidFill>
                <a:latin typeface="Aptos" pitchFamily="34" charset="0"/>
                <a:ea typeface="Aptos" pitchFamily="34" charset="-122"/>
                <a:cs typeface="Aptos" pitchFamily="34" charset="-120"/>
              </a:rPr>
              <a:t>fresh yellow onions</a:t>
            </a:r>
            <a:endParaRPr lang="en-US" sz="930" dirty="0"/>
          </a:p>
        </p:txBody>
      </p:sp>
      <p:sp>
        <p:nvSpPr>
          <p:cNvPr id="18" name="Shape 16"/>
          <p:cNvSpPr/>
          <p:nvPr/>
        </p:nvSpPr>
        <p:spPr>
          <a:xfrm>
            <a:off x="7013448" y="3273552"/>
            <a:ext cx="283464" cy="0"/>
          </a:xfrm>
          <a:prstGeom prst="line">
            <a:avLst/>
          </a:prstGeom>
          <a:noFill/>
          <a:ln w="17780">
            <a:solidFill>
              <a:srgbClr val="78B7A9"/>
            </a:solidFill>
            <a:prstDash val="solid"/>
            <a:headEnd type="none"/>
            <a:tailEnd type="triangle"/>
          </a:ln>
        </p:spPr>
      </p:sp>
      <p:sp>
        <p:nvSpPr>
          <p:cNvPr id="19" name="Shape 17"/>
          <p:cNvSpPr/>
          <p:nvPr/>
        </p:nvSpPr>
        <p:spPr>
          <a:xfrm>
            <a:off x="6053328" y="2880360"/>
            <a:ext cx="768096" cy="768096"/>
          </a:xfrm>
          <a:prstGeom prst="ellipse">
            <a:avLst/>
          </a:prstGeom>
          <a:solidFill>
            <a:srgbClr val="1D6B62"/>
          </a:solidFill>
          <a:ln w="12700">
            <a:solidFill>
              <a:srgbClr val="FFFDF8">
                <a:alpha val="45000"/>
              </a:srgbClr>
            </a:solidFill>
            <a:prstDash val="solid"/>
          </a:ln>
        </p:spPr>
      </p:sp>
      <p:sp>
        <p:nvSpPr>
          <p:cNvPr id="20" name="Text 18"/>
          <p:cNvSpPr/>
          <p:nvPr/>
        </p:nvSpPr>
        <p:spPr>
          <a:xfrm>
            <a:off x="6053328" y="3081528"/>
            <a:ext cx="768096" cy="256032"/>
          </a:xfrm>
          <a:prstGeom prst="rect">
            <a:avLst/>
          </a:prstGeom>
          <a:noFill/>
          <a:ln/>
        </p:spPr>
        <p:txBody>
          <a:bodyPr wrap="square" lIns="0" tIns="0" rIns="0" bIns="0" rtlCol="0" anchor="ctr">
            <a:normAutofit/>
          </a:bodyPr>
          <a:lstStyle/>
          <a:p>
            <a:pPr algn="ctr" indent="0" marL="0">
              <a:buNone/>
            </a:pPr>
            <a:r>
              <a:rPr lang="en-US" sz="1200" b="1" dirty="0">
                <a:solidFill>
                  <a:srgbClr val="FFFFFF"/>
                </a:solidFill>
                <a:latin typeface="Aptos" pitchFamily="34" charset="0"/>
                <a:ea typeface="Aptos" pitchFamily="34" charset="-122"/>
                <a:cs typeface="Aptos" pitchFamily="34" charset="-120"/>
              </a:rPr>
              <a:t>02</a:t>
            </a:r>
            <a:endParaRPr lang="en-US" sz="1200" dirty="0"/>
          </a:p>
        </p:txBody>
      </p:sp>
      <p:sp>
        <p:nvSpPr>
          <p:cNvPr id="21" name="Text 19"/>
          <p:cNvSpPr/>
          <p:nvPr/>
        </p:nvSpPr>
        <p:spPr>
          <a:xfrm>
            <a:off x="5907024" y="3877056"/>
            <a:ext cx="1069848" cy="256032"/>
          </a:xfrm>
          <a:prstGeom prst="rect">
            <a:avLst/>
          </a:prstGeom>
          <a:noFill/>
          <a:ln/>
        </p:spPr>
        <p:txBody>
          <a:bodyPr wrap="square" lIns="0" tIns="0" rIns="0" bIns="0" rtlCol="0" anchor="ctr">
            <a:normAutofit/>
          </a:bodyPr>
          <a:lstStyle/>
          <a:p>
            <a:pPr algn="ctr" indent="0" marL="0">
              <a:buNone/>
            </a:pPr>
            <a:r>
              <a:rPr lang="en-US" sz="1100" b="1" dirty="0">
                <a:solidFill>
                  <a:srgbClr val="FFFDF8"/>
                </a:solidFill>
                <a:latin typeface="Aptos" pitchFamily="34" charset="0"/>
                <a:ea typeface="Aptos" pitchFamily="34" charset="-122"/>
                <a:cs typeface="Aptos" pitchFamily="34" charset="-120"/>
              </a:rPr>
              <a:t>Lot / PO</a:t>
            </a:r>
            <a:endParaRPr lang="en-US" sz="1100" dirty="0"/>
          </a:p>
        </p:txBody>
      </p:sp>
      <p:sp>
        <p:nvSpPr>
          <p:cNvPr id="22" name="Text 20"/>
          <p:cNvSpPr/>
          <p:nvPr/>
        </p:nvSpPr>
        <p:spPr>
          <a:xfrm>
            <a:off x="5797296" y="4187952"/>
            <a:ext cx="1307592" cy="521208"/>
          </a:xfrm>
          <a:prstGeom prst="rect">
            <a:avLst/>
          </a:prstGeom>
          <a:noFill/>
          <a:ln/>
        </p:spPr>
        <p:txBody>
          <a:bodyPr wrap="square" lIns="0" tIns="0" rIns="0" bIns="0" rtlCol="0" anchor="t">
            <a:normAutofit/>
          </a:bodyPr>
          <a:lstStyle/>
          <a:p>
            <a:pPr algn="ctr" indent="0" marL="0">
              <a:buNone/>
            </a:pPr>
            <a:r>
              <a:rPr lang="en-US" sz="930" dirty="0">
                <a:solidFill>
                  <a:srgbClr val="78B7A9"/>
                </a:solidFill>
                <a:latin typeface="Aptos" pitchFamily="34" charset="0"/>
                <a:ea typeface="Aptos" pitchFamily="34" charset="-122"/>
                <a:cs typeface="Aptos" pitchFamily="34" charset="-120"/>
              </a:rPr>
              <a:t>GVP-8842, PO-1002</a:t>
            </a:r>
            <a:endParaRPr lang="en-US" sz="930" dirty="0"/>
          </a:p>
        </p:txBody>
      </p:sp>
      <p:sp>
        <p:nvSpPr>
          <p:cNvPr id="23" name="Shape 21"/>
          <p:cNvSpPr/>
          <p:nvPr/>
        </p:nvSpPr>
        <p:spPr>
          <a:xfrm>
            <a:off x="8330184" y="3273552"/>
            <a:ext cx="283464" cy="0"/>
          </a:xfrm>
          <a:prstGeom prst="line">
            <a:avLst/>
          </a:prstGeom>
          <a:noFill/>
          <a:ln w="17780">
            <a:solidFill>
              <a:srgbClr val="78B7A9"/>
            </a:solidFill>
            <a:prstDash val="solid"/>
            <a:headEnd type="none"/>
            <a:tailEnd type="triangle"/>
          </a:ln>
        </p:spPr>
      </p:sp>
      <p:sp>
        <p:nvSpPr>
          <p:cNvPr id="24" name="Shape 22"/>
          <p:cNvSpPr/>
          <p:nvPr/>
        </p:nvSpPr>
        <p:spPr>
          <a:xfrm>
            <a:off x="7370064" y="2880360"/>
            <a:ext cx="768096" cy="768096"/>
          </a:xfrm>
          <a:prstGeom prst="ellipse">
            <a:avLst/>
          </a:prstGeom>
          <a:solidFill>
            <a:srgbClr val="1D6B62"/>
          </a:solidFill>
          <a:ln w="12700">
            <a:solidFill>
              <a:srgbClr val="FFFDF8">
                <a:alpha val="45000"/>
              </a:srgbClr>
            </a:solidFill>
            <a:prstDash val="solid"/>
          </a:ln>
        </p:spPr>
      </p:sp>
      <p:sp>
        <p:nvSpPr>
          <p:cNvPr id="25" name="Text 23"/>
          <p:cNvSpPr/>
          <p:nvPr/>
        </p:nvSpPr>
        <p:spPr>
          <a:xfrm>
            <a:off x="7370064" y="3081528"/>
            <a:ext cx="768096" cy="256032"/>
          </a:xfrm>
          <a:prstGeom prst="rect">
            <a:avLst/>
          </a:prstGeom>
          <a:noFill/>
          <a:ln/>
        </p:spPr>
        <p:txBody>
          <a:bodyPr wrap="square" lIns="0" tIns="0" rIns="0" bIns="0" rtlCol="0" anchor="ctr">
            <a:normAutofit/>
          </a:bodyPr>
          <a:lstStyle/>
          <a:p>
            <a:pPr algn="ctr" indent="0" marL="0">
              <a:buNone/>
            </a:pPr>
            <a:r>
              <a:rPr lang="en-US" sz="1200" b="1" dirty="0">
                <a:solidFill>
                  <a:srgbClr val="FFFFFF"/>
                </a:solidFill>
                <a:latin typeface="Aptos" pitchFamily="34" charset="0"/>
                <a:ea typeface="Aptos" pitchFamily="34" charset="-122"/>
                <a:cs typeface="Aptos" pitchFamily="34" charset="-120"/>
              </a:rPr>
              <a:t>03</a:t>
            </a:r>
            <a:endParaRPr lang="en-US" sz="1200" dirty="0"/>
          </a:p>
        </p:txBody>
      </p:sp>
      <p:sp>
        <p:nvSpPr>
          <p:cNvPr id="26" name="Text 24"/>
          <p:cNvSpPr/>
          <p:nvPr/>
        </p:nvSpPr>
        <p:spPr>
          <a:xfrm>
            <a:off x="7223760" y="3877056"/>
            <a:ext cx="1069848" cy="256032"/>
          </a:xfrm>
          <a:prstGeom prst="rect">
            <a:avLst/>
          </a:prstGeom>
          <a:noFill/>
          <a:ln/>
        </p:spPr>
        <p:txBody>
          <a:bodyPr wrap="square" lIns="0" tIns="0" rIns="0" bIns="0" rtlCol="0" anchor="ctr">
            <a:normAutofit/>
          </a:bodyPr>
          <a:lstStyle/>
          <a:p>
            <a:pPr algn="ctr" indent="0" marL="0">
              <a:buNone/>
            </a:pPr>
            <a:r>
              <a:rPr lang="en-US" sz="1100" b="1" dirty="0">
                <a:solidFill>
                  <a:srgbClr val="FFFDF8"/>
                </a:solidFill>
                <a:latin typeface="Aptos" pitchFamily="34" charset="0"/>
                <a:ea typeface="Aptos" pitchFamily="34" charset="-122"/>
                <a:cs typeface="Aptos" pitchFamily="34" charset="-120"/>
              </a:rPr>
              <a:t>Warehouse</a:t>
            </a:r>
            <a:endParaRPr lang="en-US" sz="1100" dirty="0"/>
          </a:p>
        </p:txBody>
      </p:sp>
      <p:sp>
        <p:nvSpPr>
          <p:cNvPr id="27" name="Text 25"/>
          <p:cNvSpPr/>
          <p:nvPr/>
        </p:nvSpPr>
        <p:spPr>
          <a:xfrm>
            <a:off x="7114032" y="4187952"/>
            <a:ext cx="1307592" cy="521208"/>
          </a:xfrm>
          <a:prstGeom prst="rect">
            <a:avLst/>
          </a:prstGeom>
          <a:noFill/>
          <a:ln/>
        </p:spPr>
        <p:txBody>
          <a:bodyPr wrap="square" lIns="0" tIns="0" rIns="0" bIns="0" rtlCol="0" anchor="t">
            <a:normAutofit/>
          </a:bodyPr>
          <a:lstStyle/>
          <a:p>
            <a:pPr algn="ctr" indent="0" marL="0">
              <a:buNone/>
            </a:pPr>
            <a:r>
              <a:rPr lang="en-US" sz="930" dirty="0">
                <a:solidFill>
                  <a:srgbClr val="78B7A9"/>
                </a:solidFill>
                <a:latin typeface="Aptos" pitchFamily="34" charset="0"/>
                <a:ea typeface="Aptos" pitchFamily="34" charset="-122"/>
                <a:cs typeface="Aptos" pitchFamily="34" charset="-120"/>
              </a:rPr>
              <a:t>Oakland DC</a:t>
            </a:r>
            <a:endParaRPr lang="en-US" sz="930" dirty="0"/>
          </a:p>
        </p:txBody>
      </p:sp>
      <p:sp>
        <p:nvSpPr>
          <p:cNvPr id="28" name="Shape 26"/>
          <p:cNvSpPr/>
          <p:nvPr/>
        </p:nvSpPr>
        <p:spPr>
          <a:xfrm>
            <a:off x="9646920" y="3273552"/>
            <a:ext cx="283464" cy="0"/>
          </a:xfrm>
          <a:prstGeom prst="line">
            <a:avLst/>
          </a:prstGeom>
          <a:noFill/>
          <a:ln w="17780">
            <a:solidFill>
              <a:srgbClr val="78B7A9"/>
            </a:solidFill>
            <a:prstDash val="solid"/>
            <a:headEnd type="none"/>
            <a:tailEnd type="triangle"/>
          </a:ln>
        </p:spPr>
      </p:sp>
      <p:sp>
        <p:nvSpPr>
          <p:cNvPr id="29" name="Shape 27"/>
          <p:cNvSpPr/>
          <p:nvPr/>
        </p:nvSpPr>
        <p:spPr>
          <a:xfrm>
            <a:off x="8686800" y="2880360"/>
            <a:ext cx="768096" cy="768096"/>
          </a:xfrm>
          <a:prstGeom prst="ellipse">
            <a:avLst/>
          </a:prstGeom>
          <a:solidFill>
            <a:srgbClr val="1D6B62"/>
          </a:solidFill>
          <a:ln w="12700">
            <a:solidFill>
              <a:srgbClr val="FFFDF8">
                <a:alpha val="45000"/>
              </a:srgbClr>
            </a:solidFill>
            <a:prstDash val="solid"/>
          </a:ln>
        </p:spPr>
      </p:sp>
      <p:sp>
        <p:nvSpPr>
          <p:cNvPr id="30" name="Text 28"/>
          <p:cNvSpPr/>
          <p:nvPr/>
        </p:nvSpPr>
        <p:spPr>
          <a:xfrm>
            <a:off x="8686800" y="3081528"/>
            <a:ext cx="768096" cy="256032"/>
          </a:xfrm>
          <a:prstGeom prst="rect">
            <a:avLst/>
          </a:prstGeom>
          <a:noFill/>
          <a:ln/>
        </p:spPr>
        <p:txBody>
          <a:bodyPr wrap="square" lIns="0" tIns="0" rIns="0" bIns="0" rtlCol="0" anchor="ctr">
            <a:normAutofit/>
          </a:bodyPr>
          <a:lstStyle/>
          <a:p>
            <a:pPr algn="ctr" indent="0" marL="0">
              <a:buNone/>
            </a:pPr>
            <a:r>
              <a:rPr lang="en-US" sz="1200" b="1" dirty="0">
                <a:solidFill>
                  <a:srgbClr val="FFFFFF"/>
                </a:solidFill>
                <a:latin typeface="Aptos" pitchFamily="34" charset="0"/>
                <a:ea typeface="Aptos" pitchFamily="34" charset="-122"/>
                <a:cs typeface="Aptos" pitchFamily="34" charset="-120"/>
              </a:rPr>
              <a:t>04</a:t>
            </a:r>
            <a:endParaRPr lang="en-US" sz="1200" dirty="0"/>
          </a:p>
        </p:txBody>
      </p:sp>
      <p:sp>
        <p:nvSpPr>
          <p:cNvPr id="31" name="Text 29"/>
          <p:cNvSpPr/>
          <p:nvPr/>
        </p:nvSpPr>
        <p:spPr>
          <a:xfrm>
            <a:off x="8540496" y="3877056"/>
            <a:ext cx="1069848" cy="256032"/>
          </a:xfrm>
          <a:prstGeom prst="rect">
            <a:avLst/>
          </a:prstGeom>
          <a:noFill/>
          <a:ln/>
        </p:spPr>
        <p:txBody>
          <a:bodyPr wrap="square" lIns="0" tIns="0" rIns="0" bIns="0" rtlCol="0" anchor="ctr">
            <a:normAutofit/>
          </a:bodyPr>
          <a:lstStyle/>
          <a:p>
            <a:pPr algn="ctr" indent="0" marL="0">
              <a:buNone/>
            </a:pPr>
            <a:r>
              <a:rPr lang="en-US" sz="1100" b="1" dirty="0">
                <a:solidFill>
                  <a:srgbClr val="FFFDF8"/>
                </a:solidFill>
                <a:latin typeface="Aptos" pitchFamily="34" charset="0"/>
                <a:ea typeface="Aptos" pitchFamily="34" charset="-122"/>
                <a:cs typeface="Aptos" pitchFamily="34" charset="-120"/>
              </a:rPr>
              <a:t>Pantry</a:t>
            </a:r>
            <a:endParaRPr lang="en-US" sz="1100" dirty="0"/>
          </a:p>
        </p:txBody>
      </p:sp>
      <p:sp>
        <p:nvSpPr>
          <p:cNvPr id="32" name="Text 30"/>
          <p:cNvSpPr/>
          <p:nvPr/>
        </p:nvSpPr>
        <p:spPr>
          <a:xfrm>
            <a:off x="8430768" y="4187952"/>
            <a:ext cx="1307592" cy="521208"/>
          </a:xfrm>
          <a:prstGeom prst="rect">
            <a:avLst/>
          </a:prstGeom>
          <a:noFill/>
          <a:ln/>
        </p:spPr>
        <p:txBody>
          <a:bodyPr wrap="square" lIns="0" tIns="0" rIns="0" bIns="0" rtlCol="0" anchor="t">
            <a:normAutofit/>
          </a:bodyPr>
          <a:lstStyle/>
          <a:p>
            <a:pPr algn="ctr" indent="0" marL="0">
              <a:buNone/>
            </a:pPr>
            <a:r>
              <a:rPr lang="en-US" sz="930" dirty="0">
                <a:solidFill>
                  <a:srgbClr val="78B7A9"/>
                </a:solidFill>
                <a:latin typeface="Aptos" pitchFamily="34" charset="0"/>
                <a:ea typeface="Aptos" pitchFamily="34" charset="-122"/>
                <a:cs typeface="Aptos" pitchFamily="34" charset="-120"/>
              </a:rPr>
              <a:t>28 lines infeasible</a:t>
            </a:r>
            <a:endParaRPr lang="en-US" sz="930" dirty="0"/>
          </a:p>
        </p:txBody>
      </p:sp>
      <p:sp>
        <p:nvSpPr>
          <p:cNvPr id="33" name="Shape 31"/>
          <p:cNvSpPr/>
          <p:nvPr/>
        </p:nvSpPr>
        <p:spPr>
          <a:xfrm>
            <a:off x="10003536" y="2880360"/>
            <a:ext cx="768096" cy="768096"/>
          </a:xfrm>
          <a:prstGeom prst="ellipse">
            <a:avLst/>
          </a:prstGeom>
          <a:solidFill>
            <a:srgbClr val="B94735"/>
          </a:solidFill>
          <a:ln w="12700">
            <a:solidFill>
              <a:srgbClr val="FFFDF8">
                <a:alpha val="45000"/>
              </a:srgbClr>
            </a:solidFill>
            <a:prstDash val="solid"/>
          </a:ln>
        </p:spPr>
      </p:sp>
      <p:sp>
        <p:nvSpPr>
          <p:cNvPr id="34" name="Text 32"/>
          <p:cNvSpPr/>
          <p:nvPr/>
        </p:nvSpPr>
        <p:spPr>
          <a:xfrm>
            <a:off x="10003536" y="3081528"/>
            <a:ext cx="768096" cy="256032"/>
          </a:xfrm>
          <a:prstGeom prst="rect">
            <a:avLst/>
          </a:prstGeom>
          <a:noFill/>
          <a:ln/>
        </p:spPr>
        <p:txBody>
          <a:bodyPr wrap="square" lIns="0" tIns="0" rIns="0" bIns="0" rtlCol="0" anchor="ctr">
            <a:normAutofit/>
          </a:bodyPr>
          <a:lstStyle/>
          <a:p>
            <a:pPr algn="ctr" indent="0" marL="0">
              <a:buNone/>
            </a:pPr>
            <a:r>
              <a:rPr lang="en-US" sz="1200" b="1" dirty="0">
                <a:solidFill>
                  <a:srgbClr val="FFFFFF"/>
                </a:solidFill>
                <a:latin typeface="Aptos" pitchFamily="34" charset="0"/>
                <a:ea typeface="Aptos" pitchFamily="34" charset="-122"/>
                <a:cs typeface="Aptos" pitchFamily="34" charset="-120"/>
              </a:rPr>
              <a:t>05</a:t>
            </a:r>
            <a:endParaRPr lang="en-US" sz="1200" dirty="0"/>
          </a:p>
        </p:txBody>
      </p:sp>
      <p:sp>
        <p:nvSpPr>
          <p:cNvPr id="35" name="Text 33"/>
          <p:cNvSpPr/>
          <p:nvPr/>
        </p:nvSpPr>
        <p:spPr>
          <a:xfrm>
            <a:off x="9857232" y="3877056"/>
            <a:ext cx="1069848" cy="256032"/>
          </a:xfrm>
          <a:prstGeom prst="rect">
            <a:avLst/>
          </a:prstGeom>
          <a:noFill/>
          <a:ln/>
        </p:spPr>
        <p:txBody>
          <a:bodyPr wrap="square" lIns="0" tIns="0" rIns="0" bIns="0" rtlCol="0" anchor="ctr">
            <a:normAutofit/>
          </a:bodyPr>
          <a:lstStyle/>
          <a:p>
            <a:pPr algn="ctr" indent="0" marL="0">
              <a:buNone/>
            </a:pPr>
            <a:r>
              <a:rPr lang="en-US" sz="1100" b="1" dirty="0">
                <a:solidFill>
                  <a:srgbClr val="FFFDF8"/>
                </a:solidFill>
                <a:latin typeface="Aptos" pitchFamily="34" charset="0"/>
                <a:ea typeface="Aptos" pitchFamily="34" charset="-122"/>
                <a:cs typeface="Aptos" pitchFamily="34" charset="-120"/>
              </a:rPr>
              <a:t>Recovery</a:t>
            </a:r>
            <a:endParaRPr lang="en-US" sz="1100" dirty="0"/>
          </a:p>
        </p:txBody>
      </p:sp>
      <p:sp>
        <p:nvSpPr>
          <p:cNvPr id="36" name="Text 34"/>
          <p:cNvSpPr/>
          <p:nvPr/>
        </p:nvSpPr>
        <p:spPr>
          <a:xfrm>
            <a:off x="9747504" y="4187952"/>
            <a:ext cx="1307592" cy="521208"/>
          </a:xfrm>
          <a:prstGeom prst="rect">
            <a:avLst/>
          </a:prstGeom>
          <a:noFill/>
          <a:ln/>
        </p:spPr>
        <p:txBody>
          <a:bodyPr wrap="square" lIns="0" tIns="0" rIns="0" bIns="0" rtlCol="0" anchor="t">
            <a:normAutofit/>
          </a:bodyPr>
          <a:lstStyle/>
          <a:p>
            <a:pPr algn="ctr" indent="0" marL="0">
              <a:buNone/>
            </a:pPr>
            <a:r>
              <a:rPr lang="en-US" sz="930" dirty="0">
                <a:solidFill>
                  <a:srgbClr val="78B7A9"/>
                </a:solidFill>
                <a:latin typeface="Aptos" pitchFamily="34" charset="0"/>
                <a:ea typeface="Aptos" pitchFamily="34" charset="-122"/>
                <a:cs typeface="Aptos" pitchFamily="34" charset="-120"/>
              </a:rPr>
              <a:t>substitute + buy</a:t>
            </a:r>
            <a:endParaRPr lang="en-US" sz="930" dirty="0"/>
          </a:p>
        </p:txBody>
      </p:sp>
      <p:sp>
        <p:nvSpPr>
          <p:cNvPr id="37" name="Text 35"/>
          <p:cNvSpPr/>
          <p:nvPr/>
        </p:nvSpPr>
        <p:spPr>
          <a:xfrm>
            <a:off x="4736592" y="4919472"/>
            <a:ext cx="3108960" cy="274320"/>
          </a:xfrm>
          <a:prstGeom prst="rect">
            <a:avLst/>
          </a:prstGeom>
          <a:noFill/>
          <a:ln/>
        </p:spPr>
        <p:txBody>
          <a:bodyPr wrap="square" lIns="0" tIns="0" rIns="0" bIns="0" rtlCol="0" anchor="ctr">
            <a:normAutofit/>
          </a:bodyPr>
          <a:lstStyle/>
          <a:p>
            <a:pPr indent="0" marL="0">
              <a:buNone/>
            </a:pPr>
            <a:r>
              <a:rPr lang="en-US" sz="1200" b="1" dirty="0">
                <a:solidFill>
                  <a:srgbClr val="FFFDF8"/>
                </a:solidFill>
                <a:latin typeface="Aptos" pitchFamily="34" charset="0"/>
                <a:ea typeface="Aptos" pitchFamily="34" charset="-122"/>
                <a:cs typeface="Aptos" pitchFamily="34" charset="-120"/>
              </a:rPr>
              <a:t>Missing joins create three failure modes</a:t>
            </a:r>
            <a:endParaRPr lang="en-US" sz="1200" dirty="0"/>
          </a:p>
        </p:txBody>
      </p:sp>
      <p:sp>
        <p:nvSpPr>
          <p:cNvPr id="38" name="Shape 36"/>
          <p:cNvSpPr/>
          <p:nvPr/>
        </p:nvSpPr>
        <p:spPr>
          <a:xfrm>
            <a:off x="4736592" y="5239512"/>
            <a:ext cx="1417320" cy="274320"/>
          </a:xfrm>
          <a:prstGeom prst="roundRect">
            <a:avLst/>
          </a:prstGeom>
          <a:solidFill>
            <a:srgbClr val="1D6B62"/>
          </a:solidFill>
          <a:ln w="12700">
            <a:solidFill>
              <a:srgbClr val="1D6B62"/>
            </a:solidFill>
            <a:prstDash val="solid"/>
          </a:ln>
        </p:spPr>
      </p:sp>
      <p:sp>
        <p:nvSpPr>
          <p:cNvPr id="39" name="Text 37"/>
          <p:cNvSpPr/>
          <p:nvPr/>
        </p:nvSpPr>
        <p:spPr>
          <a:xfrm>
            <a:off x="4809744" y="5266944"/>
            <a:ext cx="1271016" cy="210312"/>
          </a:xfrm>
          <a:prstGeom prst="rect">
            <a:avLst/>
          </a:prstGeom>
          <a:noFill/>
          <a:ln/>
        </p:spPr>
        <p:txBody>
          <a:bodyPr wrap="square" lIns="0" tIns="0" rIns="0" bIns="0" rtlCol="0" anchor="ctr">
            <a:normAutofit/>
          </a:bodyPr>
          <a:lstStyle/>
          <a:p>
            <a:pPr algn="ctr" indent="0" marL="0">
              <a:buNone/>
            </a:pPr>
            <a:r>
              <a:rPr lang="en-US" sz="900" b="1" dirty="0">
                <a:solidFill>
                  <a:srgbClr val="FFFFFF"/>
                </a:solidFill>
                <a:latin typeface="Aptos" pitchFamily="34" charset="0"/>
                <a:ea typeface="Aptos" pitchFamily="34" charset="-122"/>
                <a:cs typeface="Aptos" pitchFamily="34" charset="-120"/>
              </a:rPr>
              <a:t>DELAYED QUARANTINE</a:t>
            </a:r>
            <a:endParaRPr lang="en-US" sz="900" dirty="0"/>
          </a:p>
        </p:txBody>
      </p:sp>
      <p:sp>
        <p:nvSpPr>
          <p:cNvPr id="40" name="Shape 38"/>
          <p:cNvSpPr/>
          <p:nvPr/>
        </p:nvSpPr>
        <p:spPr>
          <a:xfrm>
            <a:off x="6336792" y="5239512"/>
            <a:ext cx="1627632" cy="274320"/>
          </a:xfrm>
          <a:prstGeom prst="roundRect">
            <a:avLst/>
          </a:prstGeom>
          <a:solidFill>
            <a:srgbClr val="1D6B62"/>
          </a:solidFill>
          <a:ln w="12700">
            <a:solidFill>
              <a:srgbClr val="1D6B62"/>
            </a:solidFill>
            <a:prstDash val="solid"/>
          </a:ln>
        </p:spPr>
      </p:sp>
      <p:sp>
        <p:nvSpPr>
          <p:cNvPr id="41" name="Text 39"/>
          <p:cNvSpPr/>
          <p:nvPr/>
        </p:nvSpPr>
        <p:spPr>
          <a:xfrm>
            <a:off x="6409944" y="5266944"/>
            <a:ext cx="1481328" cy="210312"/>
          </a:xfrm>
          <a:prstGeom prst="rect">
            <a:avLst/>
          </a:prstGeom>
          <a:noFill/>
          <a:ln/>
        </p:spPr>
        <p:txBody>
          <a:bodyPr wrap="square" lIns="0" tIns="0" rIns="0" bIns="0" rtlCol="0" anchor="ctr">
            <a:normAutofit/>
          </a:bodyPr>
          <a:lstStyle/>
          <a:p>
            <a:pPr algn="ctr" indent="0" marL="0">
              <a:buNone/>
            </a:pPr>
            <a:r>
              <a:rPr lang="en-US" sz="900" b="1" dirty="0">
                <a:solidFill>
                  <a:srgbClr val="FFFFFF"/>
                </a:solidFill>
                <a:latin typeface="Aptos" pitchFamily="34" charset="0"/>
                <a:ea typeface="Aptos" pitchFamily="34" charset="-122"/>
                <a:cs typeface="Aptos" pitchFamily="34" charset="-120"/>
              </a:rPr>
              <a:t>INFEASIBLE ALLOCATIONS</a:t>
            </a:r>
            <a:endParaRPr lang="en-US" sz="900" dirty="0"/>
          </a:p>
        </p:txBody>
      </p:sp>
      <p:sp>
        <p:nvSpPr>
          <p:cNvPr id="42" name="Shape 40"/>
          <p:cNvSpPr/>
          <p:nvPr/>
        </p:nvSpPr>
        <p:spPr>
          <a:xfrm>
            <a:off x="8147304" y="5239512"/>
            <a:ext cx="1335024" cy="274320"/>
          </a:xfrm>
          <a:prstGeom prst="roundRect">
            <a:avLst/>
          </a:prstGeom>
          <a:solidFill>
            <a:srgbClr val="B94735"/>
          </a:solidFill>
          <a:ln w="12700">
            <a:solidFill>
              <a:srgbClr val="B94735"/>
            </a:solidFill>
            <a:prstDash val="solid"/>
          </a:ln>
        </p:spPr>
      </p:sp>
      <p:sp>
        <p:nvSpPr>
          <p:cNvPr id="43" name="Text 41"/>
          <p:cNvSpPr/>
          <p:nvPr/>
        </p:nvSpPr>
        <p:spPr>
          <a:xfrm>
            <a:off x="8220456" y="5266944"/>
            <a:ext cx="1188720" cy="210312"/>
          </a:xfrm>
          <a:prstGeom prst="rect">
            <a:avLst/>
          </a:prstGeom>
          <a:noFill/>
          <a:ln/>
        </p:spPr>
        <p:txBody>
          <a:bodyPr wrap="square" lIns="0" tIns="0" rIns="0" bIns="0" rtlCol="0" anchor="ctr">
            <a:normAutofit/>
          </a:bodyPr>
          <a:lstStyle/>
          <a:p>
            <a:pPr algn="ctr" indent="0" marL="0">
              <a:buNone/>
            </a:pPr>
            <a:r>
              <a:rPr lang="en-US" sz="900" b="1" dirty="0">
                <a:solidFill>
                  <a:srgbClr val="FFFFFF"/>
                </a:solidFill>
                <a:latin typeface="Aptos" pitchFamily="34" charset="0"/>
                <a:ea typeface="Aptos" pitchFamily="34" charset="-122"/>
                <a:cs typeface="Aptos" pitchFamily="34" charset="-120"/>
              </a:rPr>
              <a:t>SILENT SHORTAGES</a:t>
            </a:r>
            <a:endParaRPr lang="en-US" sz="900" dirty="0"/>
          </a:p>
        </p:txBody>
      </p:sp>
      <p:sp>
        <p:nvSpPr>
          <p:cNvPr id="44" name="Text 42"/>
          <p:cNvSpPr/>
          <p:nvPr/>
        </p:nvSpPr>
        <p:spPr>
          <a:xfrm>
            <a:off x="658368" y="6419088"/>
            <a:ext cx="10469880" cy="210312"/>
          </a:xfrm>
          <a:prstGeom prst="rect">
            <a:avLst/>
          </a:prstGeom>
          <a:noFill/>
          <a:ln/>
        </p:spPr>
        <p:txBody>
          <a:bodyPr wrap="square" lIns="0" tIns="0" rIns="0" bIns="0" rtlCol="0" anchor="ctr">
            <a:normAutofit/>
          </a:bodyPr>
          <a:lstStyle/>
          <a:p>
            <a:pPr indent="0" marL="0">
              <a:buNone/>
            </a:pPr>
            <a:r>
              <a:rPr lang="en-US" sz="850" dirty="0">
                <a:solidFill>
                  <a:srgbClr val="61706D"/>
                </a:solidFill>
                <a:latin typeface="Aptos" pitchFamily="34" charset="0"/>
                <a:ea typeface="Aptos" pitchFamily="34" charset="-122"/>
                <a:cs typeface="Aptos" pitchFamily="34" charset="-120"/>
              </a:rPr>
              <a:t>Workflow sources show notice intake, inventory isolation, agency notification, and disposition tasks.  </a:t>
            </a:r>
            <a:pPr indent="0" marL="0">
              <a:buNone/>
            </a:pPr>
            <a:r>
              <a:rPr lang="en-US" sz="850" u="sng" dirty="0">
                <a:solidFill>
                  <a:srgbClr val="1D6B62"/>
                </a:solidFill>
                <a:uFill>
                  <a:solidFill>
                    <a:srgbClr val="1D6B62"/>
                  </a:solidFill>
                </a:uFill>
                <a:latin typeface="Aptos" pitchFamily="34" charset="0"/>
                <a:ea typeface="Aptos" pitchFamily="34" charset="-122"/>
                <a:cs typeface="Aptos" pitchFamily="34" charset="-120"/>
                <a:hlinkClick r:id="rId1" invalidUrl="" action="" tgtFrame="" tooltip="Rhode Island Community Food Bank recall process" history="1" highlightClick="0" endSnd="0">
                  <a:extLst>
                    <a:ext uri="{A12FA001-AC4F-418D-AE19-62706E023703}">
                      <ahyp:hlinkClr xmlns:ahyp="http://schemas.microsoft.com/office/drawing/2018/hyperlinkcolor" val="tx"/>
                    </a:ext>
                  </a:extLst>
                </a:hlinkClick>
              </a:rPr>
              <a:t>Rhode Island Community Food Bank recall process</a:t>
            </a:r>
            <a:pPr indent="0" marL="0">
              <a:buNone/>
            </a:pPr>
            <a:r>
              <a:rPr lang="en-US" sz="850" dirty="0">
                <a:solidFill>
                  <a:srgbClr val="D9D2C2"/>
                </a:solidFill>
                <a:latin typeface="Aptos" pitchFamily="34" charset="0"/>
                <a:ea typeface="Aptos" pitchFamily="34" charset="-122"/>
                <a:cs typeface="Aptos" pitchFamily="34" charset="-120"/>
              </a:rPr>
              <a:t>  |  </a:t>
            </a:r>
            <a:pPr indent="0" marL="0">
              <a:buNone/>
            </a:pPr>
            <a:r>
              <a:rPr lang="en-US" sz="850" u="sng" dirty="0">
                <a:solidFill>
                  <a:srgbClr val="1D6B62"/>
                </a:solidFill>
                <a:uFill>
                  <a:solidFill>
                    <a:srgbClr val="1D6B62"/>
                  </a:solidFill>
                </a:uFill>
                <a:latin typeface="Aptos" pitchFamily="34" charset="0"/>
                <a:ea typeface="Aptos" pitchFamily="34" charset="-122"/>
                <a:cs typeface="Aptos" pitchFamily="34" charset="-120"/>
                <a:hlinkClick r:id="rId2" invalidUrl="" action="" tgtFrame="" tooltip="MANNA FoodBank recall workflow" history="1" highlightClick="0" endSnd="0">
                  <a:extLst>
                    <a:ext uri="{A12FA001-AC4F-418D-AE19-62706E023703}">
                      <ahyp:hlinkClr xmlns:ahyp="http://schemas.microsoft.com/office/drawing/2018/hyperlinkcolor" val="tx"/>
                    </a:ext>
                  </a:extLst>
                </a:hlinkClick>
              </a:rPr>
              <a:t>MANNA FoodBank recall workflow</a:t>
            </a:r>
            <a:endParaRPr lang="en-US" sz="850" dirty="0"/>
          </a:p>
        </p:txBody>
      </p:sp>
      <p:sp>
        <p:nvSpPr>
          <p:cNvPr id="25" name="Slide Number Placeholder 0"/>
          <p:cNvSpPr>
            <a:spLocks noGrp="1"/>
          </p:cNvSpPr>
          <p:nvPr>
            <p:ph type="sldNum" sz="quarter" idx="4294967295"/>
          </p:nvPr>
        </p:nvSpPr>
        <p:spPr>
          <a:xfrm>
            <a:off x="11448288" y="6437376"/>
            <a:ext cx="219456" cy="182880"/>
          </a:xfrm>
          <a:prstGeom prst="rect">
            <a:avLst/>
          </a:prstGeom>
          <a:extLst>
            <a:ext uri="{C572A759-6A51-4108-AA02-DFA0A04FC94B}">
              <ma14:wrappingTextBoxFlag xmlns:ma14="http://schemas.microsoft.com/office/mac/drawingml/2011/main" val="0"/>
            </a:ext>
          </a:extLst>
        </p:spPr>
        <p:txBody>
          <a:bodyPr lIns="0" tIns="0" rIns="0" bIns="0"/>
          <a:lstStyle>
            <a:lvl1pPr>
              <a:defRPr sz="800">
                <a:solidFill>
                  <a:srgbClr val="61706D"/>
                </a:solidFill>
                <a:latin typeface="Aptos"/>
                <a:ea typeface="Aptos"/>
                <a:cs typeface="Aptos"/>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658368" y="658368"/>
            <a:ext cx="4937760" cy="228600"/>
          </a:xfrm>
          <a:prstGeom prst="rect">
            <a:avLst/>
          </a:prstGeom>
          <a:noFill/>
          <a:ln/>
        </p:spPr>
        <p:txBody>
          <a:bodyPr wrap="square" lIns="0" tIns="0" rIns="0" bIns="0" rtlCol="0" anchor="ctr">
            <a:normAutofit/>
          </a:bodyPr>
          <a:lstStyle/>
          <a:p>
            <a:pPr indent="0" marL="0">
              <a:buNone/>
            </a:pPr>
            <a:r>
              <a:rPr lang="en-US" sz="1050" b="1" spc="120" kern="0" dirty="0">
                <a:solidFill>
                  <a:srgbClr val="B94735"/>
                </a:solidFill>
                <a:latin typeface="Aptos" pitchFamily="34" charset="0"/>
                <a:ea typeface="Aptos" pitchFamily="34" charset="-122"/>
                <a:cs typeface="Aptos" pitchFamily="34" charset="-120"/>
              </a:rPr>
              <a:t>SYSTEM</a:t>
            </a:r>
            <a:endParaRPr lang="en-US" sz="1050" dirty="0"/>
          </a:p>
        </p:txBody>
      </p:sp>
      <p:sp>
        <p:nvSpPr>
          <p:cNvPr id="3" name="Text 1"/>
          <p:cNvSpPr/>
          <p:nvPr/>
        </p:nvSpPr>
        <p:spPr>
          <a:xfrm>
            <a:off x="658368" y="932688"/>
            <a:ext cx="10835640" cy="594360"/>
          </a:xfrm>
          <a:prstGeom prst="rect">
            <a:avLst/>
          </a:prstGeom>
          <a:noFill/>
          <a:ln/>
        </p:spPr>
        <p:txBody>
          <a:bodyPr wrap="square" lIns="0" tIns="0" rIns="0" bIns="0" rtlCol="0" anchor="ctr">
            <a:normAutofit/>
          </a:bodyPr>
          <a:lstStyle/>
          <a:p>
            <a:pPr indent="0" marL="0">
              <a:buNone/>
            </a:pPr>
            <a:r>
              <a:rPr lang="en-US" sz="3600" b="1" dirty="0">
                <a:solidFill>
                  <a:srgbClr val="132524"/>
                </a:solidFill>
                <a:latin typeface="Aptos Display" pitchFamily="34" charset="0"/>
                <a:ea typeface="Aptos Display" pitchFamily="34" charset="-122"/>
                <a:cs typeface="Aptos Display" pitchFamily="34" charset="-120"/>
              </a:rPr>
              <a:t>Agentic analysis. Deterministic execution boundary.</a:t>
            </a:r>
            <a:endParaRPr lang="en-US" sz="3600" dirty="0"/>
          </a:p>
        </p:txBody>
      </p:sp>
      <p:sp>
        <p:nvSpPr>
          <p:cNvPr id="4" name="Text 2"/>
          <p:cNvSpPr/>
          <p:nvPr/>
        </p:nvSpPr>
        <p:spPr>
          <a:xfrm>
            <a:off x="658368" y="1572768"/>
            <a:ext cx="10698480" cy="603504"/>
          </a:xfrm>
          <a:prstGeom prst="rect">
            <a:avLst/>
          </a:prstGeom>
          <a:noFill/>
          <a:ln/>
        </p:spPr>
        <p:txBody>
          <a:bodyPr wrap="square" lIns="0" tIns="0" rIns="0" bIns="0" rtlCol="0" anchor="t">
            <a:normAutofit/>
          </a:bodyPr>
          <a:lstStyle/>
          <a:p>
            <a:pPr indent="0" marL="0">
              <a:buNone/>
            </a:pPr>
            <a:r>
              <a:rPr lang="en-US" sz="1500" dirty="0">
                <a:solidFill>
                  <a:srgbClr val="61706D"/>
                </a:solidFill>
                <a:latin typeface="Aptos" pitchFamily="34" charset="0"/>
                <a:ea typeface="Aptos" pitchFamily="34" charset="-122"/>
                <a:cs typeface="Aptos" pitchFamily="34" charset="-120"/>
              </a:rPr>
              <a:t>Current openFDA and FSIS incidents cross a provenance-verified source boundary before the agent joins them to synthetic operations. Zero linked lots or POs means zero exposure and no approval action.</a:t>
            </a:r>
            <a:endParaRPr lang="en-US" sz="1500" dirty="0"/>
          </a:p>
        </p:txBody>
      </p:sp>
      <p:sp>
        <p:nvSpPr>
          <p:cNvPr id="5" name="Text 3"/>
          <p:cNvSpPr/>
          <p:nvPr/>
        </p:nvSpPr>
        <p:spPr>
          <a:xfrm>
            <a:off x="658368" y="2331720"/>
            <a:ext cx="1170432" cy="228600"/>
          </a:xfrm>
          <a:prstGeom prst="rect">
            <a:avLst/>
          </a:prstGeom>
          <a:noFill/>
          <a:ln/>
        </p:spPr>
        <p:txBody>
          <a:bodyPr wrap="square" lIns="0" tIns="0" rIns="0" bIns="0" rtlCol="0" anchor="ctr">
            <a:normAutofit/>
          </a:bodyPr>
          <a:lstStyle/>
          <a:p>
            <a:pPr indent="0" marL="0">
              <a:buNone/>
            </a:pPr>
            <a:r>
              <a:rPr lang="en-US" sz="1000" b="1" spc="110" kern="0" dirty="0">
                <a:solidFill>
                  <a:srgbClr val="B94735"/>
                </a:solidFill>
                <a:latin typeface="Aptos" pitchFamily="34" charset="0"/>
                <a:ea typeface="Aptos" pitchFamily="34" charset="-122"/>
                <a:cs typeface="Aptos" pitchFamily="34" charset="-120"/>
              </a:rPr>
              <a:t>AGENT LOOP</a:t>
            </a:r>
            <a:endParaRPr lang="en-US" sz="1000" dirty="0"/>
          </a:p>
        </p:txBody>
      </p:sp>
      <p:sp>
        <p:nvSpPr>
          <p:cNvPr id="6" name="Shape 4"/>
          <p:cNvSpPr/>
          <p:nvPr/>
        </p:nvSpPr>
        <p:spPr>
          <a:xfrm>
            <a:off x="658368" y="2697480"/>
            <a:ext cx="1152144" cy="914400"/>
          </a:xfrm>
          <a:prstGeom prst="roundRect">
            <a:avLst>
              <a:gd name="adj" fmla="val 8000"/>
            </a:avLst>
          </a:prstGeom>
          <a:solidFill>
            <a:srgbClr val="FFFDF8"/>
          </a:solidFill>
          <a:ln w="12700">
            <a:solidFill>
              <a:srgbClr val="D9D2C2"/>
            </a:solidFill>
            <a:prstDash val="solid"/>
          </a:ln>
        </p:spPr>
      </p:sp>
      <p:sp>
        <p:nvSpPr>
          <p:cNvPr id="7" name="Text 5"/>
          <p:cNvSpPr/>
          <p:nvPr/>
        </p:nvSpPr>
        <p:spPr>
          <a:xfrm>
            <a:off x="731520" y="2862072"/>
            <a:ext cx="1005840" cy="228600"/>
          </a:xfrm>
          <a:prstGeom prst="rect">
            <a:avLst/>
          </a:prstGeom>
          <a:noFill/>
          <a:ln/>
        </p:spPr>
        <p:txBody>
          <a:bodyPr wrap="square" lIns="0" tIns="0" rIns="0" bIns="0" rtlCol="0" anchor="ctr">
            <a:normAutofit/>
          </a:bodyPr>
          <a:lstStyle/>
          <a:p>
            <a:pPr algn="ctr" indent="0" marL="0">
              <a:buNone/>
            </a:pPr>
            <a:r>
              <a:rPr lang="en-US" sz="1120" b="1" dirty="0">
                <a:solidFill>
                  <a:srgbClr val="132524"/>
                </a:solidFill>
                <a:latin typeface="Aptos" pitchFamily="34" charset="0"/>
                <a:ea typeface="Aptos" pitchFamily="34" charset="-122"/>
                <a:cs typeface="Aptos" pitchFamily="34" charset="-120"/>
              </a:rPr>
              <a:t>Observe</a:t>
            </a:r>
            <a:endParaRPr lang="en-US" sz="1120" dirty="0"/>
          </a:p>
        </p:txBody>
      </p:sp>
      <p:sp>
        <p:nvSpPr>
          <p:cNvPr id="8" name="Text 6"/>
          <p:cNvSpPr/>
          <p:nvPr/>
        </p:nvSpPr>
        <p:spPr>
          <a:xfrm>
            <a:off x="722376" y="3182112"/>
            <a:ext cx="1024128" cy="274320"/>
          </a:xfrm>
          <a:prstGeom prst="rect">
            <a:avLst/>
          </a:prstGeom>
          <a:noFill/>
          <a:ln/>
        </p:spPr>
        <p:txBody>
          <a:bodyPr wrap="square" lIns="0" tIns="0" rIns="0" bIns="0" rtlCol="0" anchor="ctr">
            <a:normAutofit/>
          </a:bodyPr>
          <a:lstStyle/>
          <a:p>
            <a:pPr algn="ctr" indent="0" marL="0">
              <a:buNone/>
            </a:pPr>
            <a:r>
              <a:rPr lang="en-US" sz="880" dirty="0">
                <a:solidFill>
                  <a:srgbClr val="61706D"/>
                </a:solidFill>
                <a:latin typeface="Aptos" pitchFamily="34" charset="0"/>
                <a:ea typeface="Aptos" pitchFamily="34" charset="-122"/>
                <a:cs typeface="Aptos" pitchFamily="34" charset="-120"/>
              </a:rPr>
              <a:t>official feed + state</a:t>
            </a:r>
            <a:endParaRPr lang="en-US" sz="880" dirty="0"/>
          </a:p>
        </p:txBody>
      </p:sp>
      <p:sp>
        <p:nvSpPr>
          <p:cNvPr id="9" name="Shape 7"/>
          <p:cNvSpPr/>
          <p:nvPr/>
        </p:nvSpPr>
        <p:spPr>
          <a:xfrm>
            <a:off x="1828800" y="3154680"/>
            <a:ext cx="155448" cy="0"/>
          </a:xfrm>
          <a:prstGeom prst="line">
            <a:avLst/>
          </a:prstGeom>
          <a:noFill/>
          <a:ln w="16510">
            <a:solidFill>
              <a:srgbClr val="1D6B62"/>
            </a:solidFill>
            <a:prstDash val="solid"/>
            <a:headEnd type="none"/>
            <a:tailEnd type="triangle"/>
          </a:ln>
        </p:spPr>
      </p:sp>
      <p:sp>
        <p:nvSpPr>
          <p:cNvPr id="10" name="Shape 8"/>
          <p:cNvSpPr/>
          <p:nvPr/>
        </p:nvSpPr>
        <p:spPr>
          <a:xfrm>
            <a:off x="2011680" y="2697480"/>
            <a:ext cx="1152144" cy="914400"/>
          </a:xfrm>
          <a:prstGeom prst="roundRect">
            <a:avLst>
              <a:gd name="adj" fmla="val 8000"/>
            </a:avLst>
          </a:prstGeom>
          <a:solidFill>
            <a:srgbClr val="FFFDF8"/>
          </a:solidFill>
          <a:ln w="12700">
            <a:solidFill>
              <a:srgbClr val="D9D2C2"/>
            </a:solidFill>
            <a:prstDash val="solid"/>
          </a:ln>
        </p:spPr>
      </p:sp>
      <p:sp>
        <p:nvSpPr>
          <p:cNvPr id="11" name="Text 9"/>
          <p:cNvSpPr/>
          <p:nvPr/>
        </p:nvSpPr>
        <p:spPr>
          <a:xfrm>
            <a:off x="2084832" y="2862072"/>
            <a:ext cx="1005840" cy="228600"/>
          </a:xfrm>
          <a:prstGeom prst="rect">
            <a:avLst/>
          </a:prstGeom>
          <a:noFill/>
          <a:ln/>
        </p:spPr>
        <p:txBody>
          <a:bodyPr wrap="square" lIns="0" tIns="0" rIns="0" bIns="0" rtlCol="0" anchor="ctr">
            <a:normAutofit/>
          </a:bodyPr>
          <a:lstStyle/>
          <a:p>
            <a:pPr algn="ctr" indent="0" marL="0">
              <a:buNone/>
            </a:pPr>
            <a:r>
              <a:rPr lang="en-US" sz="1120" b="1" dirty="0">
                <a:solidFill>
                  <a:srgbClr val="132524"/>
                </a:solidFill>
                <a:latin typeface="Aptos" pitchFamily="34" charset="0"/>
                <a:ea typeface="Aptos" pitchFamily="34" charset="-122"/>
                <a:cs typeface="Aptos" pitchFamily="34" charset="-120"/>
              </a:rPr>
              <a:t>Extract</a:t>
            </a:r>
            <a:endParaRPr lang="en-US" sz="1120" dirty="0"/>
          </a:p>
        </p:txBody>
      </p:sp>
      <p:sp>
        <p:nvSpPr>
          <p:cNvPr id="12" name="Text 10"/>
          <p:cNvSpPr/>
          <p:nvPr/>
        </p:nvSpPr>
        <p:spPr>
          <a:xfrm>
            <a:off x="2075688" y="3182112"/>
            <a:ext cx="1024128" cy="274320"/>
          </a:xfrm>
          <a:prstGeom prst="rect">
            <a:avLst/>
          </a:prstGeom>
          <a:noFill/>
          <a:ln/>
        </p:spPr>
        <p:txBody>
          <a:bodyPr wrap="square" lIns="0" tIns="0" rIns="0" bIns="0" rtlCol="0" anchor="ctr">
            <a:normAutofit/>
          </a:bodyPr>
          <a:lstStyle/>
          <a:p>
            <a:pPr algn="ctr" indent="0" marL="0">
              <a:buNone/>
            </a:pPr>
            <a:r>
              <a:rPr lang="en-US" sz="880" dirty="0">
                <a:solidFill>
                  <a:srgbClr val="61706D"/>
                </a:solidFill>
                <a:latin typeface="Aptos" pitchFamily="34" charset="0"/>
                <a:ea typeface="Aptos" pitchFamily="34" charset="-122"/>
                <a:cs typeface="Aptos" pitchFamily="34" charset="-120"/>
              </a:rPr>
              <a:t>typed fields</a:t>
            </a:r>
            <a:endParaRPr lang="en-US" sz="880" dirty="0"/>
          </a:p>
        </p:txBody>
      </p:sp>
      <p:sp>
        <p:nvSpPr>
          <p:cNvPr id="13" name="Shape 11"/>
          <p:cNvSpPr/>
          <p:nvPr/>
        </p:nvSpPr>
        <p:spPr>
          <a:xfrm>
            <a:off x="3182112" y="3154680"/>
            <a:ext cx="155448" cy="0"/>
          </a:xfrm>
          <a:prstGeom prst="line">
            <a:avLst/>
          </a:prstGeom>
          <a:noFill/>
          <a:ln w="16510">
            <a:solidFill>
              <a:srgbClr val="1D6B62"/>
            </a:solidFill>
            <a:prstDash val="solid"/>
            <a:headEnd type="none"/>
            <a:tailEnd type="triangle"/>
          </a:ln>
        </p:spPr>
      </p:sp>
      <p:sp>
        <p:nvSpPr>
          <p:cNvPr id="14" name="Shape 12"/>
          <p:cNvSpPr/>
          <p:nvPr/>
        </p:nvSpPr>
        <p:spPr>
          <a:xfrm>
            <a:off x="3364992" y="2697480"/>
            <a:ext cx="1152144" cy="914400"/>
          </a:xfrm>
          <a:prstGeom prst="roundRect">
            <a:avLst>
              <a:gd name="adj" fmla="val 8000"/>
            </a:avLst>
          </a:prstGeom>
          <a:solidFill>
            <a:srgbClr val="FFFDF8"/>
          </a:solidFill>
          <a:ln w="12700">
            <a:solidFill>
              <a:srgbClr val="D9D2C2"/>
            </a:solidFill>
            <a:prstDash val="solid"/>
          </a:ln>
        </p:spPr>
      </p:sp>
      <p:sp>
        <p:nvSpPr>
          <p:cNvPr id="15" name="Text 13"/>
          <p:cNvSpPr/>
          <p:nvPr/>
        </p:nvSpPr>
        <p:spPr>
          <a:xfrm>
            <a:off x="3438144" y="2862072"/>
            <a:ext cx="1005840" cy="228600"/>
          </a:xfrm>
          <a:prstGeom prst="rect">
            <a:avLst/>
          </a:prstGeom>
          <a:noFill/>
          <a:ln/>
        </p:spPr>
        <p:txBody>
          <a:bodyPr wrap="square" lIns="0" tIns="0" rIns="0" bIns="0" rtlCol="0" anchor="ctr">
            <a:normAutofit/>
          </a:bodyPr>
          <a:lstStyle/>
          <a:p>
            <a:pPr algn="ctr" indent="0" marL="0">
              <a:buNone/>
            </a:pPr>
            <a:r>
              <a:rPr lang="en-US" sz="1120" b="1" dirty="0">
                <a:solidFill>
                  <a:srgbClr val="132524"/>
                </a:solidFill>
                <a:latin typeface="Aptos" pitchFamily="34" charset="0"/>
                <a:ea typeface="Aptos" pitchFamily="34" charset="-122"/>
                <a:cs typeface="Aptos" pitchFamily="34" charset="-120"/>
              </a:rPr>
              <a:t>Trace</a:t>
            </a:r>
            <a:endParaRPr lang="en-US" sz="1120" dirty="0"/>
          </a:p>
        </p:txBody>
      </p:sp>
      <p:sp>
        <p:nvSpPr>
          <p:cNvPr id="16" name="Text 14"/>
          <p:cNvSpPr/>
          <p:nvPr/>
        </p:nvSpPr>
        <p:spPr>
          <a:xfrm>
            <a:off x="3429000" y="3182112"/>
            <a:ext cx="1024128" cy="274320"/>
          </a:xfrm>
          <a:prstGeom prst="rect">
            <a:avLst/>
          </a:prstGeom>
          <a:noFill/>
          <a:ln/>
        </p:spPr>
        <p:txBody>
          <a:bodyPr wrap="square" lIns="0" tIns="0" rIns="0" bIns="0" rtlCol="0" anchor="ctr">
            <a:normAutofit/>
          </a:bodyPr>
          <a:lstStyle/>
          <a:p>
            <a:pPr algn="ctr" indent="0" marL="0">
              <a:buNone/>
            </a:pPr>
            <a:r>
              <a:rPr lang="en-US" sz="880" dirty="0">
                <a:solidFill>
                  <a:srgbClr val="61706D"/>
                </a:solidFill>
                <a:latin typeface="Aptos" pitchFamily="34" charset="0"/>
                <a:ea typeface="Aptos" pitchFamily="34" charset="-122"/>
                <a:cs typeface="Aptos" pitchFamily="34" charset="-120"/>
              </a:rPr>
              <a:t>graph joins</a:t>
            </a:r>
            <a:endParaRPr lang="en-US" sz="880" dirty="0"/>
          </a:p>
        </p:txBody>
      </p:sp>
      <p:sp>
        <p:nvSpPr>
          <p:cNvPr id="17" name="Shape 15"/>
          <p:cNvSpPr/>
          <p:nvPr/>
        </p:nvSpPr>
        <p:spPr>
          <a:xfrm>
            <a:off x="4535424" y="3154680"/>
            <a:ext cx="155448" cy="0"/>
          </a:xfrm>
          <a:prstGeom prst="line">
            <a:avLst/>
          </a:prstGeom>
          <a:noFill/>
          <a:ln w="16510">
            <a:solidFill>
              <a:srgbClr val="1D6B62"/>
            </a:solidFill>
            <a:prstDash val="solid"/>
            <a:headEnd type="none"/>
            <a:tailEnd type="triangle"/>
          </a:ln>
        </p:spPr>
      </p:sp>
      <p:sp>
        <p:nvSpPr>
          <p:cNvPr id="18" name="Shape 16"/>
          <p:cNvSpPr/>
          <p:nvPr/>
        </p:nvSpPr>
        <p:spPr>
          <a:xfrm>
            <a:off x="4718304" y="2697480"/>
            <a:ext cx="1152144" cy="914400"/>
          </a:xfrm>
          <a:prstGeom prst="roundRect">
            <a:avLst>
              <a:gd name="adj" fmla="val 8000"/>
            </a:avLst>
          </a:prstGeom>
          <a:solidFill>
            <a:srgbClr val="FFFDF8"/>
          </a:solidFill>
          <a:ln w="12700">
            <a:solidFill>
              <a:srgbClr val="D9D2C2"/>
            </a:solidFill>
            <a:prstDash val="solid"/>
          </a:ln>
        </p:spPr>
      </p:sp>
      <p:sp>
        <p:nvSpPr>
          <p:cNvPr id="19" name="Text 17"/>
          <p:cNvSpPr/>
          <p:nvPr/>
        </p:nvSpPr>
        <p:spPr>
          <a:xfrm>
            <a:off x="4791456" y="2862072"/>
            <a:ext cx="1005840" cy="228600"/>
          </a:xfrm>
          <a:prstGeom prst="rect">
            <a:avLst/>
          </a:prstGeom>
          <a:noFill/>
          <a:ln/>
        </p:spPr>
        <p:txBody>
          <a:bodyPr wrap="square" lIns="0" tIns="0" rIns="0" bIns="0" rtlCol="0" anchor="ctr">
            <a:normAutofit/>
          </a:bodyPr>
          <a:lstStyle/>
          <a:p>
            <a:pPr algn="ctr" indent="0" marL="0">
              <a:buNone/>
            </a:pPr>
            <a:r>
              <a:rPr lang="en-US" sz="1120" b="1" dirty="0">
                <a:solidFill>
                  <a:srgbClr val="132524"/>
                </a:solidFill>
                <a:latin typeface="Aptos" pitchFamily="34" charset="0"/>
                <a:ea typeface="Aptos" pitchFamily="34" charset="-122"/>
                <a:cs typeface="Aptos" pitchFamily="34" charset="-120"/>
              </a:rPr>
              <a:t>Project</a:t>
            </a:r>
            <a:endParaRPr lang="en-US" sz="1120" dirty="0"/>
          </a:p>
        </p:txBody>
      </p:sp>
      <p:sp>
        <p:nvSpPr>
          <p:cNvPr id="20" name="Text 18"/>
          <p:cNvSpPr/>
          <p:nvPr/>
        </p:nvSpPr>
        <p:spPr>
          <a:xfrm>
            <a:off x="4782312" y="3182112"/>
            <a:ext cx="1024128" cy="274320"/>
          </a:xfrm>
          <a:prstGeom prst="rect">
            <a:avLst/>
          </a:prstGeom>
          <a:noFill/>
          <a:ln/>
        </p:spPr>
        <p:txBody>
          <a:bodyPr wrap="square" lIns="0" tIns="0" rIns="0" bIns="0" rtlCol="0" anchor="ctr">
            <a:normAutofit/>
          </a:bodyPr>
          <a:lstStyle/>
          <a:p>
            <a:pPr algn="ctr" indent="0" marL="0">
              <a:buNone/>
            </a:pPr>
            <a:r>
              <a:rPr lang="en-US" sz="880" dirty="0">
                <a:solidFill>
                  <a:srgbClr val="61706D"/>
                </a:solidFill>
                <a:latin typeface="Aptos" pitchFamily="34" charset="0"/>
                <a:ea typeface="Aptos" pitchFamily="34" charset="-122"/>
                <a:cs typeface="Aptos" pitchFamily="34" charset="-120"/>
              </a:rPr>
              <a:t>7-day service</a:t>
            </a:r>
            <a:endParaRPr lang="en-US" sz="880" dirty="0"/>
          </a:p>
        </p:txBody>
      </p:sp>
      <p:sp>
        <p:nvSpPr>
          <p:cNvPr id="21" name="Shape 19"/>
          <p:cNvSpPr/>
          <p:nvPr/>
        </p:nvSpPr>
        <p:spPr>
          <a:xfrm>
            <a:off x="5888736" y="3154680"/>
            <a:ext cx="155448" cy="0"/>
          </a:xfrm>
          <a:prstGeom prst="line">
            <a:avLst/>
          </a:prstGeom>
          <a:noFill/>
          <a:ln w="16510">
            <a:solidFill>
              <a:srgbClr val="1D6B62"/>
            </a:solidFill>
            <a:prstDash val="solid"/>
            <a:headEnd type="none"/>
            <a:tailEnd type="triangle"/>
          </a:ln>
        </p:spPr>
      </p:sp>
      <p:sp>
        <p:nvSpPr>
          <p:cNvPr id="22" name="Shape 20"/>
          <p:cNvSpPr/>
          <p:nvPr/>
        </p:nvSpPr>
        <p:spPr>
          <a:xfrm>
            <a:off x="6071616" y="2697480"/>
            <a:ext cx="1152144" cy="914400"/>
          </a:xfrm>
          <a:prstGeom prst="roundRect">
            <a:avLst>
              <a:gd name="adj" fmla="val 8000"/>
            </a:avLst>
          </a:prstGeom>
          <a:solidFill>
            <a:srgbClr val="FFFDF8"/>
          </a:solidFill>
          <a:ln w="12700">
            <a:solidFill>
              <a:srgbClr val="D9D2C2"/>
            </a:solidFill>
            <a:prstDash val="solid"/>
          </a:ln>
        </p:spPr>
      </p:sp>
      <p:sp>
        <p:nvSpPr>
          <p:cNvPr id="23" name="Text 21"/>
          <p:cNvSpPr/>
          <p:nvPr/>
        </p:nvSpPr>
        <p:spPr>
          <a:xfrm>
            <a:off x="6144768" y="2862072"/>
            <a:ext cx="1005840" cy="228600"/>
          </a:xfrm>
          <a:prstGeom prst="rect">
            <a:avLst/>
          </a:prstGeom>
          <a:noFill/>
          <a:ln/>
        </p:spPr>
        <p:txBody>
          <a:bodyPr wrap="square" lIns="0" tIns="0" rIns="0" bIns="0" rtlCol="0" anchor="ctr">
            <a:normAutofit/>
          </a:bodyPr>
          <a:lstStyle/>
          <a:p>
            <a:pPr algn="ctr" indent="0" marL="0">
              <a:buNone/>
            </a:pPr>
            <a:r>
              <a:rPr lang="en-US" sz="1120" b="1" dirty="0">
                <a:solidFill>
                  <a:srgbClr val="132524"/>
                </a:solidFill>
                <a:latin typeface="Aptos" pitchFamily="34" charset="0"/>
                <a:ea typeface="Aptos" pitchFamily="34" charset="-122"/>
                <a:cs typeface="Aptos" pitchFamily="34" charset="-120"/>
              </a:rPr>
              <a:t>Optimize</a:t>
            </a:r>
            <a:endParaRPr lang="en-US" sz="1120" dirty="0"/>
          </a:p>
        </p:txBody>
      </p:sp>
      <p:sp>
        <p:nvSpPr>
          <p:cNvPr id="24" name="Text 22"/>
          <p:cNvSpPr/>
          <p:nvPr/>
        </p:nvSpPr>
        <p:spPr>
          <a:xfrm>
            <a:off x="6135624" y="3182112"/>
            <a:ext cx="1024128" cy="274320"/>
          </a:xfrm>
          <a:prstGeom prst="rect">
            <a:avLst/>
          </a:prstGeom>
          <a:noFill/>
          <a:ln/>
        </p:spPr>
        <p:txBody>
          <a:bodyPr wrap="square" lIns="0" tIns="0" rIns="0" bIns="0" rtlCol="0" anchor="ctr">
            <a:normAutofit/>
          </a:bodyPr>
          <a:lstStyle/>
          <a:p>
            <a:pPr algn="ctr" indent="0" marL="0">
              <a:buNone/>
            </a:pPr>
            <a:r>
              <a:rPr lang="en-US" sz="880" dirty="0">
                <a:solidFill>
                  <a:srgbClr val="61706D"/>
                </a:solidFill>
                <a:latin typeface="Aptos" pitchFamily="34" charset="0"/>
                <a:ea typeface="Aptos" pitchFamily="34" charset="-122"/>
                <a:cs typeface="Aptos" pitchFamily="34" charset="-120"/>
              </a:rPr>
              <a:t>LP recovery</a:t>
            </a:r>
            <a:endParaRPr lang="en-US" sz="880" dirty="0"/>
          </a:p>
        </p:txBody>
      </p:sp>
      <p:sp>
        <p:nvSpPr>
          <p:cNvPr id="25" name="Shape 23"/>
          <p:cNvSpPr/>
          <p:nvPr/>
        </p:nvSpPr>
        <p:spPr>
          <a:xfrm>
            <a:off x="7242048" y="3154680"/>
            <a:ext cx="155448" cy="0"/>
          </a:xfrm>
          <a:prstGeom prst="line">
            <a:avLst/>
          </a:prstGeom>
          <a:noFill/>
          <a:ln w="16510">
            <a:solidFill>
              <a:srgbClr val="1D6B62"/>
            </a:solidFill>
            <a:prstDash val="solid"/>
            <a:headEnd type="none"/>
            <a:tailEnd type="triangle"/>
          </a:ln>
        </p:spPr>
      </p:sp>
      <p:sp>
        <p:nvSpPr>
          <p:cNvPr id="26" name="Shape 24"/>
          <p:cNvSpPr/>
          <p:nvPr/>
        </p:nvSpPr>
        <p:spPr>
          <a:xfrm>
            <a:off x="7424928" y="2697480"/>
            <a:ext cx="1152144" cy="914400"/>
          </a:xfrm>
          <a:prstGeom prst="roundRect">
            <a:avLst>
              <a:gd name="adj" fmla="val 8000"/>
            </a:avLst>
          </a:prstGeom>
          <a:solidFill>
            <a:srgbClr val="F1D5CC"/>
          </a:solidFill>
          <a:ln w="12700">
            <a:solidFill>
              <a:srgbClr val="B94735"/>
            </a:solidFill>
            <a:prstDash val="solid"/>
          </a:ln>
        </p:spPr>
      </p:sp>
      <p:sp>
        <p:nvSpPr>
          <p:cNvPr id="27" name="Text 25"/>
          <p:cNvSpPr/>
          <p:nvPr/>
        </p:nvSpPr>
        <p:spPr>
          <a:xfrm>
            <a:off x="7498080" y="2862072"/>
            <a:ext cx="1005840" cy="228600"/>
          </a:xfrm>
          <a:prstGeom prst="rect">
            <a:avLst/>
          </a:prstGeom>
          <a:noFill/>
          <a:ln/>
        </p:spPr>
        <p:txBody>
          <a:bodyPr wrap="square" lIns="0" tIns="0" rIns="0" bIns="0" rtlCol="0" anchor="ctr">
            <a:normAutofit/>
          </a:bodyPr>
          <a:lstStyle/>
          <a:p>
            <a:pPr algn="ctr" indent="0" marL="0">
              <a:buNone/>
            </a:pPr>
            <a:r>
              <a:rPr lang="en-US" sz="1120" b="1" dirty="0">
                <a:solidFill>
                  <a:srgbClr val="8F3327"/>
                </a:solidFill>
                <a:latin typeface="Aptos" pitchFamily="34" charset="0"/>
                <a:ea typeface="Aptos" pitchFamily="34" charset="-122"/>
                <a:cs typeface="Aptos" pitchFamily="34" charset="-120"/>
              </a:rPr>
              <a:t>Explain</a:t>
            </a:r>
            <a:endParaRPr lang="en-US" sz="1120" dirty="0"/>
          </a:p>
        </p:txBody>
      </p:sp>
      <p:sp>
        <p:nvSpPr>
          <p:cNvPr id="28" name="Text 26"/>
          <p:cNvSpPr/>
          <p:nvPr/>
        </p:nvSpPr>
        <p:spPr>
          <a:xfrm>
            <a:off x="7488936" y="3182112"/>
            <a:ext cx="1024128" cy="274320"/>
          </a:xfrm>
          <a:prstGeom prst="rect">
            <a:avLst/>
          </a:prstGeom>
          <a:noFill/>
          <a:ln/>
        </p:spPr>
        <p:txBody>
          <a:bodyPr wrap="square" lIns="0" tIns="0" rIns="0" bIns="0" rtlCol="0" anchor="ctr">
            <a:normAutofit/>
          </a:bodyPr>
          <a:lstStyle/>
          <a:p>
            <a:pPr algn="ctr" indent="0" marL="0">
              <a:buNone/>
            </a:pPr>
            <a:r>
              <a:rPr lang="en-US" sz="880" dirty="0">
                <a:solidFill>
                  <a:srgbClr val="61706D"/>
                </a:solidFill>
                <a:latin typeface="Aptos" pitchFamily="34" charset="0"/>
                <a:ea typeface="Aptos" pitchFamily="34" charset="-122"/>
                <a:cs typeface="Aptos" pitchFamily="34" charset="-120"/>
              </a:rPr>
              <a:t>draft + comms</a:t>
            </a:r>
            <a:endParaRPr lang="en-US" sz="880" dirty="0"/>
          </a:p>
        </p:txBody>
      </p:sp>
      <p:sp>
        <p:nvSpPr>
          <p:cNvPr id="29" name="Shape 27"/>
          <p:cNvSpPr/>
          <p:nvPr/>
        </p:nvSpPr>
        <p:spPr>
          <a:xfrm>
            <a:off x="658368" y="4078224"/>
            <a:ext cx="8156448" cy="1554480"/>
          </a:xfrm>
          <a:prstGeom prst="roundRect">
            <a:avLst>
              <a:gd name="adj" fmla="val 4706"/>
            </a:avLst>
          </a:prstGeom>
          <a:solidFill>
            <a:srgbClr val="143B37"/>
          </a:solidFill>
          <a:ln w="12700">
            <a:solidFill>
              <a:srgbClr val="143B37"/>
            </a:solidFill>
            <a:prstDash val="solid"/>
          </a:ln>
        </p:spPr>
      </p:sp>
      <p:sp>
        <p:nvSpPr>
          <p:cNvPr id="30" name="Text 28"/>
          <p:cNvSpPr/>
          <p:nvPr/>
        </p:nvSpPr>
        <p:spPr>
          <a:xfrm>
            <a:off x="941832" y="4343400"/>
            <a:ext cx="2880360" cy="228600"/>
          </a:xfrm>
          <a:prstGeom prst="rect">
            <a:avLst/>
          </a:prstGeom>
          <a:noFill/>
          <a:ln/>
        </p:spPr>
        <p:txBody>
          <a:bodyPr wrap="square" lIns="0" tIns="0" rIns="0" bIns="0" rtlCol="0" anchor="ctr">
            <a:normAutofit/>
          </a:bodyPr>
          <a:lstStyle/>
          <a:p>
            <a:pPr indent="0" marL="0">
              <a:buNone/>
            </a:pPr>
            <a:r>
              <a:rPr lang="en-US" sz="1000" b="1" spc="110" kern="0" dirty="0">
                <a:solidFill>
                  <a:srgbClr val="78B7A9"/>
                </a:solidFill>
                <a:latin typeface="Aptos" pitchFamily="34" charset="0"/>
                <a:ea typeface="Aptos" pitchFamily="34" charset="-122"/>
                <a:cs typeface="Aptos" pitchFamily="34" charset="-120"/>
              </a:rPr>
              <a:t>DETERMINISTIC GUARDRAIL LANE</a:t>
            </a:r>
            <a:endParaRPr lang="en-US" sz="1000" dirty="0"/>
          </a:p>
        </p:txBody>
      </p:sp>
      <p:sp>
        <p:nvSpPr>
          <p:cNvPr id="31" name="Shape 29"/>
          <p:cNvSpPr/>
          <p:nvPr/>
        </p:nvSpPr>
        <p:spPr>
          <a:xfrm>
            <a:off x="941832" y="4754880"/>
            <a:ext cx="237744" cy="237744"/>
          </a:xfrm>
          <a:prstGeom prst="ellipse">
            <a:avLst/>
          </a:prstGeom>
          <a:solidFill>
            <a:srgbClr val="78B7A9"/>
          </a:solidFill>
          <a:ln w="12700">
            <a:solidFill>
              <a:srgbClr val="78B7A9"/>
            </a:solidFill>
            <a:prstDash val="solid"/>
          </a:ln>
        </p:spPr>
      </p:sp>
      <p:sp>
        <p:nvSpPr>
          <p:cNvPr id="32" name="Text 30"/>
          <p:cNvSpPr/>
          <p:nvPr/>
        </p:nvSpPr>
        <p:spPr>
          <a:xfrm>
            <a:off x="1289304" y="4709160"/>
            <a:ext cx="1033272" cy="219456"/>
          </a:xfrm>
          <a:prstGeom prst="rect">
            <a:avLst/>
          </a:prstGeom>
          <a:noFill/>
          <a:ln/>
        </p:spPr>
        <p:txBody>
          <a:bodyPr wrap="square" lIns="0" tIns="0" rIns="0" bIns="0" rtlCol="0" anchor="ctr">
            <a:normAutofit/>
          </a:bodyPr>
          <a:lstStyle/>
          <a:p>
            <a:pPr indent="0" marL="0">
              <a:buNone/>
            </a:pPr>
            <a:r>
              <a:rPr lang="en-US" sz="1000" b="1" dirty="0">
                <a:solidFill>
                  <a:srgbClr val="FFFDF8"/>
                </a:solidFill>
                <a:latin typeface="Aptos" pitchFamily="34" charset="0"/>
                <a:ea typeface="Aptos" pitchFamily="34" charset="-122"/>
                <a:cs typeface="Aptos" pitchFamily="34" charset="-120"/>
              </a:rPr>
              <a:t>Provenance</a:t>
            </a:r>
            <a:endParaRPr lang="en-US" sz="1000" dirty="0"/>
          </a:p>
        </p:txBody>
      </p:sp>
      <p:sp>
        <p:nvSpPr>
          <p:cNvPr id="33" name="Text 31"/>
          <p:cNvSpPr/>
          <p:nvPr/>
        </p:nvSpPr>
        <p:spPr>
          <a:xfrm>
            <a:off x="1289304" y="4965192"/>
            <a:ext cx="1060704" cy="457200"/>
          </a:xfrm>
          <a:prstGeom prst="rect">
            <a:avLst/>
          </a:prstGeom>
          <a:noFill/>
          <a:ln/>
        </p:spPr>
        <p:txBody>
          <a:bodyPr wrap="square" lIns="0" tIns="0" rIns="0" bIns="0" rtlCol="0" anchor="t">
            <a:normAutofit/>
          </a:bodyPr>
          <a:lstStyle/>
          <a:p>
            <a:pPr indent="0" marL="0">
              <a:buNone/>
            </a:pPr>
            <a:r>
              <a:rPr lang="en-US" sz="830" dirty="0">
                <a:solidFill>
                  <a:srgbClr val="78B7A9"/>
                </a:solidFill>
                <a:latin typeface="Aptos" pitchFamily="34" charset="0"/>
                <a:ea typeface="Aptos" pitchFamily="34" charset="-122"/>
                <a:cs typeface="Aptos" pitchFamily="34" charset="-120"/>
              </a:rPr>
              <a:t>unsupported fields dropped</a:t>
            </a:r>
            <a:endParaRPr lang="en-US" sz="830" dirty="0"/>
          </a:p>
        </p:txBody>
      </p:sp>
      <p:sp>
        <p:nvSpPr>
          <p:cNvPr id="34" name="Shape 32"/>
          <p:cNvSpPr/>
          <p:nvPr/>
        </p:nvSpPr>
        <p:spPr>
          <a:xfrm>
            <a:off x="2441448" y="4754880"/>
            <a:ext cx="237744" cy="237744"/>
          </a:xfrm>
          <a:prstGeom prst="ellipse">
            <a:avLst/>
          </a:prstGeom>
          <a:solidFill>
            <a:srgbClr val="78B7A9"/>
          </a:solidFill>
          <a:ln w="12700">
            <a:solidFill>
              <a:srgbClr val="78B7A9"/>
            </a:solidFill>
            <a:prstDash val="solid"/>
          </a:ln>
        </p:spPr>
      </p:sp>
      <p:sp>
        <p:nvSpPr>
          <p:cNvPr id="35" name="Text 33"/>
          <p:cNvSpPr/>
          <p:nvPr/>
        </p:nvSpPr>
        <p:spPr>
          <a:xfrm>
            <a:off x="2788920" y="4709160"/>
            <a:ext cx="1033272" cy="219456"/>
          </a:xfrm>
          <a:prstGeom prst="rect">
            <a:avLst/>
          </a:prstGeom>
          <a:noFill/>
          <a:ln/>
        </p:spPr>
        <p:txBody>
          <a:bodyPr wrap="square" lIns="0" tIns="0" rIns="0" bIns="0" rtlCol="0" anchor="ctr">
            <a:normAutofit/>
          </a:bodyPr>
          <a:lstStyle/>
          <a:p>
            <a:pPr indent="0" marL="0">
              <a:buNone/>
            </a:pPr>
            <a:r>
              <a:rPr lang="en-US" sz="1000" b="1" dirty="0">
                <a:solidFill>
                  <a:srgbClr val="FFFDF8"/>
                </a:solidFill>
                <a:latin typeface="Aptos" pitchFamily="34" charset="0"/>
                <a:ea typeface="Aptos" pitchFamily="34" charset="-122"/>
                <a:cs typeface="Aptos" pitchFamily="34" charset="-120"/>
              </a:rPr>
              <a:t>Recall state</a:t>
            </a:r>
            <a:endParaRPr lang="en-US" sz="1000" dirty="0"/>
          </a:p>
        </p:txBody>
      </p:sp>
      <p:sp>
        <p:nvSpPr>
          <p:cNvPr id="36" name="Text 34"/>
          <p:cNvSpPr/>
          <p:nvPr/>
        </p:nvSpPr>
        <p:spPr>
          <a:xfrm>
            <a:off x="2788920" y="4965192"/>
            <a:ext cx="1060704" cy="457200"/>
          </a:xfrm>
          <a:prstGeom prst="rect">
            <a:avLst/>
          </a:prstGeom>
          <a:noFill/>
          <a:ln/>
        </p:spPr>
        <p:txBody>
          <a:bodyPr wrap="square" lIns="0" tIns="0" rIns="0" bIns="0" rtlCol="0" anchor="t">
            <a:normAutofit/>
          </a:bodyPr>
          <a:lstStyle/>
          <a:p>
            <a:pPr indent="0" marL="0">
              <a:buNone/>
            </a:pPr>
            <a:r>
              <a:rPr lang="en-US" sz="830" dirty="0">
                <a:solidFill>
                  <a:srgbClr val="78B7A9"/>
                </a:solidFill>
                <a:latin typeface="Aptos" pitchFamily="34" charset="0"/>
                <a:ea typeface="Aptos" pitchFamily="34" charset="-122"/>
                <a:cs typeface="Aptos" pitchFamily="34" charset="-120"/>
              </a:rPr>
              <a:t>confirmed inventory never returns</a:t>
            </a:r>
            <a:endParaRPr lang="en-US" sz="830" dirty="0"/>
          </a:p>
        </p:txBody>
      </p:sp>
      <p:sp>
        <p:nvSpPr>
          <p:cNvPr id="37" name="Shape 35"/>
          <p:cNvSpPr/>
          <p:nvPr/>
        </p:nvSpPr>
        <p:spPr>
          <a:xfrm>
            <a:off x="3941064" y="4754880"/>
            <a:ext cx="237744" cy="237744"/>
          </a:xfrm>
          <a:prstGeom prst="ellipse">
            <a:avLst/>
          </a:prstGeom>
          <a:solidFill>
            <a:srgbClr val="78B7A9"/>
          </a:solidFill>
          <a:ln w="12700">
            <a:solidFill>
              <a:srgbClr val="78B7A9"/>
            </a:solidFill>
            <a:prstDash val="solid"/>
          </a:ln>
        </p:spPr>
      </p:sp>
      <p:sp>
        <p:nvSpPr>
          <p:cNvPr id="38" name="Text 36"/>
          <p:cNvSpPr/>
          <p:nvPr/>
        </p:nvSpPr>
        <p:spPr>
          <a:xfrm>
            <a:off x="4288536" y="4709160"/>
            <a:ext cx="1033272" cy="219456"/>
          </a:xfrm>
          <a:prstGeom prst="rect">
            <a:avLst/>
          </a:prstGeom>
          <a:noFill/>
          <a:ln/>
        </p:spPr>
        <p:txBody>
          <a:bodyPr wrap="square" lIns="0" tIns="0" rIns="0" bIns="0" rtlCol="0" anchor="ctr">
            <a:normAutofit/>
          </a:bodyPr>
          <a:lstStyle/>
          <a:p>
            <a:pPr indent="0" marL="0">
              <a:buNone/>
            </a:pPr>
            <a:r>
              <a:rPr lang="en-US" sz="1000" b="1" dirty="0">
                <a:solidFill>
                  <a:srgbClr val="FFFDF8"/>
                </a:solidFill>
                <a:latin typeface="Aptos" pitchFamily="34" charset="0"/>
                <a:ea typeface="Aptos" pitchFamily="34" charset="-122"/>
                <a:cs typeface="Aptos" pitchFamily="34" charset="-120"/>
              </a:rPr>
              <a:t>Projection</a:t>
            </a:r>
            <a:endParaRPr lang="en-US" sz="1000" dirty="0"/>
          </a:p>
        </p:txBody>
      </p:sp>
      <p:sp>
        <p:nvSpPr>
          <p:cNvPr id="39" name="Text 37"/>
          <p:cNvSpPr/>
          <p:nvPr/>
        </p:nvSpPr>
        <p:spPr>
          <a:xfrm>
            <a:off x="4288536" y="4965192"/>
            <a:ext cx="1060704" cy="457200"/>
          </a:xfrm>
          <a:prstGeom prst="rect">
            <a:avLst/>
          </a:prstGeom>
          <a:noFill/>
          <a:ln/>
        </p:spPr>
        <p:txBody>
          <a:bodyPr wrap="square" lIns="0" tIns="0" rIns="0" bIns="0" rtlCol="0" anchor="t">
            <a:normAutofit/>
          </a:bodyPr>
          <a:lstStyle/>
          <a:p>
            <a:pPr indent="0" marL="0">
              <a:buNone/>
            </a:pPr>
            <a:r>
              <a:rPr lang="en-US" sz="830" dirty="0">
                <a:solidFill>
                  <a:srgbClr val="78B7A9"/>
                </a:solidFill>
                <a:latin typeface="Aptos" pitchFamily="34" charset="0"/>
                <a:ea typeface="Aptos" pitchFamily="34" charset="-122"/>
                <a:cs typeface="Aptos" pitchFamily="34" charset="-120"/>
              </a:rPr>
              <a:t>warehouse FEFO + PO ETA</a:t>
            </a:r>
            <a:endParaRPr lang="en-US" sz="830" dirty="0"/>
          </a:p>
        </p:txBody>
      </p:sp>
      <p:sp>
        <p:nvSpPr>
          <p:cNvPr id="40" name="Shape 38"/>
          <p:cNvSpPr/>
          <p:nvPr/>
        </p:nvSpPr>
        <p:spPr>
          <a:xfrm>
            <a:off x="5440680" y="4754880"/>
            <a:ext cx="237744" cy="237744"/>
          </a:xfrm>
          <a:prstGeom prst="ellipse">
            <a:avLst/>
          </a:prstGeom>
          <a:solidFill>
            <a:srgbClr val="78B7A9"/>
          </a:solidFill>
          <a:ln w="12700">
            <a:solidFill>
              <a:srgbClr val="78B7A9"/>
            </a:solidFill>
            <a:prstDash val="solid"/>
          </a:ln>
        </p:spPr>
      </p:sp>
      <p:sp>
        <p:nvSpPr>
          <p:cNvPr id="41" name="Text 39"/>
          <p:cNvSpPr/>
          <p:nvPr/>
        </p:nvSpPr>
        <p:spPr>
          <a:xfrm>
            <a:off x="5788152" y="4709160"/>
            <a:ext cx="1033272" cy="219456"/>
          </a:xfrm>
          <a:prstGeom prst="rect">
            <a:avLst/>
          </a:prstGeom>
          <a:noFill/>
          <a:ln/>
        </p:spPr>
        <p:txBody>
          <a:bodyPr wrap="square" lIns="0" tIns="0" rIns="0" bIns="0" rtlCol="0" anchor="ctr">
            <a:normAutofit/>
          </a:bodyPr>
          <a:lstStyle/>
          <a:p>
            <a:pPr indent="0" marL="0">
              <a:buNone/>
            </a:pPr>
            <a:r>
              <a:rPr lang="en-US" sz="1000" b="1" dirty="0">
                <a:solidFill>
                  <a:srgbClr val="FFFDF8"/>
                </a:solidFill>
                <a:latin typeface="Aptos" pitchFamily="34" charset="0"/>
                <a:ea typeface="Aptos" pitchFamily="34" charset="-122"/>
                <a:cs typeface="Aptos" pitchFamily="34" charset="-120"/>
              </a:rPr>
              <a:t>Optimization</a:t>
            </a:r>
            <a:endParaRPr lang="en-US" sz="1000" dirty="0"/>
          </a:p>
        </p:txBody>
      </p:sp>
      <p:sp>
        <p:nvSpPr>
          <p:cNvPr id="42" name="Text 40"/>
          <p:cNvSpPr/>
          <p:nvPr/>
        </p:nvSpPr>
        <p:spPr>
          <a:xfrm>
            <a:off x="5788152" y="4965192"/>
            <a:ext cx="1060704" cy="457200"/>
          </a:xfrm>
          <a:prstGeom prst="rect">
            <a:avLst/>
          </a:prstGeom>
          <a:noFill/>
          <a:ln/>
        </p:spPr>
        <p:txBody>
          <a:bodyPr wrap="square" lIns="0" tIns="0" rIns="0" bIns="0" rtlCol="0" anchor="t">
            <a:normAutofit/>
          </a:bodyPr>
          <a:lstStyle/>
          <a:p>
            <a:pPr indent="0" marL="0">
              <a:buNone/>
            </a:pPr>
            <a:r>
              <a:rPr lang="en-US" sz="830" dirty="0">
                <a:solidFill>
                  <a:srgbClr val="78B7A9"/>
                </a:solidFill>
                <a:latin typeface="Aptos" pitchFamily="34" charset="0"/>
                <a:ea typeface="Aptos" pitchFamily="34" charset="-122"/>
                <a:cs typeface="Aptos" pitchFamily="34" charset="-120"/>
              </a:rPr>
              <a:t>capacity, demand, expiry, cost</a:t>
            </a:r>
            <a:endParaRPr lang="en-US" sz="830" dirty="0"/>
          </a:p>
        </p:txBody>
      </p:sp>
      <p:sp>
        <p:nvSpPr>
          <p:cNvPr id="43" name="Shape 41"/>
          <p:cNvSpPr/>
          <p:nvPr/>
        </p:nvSpPr>
        <p:spPr>
          <a:xfrm>
            <a:off x="6940296" y="4754880"/>
            <a:ext cx="237744" cy="237744"/>
          </a:xfrm>
          <a:prstGeom prst="ellipse">
            <a:avLst/>
          </a:prstGeom>
          <a:solidFill>
            <a:srgbClr val="B94735"/>
          </a:solidFill>
          <a:ln w="12700">
            <a:solidFill>
              <a:srgbClr val="B94735"/>
            </a:solidFill>
            <a:prstDash val="solid"/>
          </a:ln>
        </p:spPr>
      </p:sp>
      <p:sp>
        <p:nvSpPr>
          <p:cNvPr id="44" name="Text 42"/>
          <p:cNvSpPr/>
          <p:nvPr/>
        </p:nvSpPr>
        <p:spPr>
          <a:xfrm>
            <a:off x="7287768" y="4709160"/>
            <a:ext cx="1033272" cy="219456"/>
          </a:xfrm>
          <a:prstGeom prst="rect">
            <a:avLst/>
          </a:prstGeom>
          <a:noFill/>
          <a:ln/>
        </p:spPr>
        <p:txBody>
          <a:bodyPr wrap="square" lIns="0" tIns="0" rIns="0" bIns="0" rtlCol="0" anchor="ctr">
            <a:normAutofit/>
          </a:bodyPr>
          <a:lstStyle/>
          <a:p>
            <a:pPr indent="0" marL="0">
              <a:buNone/>
            </a:pPr>
            <a:r>
              <a:rPr lang="en-US" sz="1000" b="1" dirty="0">
                <a:solidFill>
                  <a:srgbClr val="FFFDF8"/>
                </a:solidFill>
                <a:latin typeface="Aptos" pitchFamily="34" charset="0"/>
                <a:ea typeface="Aptos" pitchFamily="34" charset="-122"/>
                <a:cs typeface="Aptos" pitchFamily="34" charset="-120"/>
              </a:rPr>
              <a:t>Approval</a:t>
            </a:r>
            <a:endParaRPr lang="en-US" sz="1000" dirty="0"/>
          </a:p>
        </p:txBody>
      </p:sp>
      <p:sp>
        <p:nvSpPr>
          <p:cNvPr id="45" name="Text 43"/>
          <p:cNvSpPr/>
          <p:nvPr/>
        </p:nvSpPr>
        <p:spPr>
          <a:xfrm>
            <a:off x="7287768" y="4965192"/>
            <a:ext cx="1060704" cy="457200"/>
          </a:xfrm>
          <a:prstGeom prst="rect">
            <a:avLst/>
          </a:prstGeom>
          <a:noFill/>
          <a:ln/>
        </p:spPr>
        <p:txBody>
          <a:bodyPr wrap="square" lIns="0" tIns="0" rIns="0" bIns="0" rtlCol="0" anchor="t">
            <a:normAutofit/>
          </a:bodyPr>
          <a:lstStyle/>
          <a:p>
            <a:pPr indent="0" marL="0">
              <a:buNone/>
            </a:pPr>
            <a:r>
              <a:rPr lang="en-US" sz="830" dirty="0">
                <a:solidFill>
                  <a:srgbClr val="78B7A9"/>
                </a:solidFill>
                <a:latin typeface="Aptos" pitchFamily="34" charset="0"/>
                <a:ea typeface="Aptos" pitchFamily="34" charset="-122"/>
                <a:cs typeface="Aptos" pitchFamily="34" charset="-120"/>
              </a:rPr>
              <a:t>latest, intact, feasible, idempotent</a:t>
            </a:r>
            <a:endParaRPr lang="en-US" sz="830" dirty="0"/>
          </a:p>
        </p:txBody>
      </p:sp>
      <p:sp>
        <p:nvSpPr>
          <p:cNvPr id="46" name="Shape 44"/>
          <p:cNvSpPr/>
          <p:nvPr/>
        </p:nvSpPr>
        <p:spPr>
          <a:xfrm>
            <a:off x="9125712" y="2331720"/>
            <a:ext cx="2423160" cy="3300984"/>
          </a:xfrm>
          <a:prstGeom prst="roundRect">
            <a:avLst>
              <a:gd name="adj" fmla="val 3019"/>
            </a:avLst>
          </a:prstGeom>
          <a:solidFill>
            <a:srgbClr val="E8EEE9"/>
          </a:solidFill>
          <a:ln w="12700">
            <a:solidFill>
              <a:srgbClr val="D9D2C2"/>
            </a:solidFill>
            <a:prstDash val="solid"/>
          </a:ln>
        </p:spPr>
      </p:sp>
      <p:sp>
        <p:nvSpPr>
          <p:cNvPr id="47" name="Text 45"/>
          <p:cNvSpPr/>
          <p:nvPr/>
        </p:nvSpPr>
        <p:spPr>
          <a:xfrm>
            <a:off x="9400032" y="2624328"/>
            <a:ext cx="1874520" cy="292608"/>
          </a:xfrm>
          <a:prstGeom prst="rect">
            <a:avLst/>
          </a:prstGeom>
          <a:noFill/>
          <a:ln/>
        </p:spPr>
        <p:txBody>
          <a:bodyPr wrap="square" lIns="0" tIns="0" rIns="0" bIns="0" rtlCol="0" anchor="ctr">
            <a:normAutofit/>
          </a:bodyPr>
          <a:lstStyle/>
          <a:p>
            <a:pPr indent="0" marL="0">
              <a:buNone/>
            </a:pPr>
            <a:r>
              <a:rPr lang="en-US" sz="1350" b="1" dirty="0">
                <a:solidFill>
                  <a:srgbClr val="132524"/>
                </a:solidFill>
                <a:latin typeface="Aptos" pitchFamily="34" charset="0"/>
                <a:ea typeface="Aptos" pitchFamily="34" charset="-122"/>
                <a:cs typeface="Aptos" pitchFamily="34" charset="-120"/>
              </a:rPr>
              <a:t>Boring stack, on purpose</a:t>
            </a:r>
            <a:endParaRPr lang="en-US" sz="1350" dirty="0"/>
          </a:p>
        </p:txBody>
      </p:sp>
      <p:sp>
        <p:nvSpPr>
          <p:cNvPr id="48" name="Shape 46"/>
          <p:cNvSpPr/>
          <p:nvPr/>
        </p:nvSpPr>
        <p:spPr>
          <a:xfrm>
            <a:off x="9400032" y="3163824"/>
            <a:ext cx="237744" cy="237744"/>
          </a:xfrm>
          <a:prstGeom prst="ellipse">
            <a:avLst/>
          </a:prstGeom>
          <a:solidFill>
            <a:srgbClr val="1D6B62"/>
          </a:solidFill>
          <a:ln w="12700">
            <a:solidFill>
              <a:srgbClr val="1D6B62"/>
            </a:solidFill>
            <a:prstDash val="solid"/>
          </a:ln>
        </p:spPr>
      </p:sp>
      <p:sp>
        <p:nvSpPr>
          <p:cNvPr id="49" name="Text 47"/>
          <p:cNvSpPr/>
          <p:nvPr/>
        </p:nvSpPr>
        <p:spPr>
          <a:xfrm>
            <a:off x="9400032" y="3154680"/>
            <a:ext cx="237744" cy="219456"/>
          </a:xfrm>
          <a:prstGeom prst="rect">
            <a:avLst/>
          </a:prstGeom>
          <a:noFill/>
          <a:ln/>
        </p:spPr>
        <p:txBody>
          <a:bodyPr wrap="square" lIns="0" tIns="0" rIns="0" bIns="0" rtlCol="0" anchor="ctr">
            <a:normAutofit/>
          </a:bodyPr>
          <a:lstStyle/>
          <a:p>
            <a:pPr algn="ctr" indent="0" marL="0">
              <a:buNone/>
            </a:pPr>
            <a:r>
              <a:rPr lang="en-US" sz="1000" b="1" dirty="0">
                <a:solidFill>
                  <a:srgbClr val="FFFFFF"/>
                </a:solidFill>
                <a:latin typeface="Aptos" pitchFamily="34" charset="0"/>
                <a:ea typeface="Aptos" pitchFamily="34" charset="-122"/>
                <a:cs typeface="Aptos" pitchFamily="34" charset="-120"/>
              </a:rPr>
              <a:t>✓</a:t>
            </a:r>
            <a:endParaRPr lang="en-US" sz="1000" dirty="0"/>
          </a:p>
        </p:txBody>
      </p:sp>
      <p:sp>
        <p:nvSpPr>
          <p:cNvPr id="50" name="Text 48"/>
          <p:cNvSpPr/>
          <p:nvPr/>
        </p:nvSpPr>
        <p:spPr>
          <a:xfrm>
            <a:off x="9747504" y="3145536"/>
            <a:ext cx="1527048" cy="237744"/>
          </a:xfrm>
          <a:prstGeom prst="rect">
            <a:avLst/>
          </a:prstGeom>
          <a:noFill/>
          <a:ln/>
        </p:spPr>
        <p:txBody>
          <a:bodyPr wrap="square" lIns="0" tIns="0" rIns="0" bIns="0" rtlCol="0" anchor="ctr">
            <a:normAutofit/>
          </a:bodyPr>
          <a:lstStyle/>
          <a:p>
            <a:pPr indent="0" marL="0">
              <a:buNone/>
            </a:pPr>
            <a:r>
              <a:rPr lang="en-US" sz="1150" b="1" dirty="0">
                <a:solidFill>
                  <a:srgbClr val="132524"/>
                </a:solidFill>
                <a:latin typeface="Aptos" pitchFamily="34" charset="0"/>
                <a:ea typeface="Aptos" pitchFamily="34" charset="-122"/>
                <a:cs typeface="Aptos" pitchFamily="34" charset="-120"/>
              </a:rPr>
              <a:t>openFDA + FSIS</a:t>
            </a:r>
            <a:endParaRPr lang="en-US" sz="1150" dirty="0"/>
          </a:p>
        </p:txBody>
      </p:sp>
      <p:sp>
        <p:nvSpPr>
          <p:cNvPr id="51" name="Text 49"/>
          <p:cNvSpPr/>
          <p:nvPr/>
        </p:nvSpPr>
        <p:spPr>
          <a:xfrm>
            <a:off x="9747504" y="3392424"/>
            <a:ext cx="1527048" cy="274320"/>
          </a:xfrm>
          <a:prstGeom prst="rect">
            <a:avLst/>
          </a:prstGeom>
          <a:noFill/>
          <a:ln/>
        </p:spPr>
        <p:txBody>
          <a:bodyPr wrap="square" lIns="0" tIns="0" rIns="0" bIns="0" rtlCol="0" anchor="t">
            <a:normAutofit/>
          </a:bodyPr>
          <a:lstStyle/>
          <a:p>
            <a:pPr indent="0" marL="0">
              <a:buNone/>
            </a:pPr>
            <a:r>
              <a:rPr lang="en-US" sz="950" dirty="0">
                <a:solidFill>
                  <a:srgbClr val="61706D"/>
                </a:solidFill>
                <a:latin typeface="Aptos" pitchFamily="34" charset="0"/>
                <a:ea typeface="Aptos" pitchFamily="34" charset="-122"/>
                <a:cs typeface="Aptos" pitchFamily="34" charset="-120"/>
              </a:rPr>
              <a:t>live authority incidents</a:t>
            </a:r>
            <a:endParaRPr lang="en-US" sz="950" dirty="0"/>
          </a:p>
        </p:txBody>
      </p:sp>
      <p:sp>
        <p:nvSpPr>
          <p:cNvPr id="52" name="Shape 50"/>
          <p:cNvSpPr/>
          <p:nvPr/>
        </p:nvSpPr>
        <p:spPr>
          <a:xfrm>
            <a:off x="9400032" y="3794760"/>
            <a:ext cx="237744" cy="237744"/>
          </a:xfrm>
          <a:prstGeom prst="ellipse">
            <a:avLst/>
          </a:prstGeom>
          <a:solidFill>
            <a:srgbClr val="1D6B62"/>
          </a:solidFill>
          <a:ln w="12700">
            <a:solidFill>
              <a:srgbClr val="1D6B62"/>
            </a:solidFill>
            <a:prstDash val="solid"/>
          </a:ln>
        </p:spPr>
      </p:sp>
      <p:sp>
        <p:nvSpPr>
          <p:cNvPr id="53" name="Text 51"/>
          <p:cNvSpPr/>
          <p:nvPr/>
        </p:nvSpPr>
        <p:spPr>
          <a:xfrm>
            <a:off x="9400032" y="3785616"/>
            <a:ext cx="237744" cy="219456"/>
          </a:xfrm>
          <a:prstGeom prst="rect">
            <a:avLst/>
          </a:prstGeom>
          <a:noFill/>
          <a:ln/>
        </p:spPr>
        <p:txBody>
          <a:bodyPr wrap="square" lIns="0" tIns="0" rIns="0" bIns="0" rtlCol="0" anchor="ctr">
            <a:normAutofit/>
          </a:bodyPr>
          <a:lstStyle/>
          <a:p>
            <a:pPr algn="ctr" indent="0" marL="0">
              <a:buNone/>
            </a:pPr>
            <a:r>
              <a:rPr lang="en-US" sz="1000" b="1" dirty="0">
                <a:solidFill>
                  <a:srgbClr val="FFFFFF"/>
                </a:solidFill>
                <a:latin typeface="Aptos" pitchFamily="34" charset="0"/>
                <a:ea typeface="Aptos" pitchFamily="34" charset="-122"/>
                <a:cs typeface="Aptos" pitchFamily="34" charset="-120"/>
              </a:rPr>
              <a:t>✓</a:t>
            </a:r>
            <a:endParaRPr lang="en-US" sz="1000" dirty="0"/>
          </a:p>
        </p:txBody>
      </p:sp>
      <p:sp>
        <p:nvSpPr>
          <p:cNvPr id="54" name="Text 52"/>
          <p:cNvSpPr/>
          <p:nvPr/>
        </p:nvSpPr>
        <p:spPr>
          <a:xfrm>
            <a:off x="9747504" y="3776472"/>
            <a:ext cx="1527048" cy="237744"/>
          </a:xfrm>
          <a:prstGeom prst="rect">
            <a:avLst/>
          </a:prstGeom>
          <a:noFill/>
          <a:ln/>
        </p:spPr>
        <p:txBody>
          <a:bodyPr wrap="square" lIns="0" tIns="0" rIns="0" bIns="0" rtlCol="0" anchor="ctr">
            <a:normAutofit/>
          </a:bodyPr>
          <a:lstStyle/>
          <a:p>
            <a:pPr indent="0" marL="0">
              <a:buNone/>
            </a:pPr>
            <a:r>
              <a:rPr lang="en-US" sz="1150" b="1" dirty="0">
                <a:solidFill>
                  <a:srgbClr val="132524"/>
                </a:solidFill>
                <a:latin typeface="Aptos" pitchFamily="34" charset="0"/>
                <a:ea typeface="Aptos" pitchFamily="34" charset="-122"/>
                <a:cs typeface="Aptos" pitchFamily="34" charset="-120"/>
              </a:rPr>
              <a:t>SQLite + NetworkX</a:t>
            </a:r>
            <a:endParaRPr lang="en-US" sz="1150" dirty="0"/>
          </a:p>
        </p:txBody>
      </p:sp>
      <p:sp>
        <p:nvSpPr>
          <p:cNvPr id="55" name="Text 53"/>
          <p:cNvSpPr/>
          <p:nvPr/>
        </p:nvSpPr>
        <p:spPr>
          <a:xfrm>
            <a:off x="9747504" y="4023360"/>
            <a:ext cx="1527048" cy="274320"/>
          </a:xfrm>
          <a:prstGeom prst="rect">
            <a:avLst/>
          </a:prstGeom>
          <a:noFill/>
          <a:ln/>
        </p:spPr>
        <p:txBody>
          <a:bodyPr wrap="square" lIns="0" tIns="0" rIns="0" bIns="0" rtlCol="0" anchor="t">
            <a:normAutofit/>
          </a:bodyPr>
          <a:lstStyle/>
          <a:p>
            <a:pPr indent="0" marL="0">
              <a:buNone/>
            </a:pPr>
            <a:r>
              <a:rPr lang="en-US" sz="950" dirty="0">
                <a:solidFill>
                  <a:srgbClr val="61706D"/>
                </a:solidFill>
                <a:latin typeface="Aptos" pitchFamily="34" charset="0"/>
                <a:ea typeface="Aptos" pitchFamily="34" charset="-122"/>
                <a:cs typeface="Aptos" pitchFamily="34" charset="-120"/>
              </a:rPr>
              <a:t>auditable state + lineage</a:t>
            </a:r>
            <a:endParaRPr lang="en-US" sz="950" dirty="0"/>
          </a:p>
        </p:txBody>
      </p:sp>
      <p:sp>
        <p:nvSpPr>
          <p:cNvPr id="56" name="Shape 54"/>
          <p:cNvSpPr/>
          <p:nvPr/>
        </p:nvSpPr>
        <p:spPr>
          <a:xfrm>
            <a:off x="9400032" y="4425696"/>
            <a:ext cx="237744" cy="237744"/>
          </a:xfrm>
          <a:prstGeom prst="ellipse">
            <a:avLst/>
          </a:prstGeom>
          <a:solidFill>
            <a:srgbClr val="1D6B62"/>
          </a:solidFill>
          <a:ln w="12700">
            <a:solidFill>
              <a:srgbClr val="1D6B62"/>
            </a:solidFill>
            <a:prstDash val="solid"/>
          </a:ln>
        </p:spPr>
      </p:sp>
      <p:sp>
        <p:nvSpPr>
          <p:cNvPr id="57" name="Text 55"/>
          <p:cNvSpPr/>
          <p:nvPr/>
        </p:nvSpPr>
        <p:spPr>
          <a:xfrm>
            <a:off x="9400032" y="4416552"/>
            <a:ext cx="237744" cy="219456"/>
          </a:xfrm>
          <a:prstGeom prst="rect">
            <a:avLst/>
          </a:prstGeom>
          <a:noFill/>
          <a:ln/>
        </p:spPr>
        <p:txBody>
          <a:bodyPr wrap="square" lIns="0" tIns="0" rIns="0" bIns="0" rtlCol="0" anchor="ctr">
            <a:normAutofit/>
          </a:bodyPr>
          <a:lstStyle/>
          <a:p>
            <a:pPr algn="ctr" indent="0" marL="0">
              <a:buNone/>
            </a:pPr>
            <a:r>
              <a:rPr lang="en-US" sz="1000" b="1" dirty="0">
                <a:solidFill>
                  <a:srgbClr val="FFFFFF"/>
                </a:solidFill>
                <a:latin typeface="Aptos" pitchFamily="34" charset="0"/>
                <a:ea typeface="Aptos" pitchFamily="34" charset="-122"/>
                <a:cs typeface="Aptos" pitchFamily="34" charset="-120"/>
              </a:rPr>
              <a:t>✓</a:t>
            </a:r>
            <a:endParaRPr lang="en-US" sz="1000" dirty="0"/>
          </a:p>
        </p:txBody>
      </p:sp>
      <p:sp>
        <p:nvSpPr>
          <p:cNvPr id="58" name="Text 56"/>
          <p:cNvSpPr/>
          <p:nvPr/>
        </p:nvSpPr>
        <p:spPr>
          <a:xfrm>
            <a:off x="9747504" y="4407408"/>
            <a:ext cx="1527048" cy="237744"/>
          </a:xfrm>
          <a:prstGeom prst="rect">
            <a:avLst/>
          </a:prstGeom>
          <a:noFill/>
          <a:ln/>
        </p:spPr>
        <p:txBody>
          <a:bodyPr wrap="square" lIns="0" tIns="0" rIns="0" bIns="0" rtlCol="0" anchor="ctr">
            <a:normAutofit/>
          </a:bodyPr>
          <a:lstStyle/>
          <a:p>
            <a:pPr indent="0" marL="0">
              <a:buNone/>
            </a:pPr>
            <a:r>
              <a:rPr lang="en-US" sz="1150" b="1" dirty="0">
                <a:solidFill>
                  <a:srgbClr val="132524"/>
                </a:solidFill>
                <a:latin typeface="Aptos" pitchFamily="34" charset="0"/>
                <a:ea typeface="Aptos" pitchFamily="34" charset="-122"/>
                <a:cs typeface="Aptos" pitchFamily="34" charset="-120"/>
              </a:rPr>
              <a:t>Linear program</a:t>
            </a:r>
            <a:endParaRPr lang="en-US" sz="1150" dirty="0"/>
          </a:p>
        </p:txBody>
      </p:sp>
      <p:sp>
        <p:nvSpPr>
          <p:cNvPr id="59" name="Text 57"/>
          <p:cNvSpPr/>
          <p:nvPr/>
        </p:nvSpPr>
        <p:spPr>
          <a:xfrm>
            <a:off x="9747504" y="4654296"/>
            <a:ext cx="1527048" cy="274320"/>
          </a:xfrm>
          <a:prstGeom prst="rect">
            <a:avLst/>
          </a:prstGeom>
          <a:noFill/>
          <a:ln/>
        </p:spPr>
        <p:txBody>
          <a:bodyPr wrap="square" lIns="0" tIns="0" rIns="0" bIns="0" rtlCol="0" anchor="t">
            <a:normAutofit/>
          </a:bodyPr>
          <a:lstStyle/>
          <a:p>
            <a:pPr indent="0" marL="0">
              <a:buNone/>
            </a:pPr>
            <a:r>
              <a:rPr lang="en-US" sz="950" dirty="0">
                <a:solidFill>
                  <a:srgbClr val="61706D"/>
                </a:solidFill>
                <a:latin typeface="Aptos" pitchFamily="34" charset="0"/>
                <a:ea typeface="Aptos" pitchFamily="34" charset="-122"/>
                <a:cs typeface="Aptos" pitchFamily="34" charset="-120"/>
              </a:rPr>
              <a:t>feasible recovery plan</a:t>
            </a:r>
            <a:endParaRPr lang="en-US" sz="950" dirty="0"/>
          </a:p>
        </p:txBody>
      </p:sp>
      <p:sp>
        <p:nvSpPr>
          <p:cNvPr id="60" name="Shape 58"/>
          <p:cNvSpPr/>
          <p:nvPr/>
        </p:nvSpPr>
        <p:spPr>
          <a:xfrm>
            <a:off x="9400032" y="5056632"/>
            <a:ext cx="237744" cy="237744"/>
          </a:xfrm>
          <a:prstGeom prst="ellipse">
            <a:avLst/>
          </a:prstGeom>
          <a:solidFill>
            <a:srgbClr val="B94735"/>
          </a:solidFill>
          <a:ln w="12700">
            <a:solidFill>
              <a:srgbClr val="B94735"/>
            </a:solidFill>
            <a:prstDash val="solid"/>
          </a:ln>
        </p:spPr>
      </p:sp>
      <p:sp>
        <p:nvSpPr>
          <p:cNvPr id="61" name="Text 59"/>
          <p:cNvSpPr/>
          <p:nvPr/>
        </p:nvSpPr>
        <p:spPr>
          <a:xfrm>
            <a:off x="9400032" y="5047488"/>
            <a:ext cx="237744" cy="219456"/>
          </a:xfrm>
          <a:prstGeom prst="rect">
            <a:avLst/>
          </a:prstGeom>
          <a:noFill/>
          <a:ln/>
        </p:spPr>
        <p:txBody>
          <a:bodyPr wrap="square" lIns="0" tIns="0" rIns="0" bIns="0" rtlCol="0" anchor="ctr">
            <a:normAutofit/>
          </a:bodyPr>
          <a:lstStyle/>
          <a:p>
            <a:pPr algn="ctr" indent="0" marL="0">
              <a:buNone/>
            </a:pPr>
            <a:r>
              <a:rPr lang="en-US" sz="1000" b="1" dirty="0">
                <a:solidFill>
                  <a:srgbClr val="FFFFFF"/>
                </a:solidFill>
                <a:latin typeface="Aptos" pitchFamily="34" charset="0"/>
                <a:ea typeface="Aptos" pitchFamily="34" charset="-122"/>
                <a:cs typeface="Aptos" pitchFamily="34" charset="-120"/>
              </a:rPr>
              <a:t>✓</a:t>
            </a:r>
            <a:endParaRPr lang="en-US" sz="1000" dirty="0"/>
          </a:p>
        </p:txBody>
      </p:sp>
      <p:sp>
        <p:nvSpPr>
          <p:cNvPr id="62" name="Text 60"/>
          <p:cNvSpPr/>
          <p:nvPr/>
        </p:nvSpPr>
        <p:spPr>
          <a:xfrm>
            <a:off x="9747504" y="5038344"/>
            <a:ext cx="1527048" cy="237744"/>
          </a:xfrm>
          <a:prstGeom prst="rect">
            <a:avLst/>
          </a:prstGeom>
          <a:noFill/>
          <a:ln/>
        </p:spPr>
        <p:txBody>
          <a:bodyPr wrap="square" lIns="0" tIns="0" rIns="0" bIns="0" rtlCol="0" anchor="ctr">
            <a:normAutofit/>
          </a:bodyPr>
          <a:lstStyle/>
          <a:p>
            <a:pPr indent="0" marL="0">
              <a:buNone/>
            </a:pPr>
            <a:r>
              <a:rPr lang="en-US" sz="1150" b="1" dirty="0">
                <a:solidFill>
                  <a:srgbClr val="132524"/>
                </a:solidFill>
                <a:latin typeface="Aptos" pitchFamily="34" charset="0"/>
                <a:ea typeface="Aptos" pitchFamily="34" charset="-122"/>
                <a:cs typeface="Aptos" pitchFamily="34" charset="-120"/>
              </a:rPr>
              <a:t>Streamlit</a:t>
            </a:r>
            <a:endParaRPr lang="en-US" sz="1150" dirty="0"/>
          </a:p>
        </p:txBody>
      </p:sp>
      <p:sp>
        <p:nvSpPr>
          <p:cNvPr id="63" name="Text 61"/>
          <p:cNvSpPr/>
          <p:nvPr/>
        </p:nvSpPr>
        <p:spPr>
          <a:xfrm>
            <a:off x="9747504" y="5285232"/>
            <a:ext cx="1527048" cy="274320"/>
          </a:xfrm>
          <a:prstGeom prst="rect">
            <a:avLst/>
          </a:prstGeom>
          <a:noFill/>
          <a:ln/>
        </p:spPr>
        <p:txBody>
          <a:bodyPr wrap="square" lIns="0" tIns="0" rIns="0" bIns="0" rtlCol="0" anchor="t">
            <a:normAutofit/>
          </a:bodyPr>
          <a:lstStyle/>
          <a:p>
            <a:pPr indent="0" marL="0">
              <a:buNone/>
            </a:pPr>
            <a:r>
              <a:rPr lang="en-US" sz="950" dirty="0">
                <a:solidFill>
                  <a:srgbClr val="61706D"/>
                </a:solidFill>
                <a:latin typeface="Aptos" pitchFamily="34" charset="0"/>
                <a:ea typeface="Aptos" pitchFamily="34" charset="-122"/>
                <a:cs typeface="Aptos" pitchFamily="34" charset="-120"/>
              </a:rPr>
              <a:t>review and approval UI</a:t>
            </a:r>
            <a:endParaRPr lang="en-US" sz="950" dirty="0"/>
          </a:p>
        </p:txBody>
      </p:sp>
      <p:sp>
        <p:nvSpPr>
          <p:cNvPr id="64" name="Text 62"/>
          <p:cNvSpPr/>
          <p:nvPr/>
        </p:nvSpPr>
        <p:spPr>
          <a:xfrm>
            <a:off x="658368" y="6419088"/>
            <a:ext cx="10469880" cy="210312"/>
          </a:xfrm>
          <a:prstGeom prst="rect">
            <a:avLst/>
          </a:prstGeom>
          <a:noFill/>
          <a:ln/>
        </p:spPr>
        <p:txBody>
          <a:bodyPr wrap="square" lIns="0" tIns="0" rIns="0" bIns="0" rtlCol="0" anchor="ctr">
            <a:normAutofit/>
          </a:bodyPr>
          <a:lstStyle/>
          <a:p>
            <a:pPr indent="0" marL="0">
              <a:buNone/>
            </a:pPr>
            <a:r>
              <a:rPr lang="en-US" sz="850" dirty="0">
                <a:solidFill>
                  <a:srgbClr val="61706D"/>
                </a:solidFill>
                <a:latin typeface="Aptos" pitchFamily="34" charset="0"/>
                <a:ea typeface="Aptos" pitchFamily="34" charset="-122"/>
                <a:cs typeface="Aptos" pitchFamily="34" charset="-120"/>
              </a:rPr>
              <a:t>Authority incidents are real; operational records and computed impacts remain synthetic.  </a:t>
            </a:r>
            <a:pPr indent="0" marL="0">
              <a:buNone/>
            </a:pPr>
            <a:r>
              <a:rPr lang="en-US" sz="850" u="sng" dirty="0">
                <a:solidFill>
                  <a:srgbClr val="1D6B62"/>
                </a:solidFill>
                <a:uFill>
                  <a:solidFill>
                    <a:srgbClr val="1D6B62"/>
                  </a:solidFill>
                </a:uFill>
                <a:latin typeface="Aptos" pitchFamily="34" charset="0"/>
                <a:ea typeface="Aptos" pitchFamily="34" charset="-122"/>
                <a:cs typeface="Aptos" pitchFamily="34" charset="-120"/>
                <a:hlinkClick r:id="rId1" invalidUrl="" action="" tgtFrame="" tooltip="Technical architecture" history="1" highlightClick="0" endSnd="0">
                  <a:extLst>
                    <a:ext uri="{A12FA001-AC4F-418D-AE19-62706E023703}">
                      <ahyp:hlinkClr xmlns:ahyp="http://schemas.microsoft.com/office/drawing/2018/hyperlinkcolor" val="tx"/>
                    </a:ext>
                  </a:extLst>
                </a:hlinkClick>
              </a:rPr>
              <a:t>Technical architecture</a:t>
            </a:r>
            <a:pPr indent="0" marL="0">
              <a:buNone/>
            </a:pPr>
            <a:r>
              <a:rPr lang="en-US" sz="850" dirty="0">
                <a:solidFill>
                  <a:srgbClr val="D9D2C2"/>
                </a:solidFill>
                <a:latin typeface="Aptos" pitchFamily="34" charset="0"/>
                <a:ea typeface="Aptos" pitchFamily="34" charset="-122"/>
                <a:cs typeface="Aptos" pitchFamily="34" charset="-120"/>
              </a:rPr>
              <a:t>  |  </a:t>
            </a:r>
            <a:pPr indent="0" marL="0">
              <a:buNone/>
            </a:pPr>
            <a:r>
              <a:rPr lang="en-US" sz="850" u="sng" dirty="0">
                <a:solidFill>
                  <a:srgbClr val="1D6B62"/>
                </a:solidFill>
                <a:uFill>
                  <a:solidFill>
                    <a:srgbClr val="1D6B62"/>
                  </a:solidFill>
                </a:uFill>
                <a:latin typeface="Aptos" pitchFamily="34" charset="0"/>
                <a:ea typeface="Aptos" pitchFamily="34" charset="-122"/>
                <a:cs typeface="Aptos" pitchFamily="34" charset="-120"/>
                <a:hlinkClick r:id="rId2" invalidUrl="" action="" tgtFrame="" tooltip="Official source adapters" history="1" highlightClick="0" endSnd="0">
                  <a:extLst>
                    <a:ext uri="{A12FA001-AC4F-418D-AE19-62706E023703}">
                      <ahyp:hlinkClr xmlns:ahyp="http://schemas.microsoft.com/office/drawing/2018/hyperlinkcolor" val="tx"/>
                    </a:ext>
                  </a:extLst>
                </a:hlinkClick>
              </a:rPr>
              <a:t>Official source adapters</a:t>
            </a:r>
            <a:pPr indent="0" marL="0">
              <a:buNone/>
            </a:pPr>
            <a:r>
              <a:rPr lang="en-US" sz="850" dirty="0">
                <a:solidFill>
                  <a:srgbClr val="D9D2C2"/>
                </a:solidFill>
                <a:latin typeface="Aptos" pitchFamily="34" charset="0"/>
                <a:ea typeface="Aptos" pitchFamily="34" charset="-122"/>
                <a:cs typeface="Aptos" pitchFamily="34" charset="-120"/>
              </a:rPr>
              <a:t>  |  </a:t>
            </a:r>
            <a:pPr indent="0" marL="0">
              <a:buNone/>
            </a:pPr>
            <a:r>
              <a:rPr lang="en-US" sz="850" u="sng" dirty="0">
                <a:solidFill>
                  <a:srgbClr val="1D6B62"/>
                </a:solidFill>
                <a:uFill>
                  <a:solidFill>
                    <a:srgbClr val="1D6B62"/>
                  </a:solidFill>
                </a:uFill>
                <a:latin typeface="Aptos" pitchFamily="34" charset="0"/>
                <a:ea typeface="Aptos" pitchFamily="34" charset="-122"/>
                <a:cs typeface="Aptos" pitchFamily="34" charset="-120"/>
                <a:hlinkClick r:id="rId3" invalidUrl="" action="" tgtFrame="" tooltip="Approval implementation" history="1" highlightClick="0" endSnd="0">
                  <a:extLst>
                    <a:ext uri="{A12FA001-AC4F-418D-AE19-62706E023703}">
                      <ahyp:hlinkClr xmlns:ahyp="http://schemas.microsoft.com/office/drawing/2018/hyperlinkcolor" val="tx"/>
                    </a:ext>
                  </a:extLst>
                </a:hlinkClick>
              </a:rPr>
              <a:t>Approval implementation</a:t>
            </a:r>
            <a:endParaRPr lang="en-US" sz="850" dirty="0"/>
          </a:p>
        </p:txBody>
      </p:sp>
      <p:sp>
        <p:nvSpPr>
          <p:cNvPr id="25" name="Slide Number Placeholder 0"/>
          <p:cNvSpPr>
            <a:spLocks noGrp="1"/>
          </p:cNvSpPr>
          <p:nvPr>
            <p:ph type="sldNum" sz="quarter" idx="4294967295"/>
          </p:nvPr>
        </p:nvSpPr>
        <p:spPr>
          <a:xfrm>
            <a:off x="11448288" y="6437376"/>
            <a:ext cx="219456" cy="182880"/>
          </a:xfrm>
          <a:prstGeom prst="rect">
            <a:avLst/>
          </a:prstGeom>
          <a:extLst>
            <a:ext uri="{C572A759-6A51-4108-AA02-DFA0A04FC94B}">
              <ma14:wrappingTextBoxFlag xmlns:ma14="http://schemas.microsoft.com/office/mac/drawingml/2011/main" val="0"/>
            </a:ext>
          </a:extLst>
        </p:spPr>
        <p:txBody>
          <a:bodyPr lIns="0" tIns="0" rIns="0" bIns="0"/>
          <a:lstStyle>
            <a:lvl1pPr>
              <a:defRPr sz="800">
                <a:solidFill>
                  <a:srgbClr val="61706D"/>
                </a:solidFill>
                <a:latin typeface="Aptos"/>
                <a:ea typeface="Aptos"/>
                <a:cs typeface="Aptos"/>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658368" y="658368"/>
            <a:ext cx="4937760" cy="228600"/>
          </a:xfrm>
          <a:prstGeom prst="rect">
            <a:avLst/>
          </a:prstGeom>
          <a:noFill/>
          <a:ln/>
        </p:spPr>
        <p:txBody>
          <a:bodyPr wrap="square" lIns="0" tIns="0" rIns="0" bIns="0" rtlCol="0" anchor="ctr">
            <a:normAutofit/>
          </a:bodyPr>
          <a:lstStyle/>
          <a:p>
            <a:pPr indent="0" marL="0">
              <a:buNone/>
            </a:pPr>
            <a:r>
              <a:rPr lang="en-US" sz="1050" b="1" spc="120" kern="0" dirty="0">
                <a:solidFill>
                  <a:srgbClr val="B94735"/>
                </a:solidFill>
                <a:latin typeface="Aptos" pitchFamily="34" charset="0"/>
                <a:ea typeface="Aptos" pitchFamily="34" charset="-122"/>
                <a:cs typeface="Aptos" pitchFamily="34" charset="-120"/>
              </a:rPr>
              <a:t>PRODUCT PROOF</a:t>
            </a:r>
            <a:endParaRPr lang="en-US" sz="1050" dirty="0"/>
          </a:p>
        </p:txBody>
      </p:sp>
      <p:sp>
        <p:nvSpPr>
          <p:cNvPr id="3" name="Text 1"/>
          <p:cNvSpPr/>
          <p:nvPr/>
        </p:nvSpPr>
        <p:spPr>
          <a:xfrm>
            <a:off x="658368" y="932688"/>
            <a:ext cx="10835640" cy="594360"/>
          </a:xfrm>
          <a:prstGeom prst="rect">
            <a:avLst/>
          </a:prstGeom>
          <a:noFill/>
          <a:ln/>
        </p:spPr>
        <p:txBody>
          <a:bodyPr wrap="square" lIns="0" tIns="0" rIns="0" bIns="0" rtlCol="0" anchor="ctr">
            <a:normAutofit/>
          </a:bodyPr>
          <a:lstStyle/>
          <a:p>
            <a:pPr indent="0" marL="0">
              <a:buNone/>
            </a:pPr>
            <a:r>
              <a:rPr lang="en-US" sz="3600" b="1" dirty="0">
                <a:solidFill>
                  <a:srgbClr val="132524"/>
                </a:solidFill>
                <a:latin typeface="Aptos Display" pitchFamily="34" charset="0"/>
                <a:ea typeface="Aptos Display" pitchFamily="34" charset="-122"/>
                <a:cs typeface="Aptos Display" pitchFamily="34" charset="-120"/>
              </a:rPr>
              <a:t>Every claim can be traced back to evidence.</a:t>
            </a:r>
            <a:endParaRPr lang="en-US" sz="3600" dirty="0"/>
          </a:p>
        </p:txBody>
      </p:sp>
      <p:sp>
        <p:nvSpPr>
          <p:cNvPr id="4" name="Text 2"/>
          <p:cNvSpPr/>
          <p:nvPr/>
        </p:nvSpPr>
        <p:spPr>
          <a:xfrm>
            <a:off x="658368" y="1572768"/>
            <a:ext cx="10698480" cy="502920"/>
          </a:xfrm>
          <a:prstGeom prst="rect">
            <a:avLst/>
          </a:prstGeom>
          <a:noFill/>
          <a:ln/>
        </p:spPr>
        <p:txBody>
          <a:bodyPr wrap="square" lIns="0" tIns="0" rIns="0" bIns="0" rtlCol="0" anchor="t">
            <a:normAutofit/>
          </a:bodyPr>
          <a:lstStyle/>
          <a:p>
            <a:pPr indent="0" marL="0">
              <a:buNone/>
            </a:pPr>
            <a:r>
              <a:rPr lang="en-US" sz="1520" dirty="0">
                <a:solidFill>
                  <a:srgbClr val="61706D"/>
                </a:solidFill>
                <a:latin typeface="Aptos" pitchFamily="34" charset="0"/>
                <a:ea typeface="Aptos" pitchFamily="34" charset="-122"/>
                <a:cs typeface="Aptos" pitchFamily="34" charset="-120"/>
              </a:rPr>
              <a:t>Typed incident facts survive only when a retained source excerpt supports the exact value. Live API incidents use the same contract and can stop honestly at zero exposure.</a:t>
            </a:r>
            <a:endParaRPr lang="en-US" sz="1520" dirty="0"/>
          </a:p>
        </p:txBody>
      </p:sp>
      <p:sp>
        <p:nvSpPr>
          <p:cNvPr id="5" name="Shape 3"/>
          <p:cNvSpPr/>
          <p:nvPr/>
        </p:nvSpPr>
        <p:spPr>
          <a:xfrm>
            <a:off x="658368" y="2267712"/>
            <a:ext cx="7818120" cy="3794760"/>
          </a:xfrm>
          <a:prstGeom prst="roundRect">
            <a:avLst>
              <a:gd name="adj" fmla="val 1928"/>
            </a:avLst>
          </a:prstGeom>
          <a:solidFill>
            <a:srgbClr val="FFFDF8"/>
          </a:solidFill>
          <a:ln w="12700">
            <a:solidFill>
              <a:srgbClr val="D9D2C2"/>
            </a:solidFill>
            <a:prstDash val="solid"/>
          </a:ln>
        </p:spPr>
      </p:sp>
      <p:sp>
        <p:nvSpPr>
          <p:cNvPr id="6" name="Text 4"/>
          <p:cNvSpPr/>
          <p:nvPr/>
        </p:nvSpPr>
        <p:spPr>
          <a:xfrm>
            <a:off x="932688" y="2523744"/>
            <a:ext cx="2331720" cy="219456"/>
          </a:xfrm>
          <a:prstGeom prst="rect">
            <a:avLst/>
          </a:prstGeom>
          <a:noFill/>
          <a:ln/>
        </p:spPr>
        <p:txBody>
          <a:bodyPr wrap="square" lIns="0" tIns="0" rIns="0" bIns="0" rtlCol="0" anchor="ctr">
            <a:normAutofit/>
          </a:bodyPr>
          <a:lstStyle/>
          <a:p>
            <a:pPr indent="0" marL="0">
              <a:buNone/>
            </a:pPr>
            <a:r>
              <a:rPr lang="en-US" sz="950" b="1" spc="100" kern="0" dirty="0">
                <a:solidFill>
                  <a:srgbClr val="B94735"/>
                </a:solidFill>
                <a:latin typeface="Aptos" pitchFamily="34" charset="0"/>
                <a:ea typeface="Aptos" pitchFamily="34" charset="-122"/>
                <a:cs typeface="Aptos" pitchFamily="34" charset="-120"/>
              </a:rPr>
              <a:t>NORMALIZED FACT</a:t>
            </a:r>
            <a:endParaRPr lang="en-US" sz="950" dirty="0"/>
          </a:p>
        </p:txBody>
      </p:sp>
      <p:sp>
        <p:nvSpPr>
          <p:cNvPr id="7" name="Text 5"/>
          <p:cNvSpPr/>
          <p:nvPr/>
        </p:nvSpPr>
        <p:spPr>
          <a:xfrm>
            <a:off x="3913632" y="2523744"/>
            <a:ext cx="4206240" cy="219456"/>
          </a:xfrm>
          <a:prstGeom prst="rect">
            <a:avLst/>
          </a:prstGeom>
          <a:noFill/>
          <a:ln/>
        </p:spPr>
        <p:txBody>
          <a:bodyPr wrap="square" lIns="0" tIns="0" rIns="0" bIns="0" rtlCol="0" anchor="ctr">
            <a:normAutofit/>
          </a:bodyPr>
          <a:lstStyle/>
          <a:p>
            <a:pPr indent="0" marL="0">
              <a:buNone/>
            </a:pPr>
            <a:r>
              <a:rPr lang="en-US" sz="950" b="1" spc="100" kern="0" dirty="0">
                <a:solidFill>
                  <a:srgbClr val="1D6B62"/>
                </a:solidFill>
                <a:latin typeface="Aptos" pitchFamily="34" charset="0"/>
                <a:ea typeface="Aptos" pitchFamily="34" charset="-122"/>
                <a:cs typeface="Aptos" pitchFamily="34" charset="-120"/>
              </a:rPr>
              <a:t>VERBATIM SOURCE EVIDENCE</a:t>
            </a:r>
            <a:endParaRPr lang="en-US" sz="950" dirty="0"/>
          </a:p>
        </p:txBody>
      </p:sp>
      <p:sp>
        <p:nvSpPr>
          <p:cNvPr id="8" name="Shape 6"/>
          <p:cNvSpPr/>
          <p:nvPr/>
        </p:nvSpPr>
        <p:spPr>
          <a:xfrm>
            <a:off x="932688" y="2889504"/>
            <a:ext cx="2423160" cy="722376"/>
          </a:xfrm>
          <a:prstGeom prst="roundRect">
            <a:avLst>
              <a:gd name="adj" fmla="val 10127"/>
            </a:avLst>
          </a:prstGeom>
          <a:solidFill>
            <a:srgbClr val="F1D5CC"/>
          </a:solidFill>
          <a:ln w="12700">
            <a:solidFill>
              <a:srgbClr val="D9D2C2"/>
            </a:solidFill>
            <a:prstDash val="solid"/>
          </a:ln>
        </p:spPr>
      </p:sp>
      <p:sp>
        <p:nvSpPr>
          <p:cNvPr id="9" name="Text 7"/>
          <p:cNvSpPr/>
          <p:nvPr/>
        </p:nvSpPr>
        <p:spPr>
          <a:xfrm>
            <a:off x="1133856" y="2999232"/>
            <a:ext cx="2011680" cy="182880"/>
          </a:xfrm>
          <a:prstGeom prst="rect">
            <a:avLst/>
          </a:prstGeom>
          <a:noFill/>
          <a:ln/>
        </p:spPr>
        <p:txBody>
          <a:bodyPr wrap="square" lIns="0" tIns="0" rIns="0" bIns="0" rtlCol="0" anchor="ctr">
            <a:normAutofit/>
          </a:bodyPr>
          <a:lstStyle/>
          <a:p>
            <a:pPr indent="0" marL="0">
              <a:buNone/>
            </a:pPr>
            <a:r>
              <a:rPr lang="en-US" sz="880" b="1" dirty="0">
                <a:solidFill>
                  <a:srgbClr val="B94735"/>
                </a:solidFill>
                <a:latin typeface="Aptos" pitchFamily="34" charset="0"/>
                <a:ea typeface="Aptos" pitchFamily="34" charset="-122"/>
                <a:cs typeface="Aptos" pitchFamily="34" charset="-120"/>
              </a:rPr>
              <a:t>supplier_names</a:t>
            </a:r>
            <a:endParaRPr lang="en-US" sz="880" dirty="0"/>
          </a:p>
        </p:txBody>
      </p:sp>
      <p:sp>
        <p:nvSpPr>
          <p:cNvPr id="10" name="Text 8"/>
          <p:cNvSpPr/>
          <p:nvPr/>
        </p:nvSpPr>
        <p:spPr>
          <a:xfrm>
            <a:off x="1133856" y="3218688"/>
            <a:ext cx="2011680" cy="274320"/>
          </a:xfrm>
          <a:prstGeom prst="rect">
            <a:avLst/>
          </a:prstGeom>
          <a:noFill/>
          <a:ln/>
        </p:spPr>
        <p:txBody>
          <a:bodyPr wrap="square" lIns="0" tIns="0" rIns="0" bIns="0" rtlCol="0" anchor="ctr">
            <a:normAutofit/>
          </a:bodyPr>
          <a:lstStyle/>
          <a:p>
            <a:pPr indent="0" marL="0">
              <a:buNone/>
            </a:pPr>
            <a:r>
              <a:rPr lang="en-US" sz="1180" b="1" dirty="0">
                <a:solidFill>
                  <a:srgbClr val="132524"/>
                </a:solidFill>
                <a:latin typeface="Aptos" pitchFamily="34" charset="0"/>
                <a:ea typeface="Aptos" pitchFamily="34" charset="-122"/>
                <a:cs typeface="Aptos" pitchFamily="34" charset="-120"/>
              </a:rPr>
              <a:t>Golden Valley Produce LLC</a:t>
            </a:r>
            <a:endParaRPr lang="en-US" sz="1180" dirty="0"/>
          </a:p>
        </p:txBody>
      </p:sp>
      <p:sp>
        <p:nvSpPr>
          <p:cNvPr id="11" name="Shape 9"/>
          <p:cNvSpPr/>
          <p:nvPr/>
        </p:nvSpPr>
        <p:spPr>
          <a:xfrm>
            <a:off x="3465576" y="3255264"/>
            <a:ext cx="301752" cy="0"/>
          </a:xfrm>
          <a:prstGeom prst="line">
            <a:avLst/>
          </a:prstGeom>
          <a:noFill/>
          <a:ln w="22860">
            <a:solidFill>
              <a:srgbClr val="B94735"/>
            </a:solidFill>
            <a:prstDash val="solid"/>
            <a:headEnd type="none"/>
            <a:tailEnd type="triangle"/>
          </a:ln>
        </p:spPr>
      </p:sp>
      <p:sp>
        <p:nvSpPr>
          <p:cNvPr id="12" name="Shape 10"/>
          <p:cNvSpPr/>
          <p:nvPr/>
        </p:nvSpPr>
        <p:spPr>
          <a:xfrm>
            <a:off x="3913632" y="2889504"/>
            <a:ext cx="4251960" cy="722376"/>
          </a:xfrm>
          <a:prstGeom prst="roundRect">
            <a:avLst>
              <a:gd name="adj" fmla="val 10127"/>
            </a:avLst>
          </a:prstGeom>
          <a:solidFill>
            <a:srgbClr val="E8EEE9"/>
          </a:solidFill>
          <a:ln w="12700">
            <a:solidFill>
              <a:srgbClr val="D9D2C2"/>
            </a:solidFill>
            <a:prstDash val="solid"/>
          </a:ln>
        </p:spPr>
      </p:sp>
      <p:sp>
        <p:nvSpPr>
          <p:cNvPr id="13" name="Text 11"/>
          <p:cNvSpPr/>
          <p:nvPr/>
        </p:nvSpPr>
        <p:spPr>
          <a:xfrm>
            <a:off x="4160520" y="2999232"/>
            <a:ext cx="3730752" cy="493776"/>
          </a:xfrm>
          <a:prstGeom prst="rect">
            <a:avLst/>
          </a:prstGeom>
          <a:noFill/>
          <a:ln/>
        </p:spPr>
        <p:txBody>
          <a:bodyPr wrap="square" lIns="0" tIns="0" rIns="0" bIns="0" rtlCol="0" anchor="ctr">
            <a:normAutofit/>
          </a:bodyPr>
          <a:lstStyle/>
          <a:p>
            <a:pPr indent="0" marL="0">
              <a:buNone/>
            </a:pPr>
            <a:r>
              <a:rPr lang="en-US" sz="1200" i="1" dirty="0">
                <a:solidFill>
                  <a:srgbClr val="132524"/>
                </a:solidFill>
                <a:latin typeface="Aptos" pitchFamily="34" charset="0"/>
                <a:ea typeface="Aptos" pitchFamily="34" charset="-122"/>
                <a:cs typeface="Aptos" pitchFamily="34" charset="-120"/>
              </a:rPr>
              <a:t>“Golden Valley Produce LLC of Salinas, California is voluntarily recalling”</a:t>
            </a:r>
            <a:endParaRPr lang="en-US" sz="1200" dirty="0"/>
          </a:p>
        </p:txBody>
      </p:sp>
      <p:sp>
        <p:nvSpPr>
          <p:cNvPr id="14" name="Shape 12"/>
          <p:cNvSpPr/>
          <p:nvPr/>
        </p:nvSpPr>
        <p:spPr>
          <a:xfrm>
            <a:off x="932688" y="3822192"/>
            <a:ext cx="2423160" cy="722376"/>
          </a:xfrm>
          <a:prstGeom prst="roundRect">
            <a:avLst>
              <a:gd name="adj" fmla="val 10127"/>
            </a:avLst>
          </a:prstGeom>
          <a:solidFill>
            <a:srgbClr val="F1D5CC"/>
          </a:solidFill>
          <a:ln w="12700">
            <a:solidFill>
              <a:srgbClr val="D9D2C2"/>
            </a:solidFill>
            <a:prstDash val="solid"/>
          </a:ln>
        </p:spPr>
      </p:sp>
      <p:sp>
        <p:nvSpPr>
          <p:cNvPr id="15" name="Text 13"/>
          <p:cNvSpPr/>
          <p:nvPr/>
        </p:nvSpPr>
        <p:spPr>
          <a:xfrm>
            <a:off x="1133856" y="3931920"/>
            <a:ext cx="2011680" cy="182880"/>
          </a:xfrm>
          <a:prstGeom prst="rect">
            <a:avLst/>
          </a:prstGeom>
          <a:noFill/>
          <a:ln/>
        </p:spPr>
        <p:txBody>
          <a:bodyPr wrap="square" lIns="0" tIns="0" rIns="0" bIns="0" rtlCol="0" anchor="ctr">
            <a:normAutofit/>
          </a:bodyPr>
          <a:lstStyle/>
          <a:p>
            <a:pPr indent="0" marL="0">
              <a:buNone/>
            </a:pPr>
            <a:r>
              <a:rPr lang="en-US" sz="880" b="1" dirty="0">
                <a:solidFill>
                  <a:srgbClr val="B94735"/>
                </a:solidFill>
                <a:latin typeface="Aptos" pitchFamily="34" charset="0"/>
                <a:ea typeface="Aptos" pitchFamily="34" charset="-122"/>
                <a:cs typeface="Aptos" pitchFamily="34" charset="-120"/>
              </a:rPr>
              <a:t>lot_codes</a:t>
            </a:r>
            <a:endParaRPr lang="en-US" sz="880" dirty="0"/>
          </a:p>
        </p:txBody>
      </p:sp>
      <p:sp>
        <p:nvSpPr>
          <p:cNvPr id="16" name="Text 14"/>
          <p:cNvSpPr/>
          <p:nvPr/>
        </p:nvSpPr>
        <p:spPr>
          <a:xfrm>
            <a:off x="1133856" y="4151376"/>
            <a:ext cx="2011680" cy="274320"/>
          </a:xfrm>
          <a:prstGeom prst="rect">
            <a:avLst/>
          </a:prstGeom>
          <a:noFill/>
          <a:ln/>
        </p:spPr>
        <p:txBody>
          <a:bodyPr wrap="square" lIns="0" tIns="0" rIns="0" bIns="0" rtlCol="0" anchor="ctr">
            <a:normAutofit/>
          </a:bodyPr>
          <a:lstStyle/>
          <a:p>
            <a:pPr indent="0" marL="0">
              <a:buNone/>
            </a:pPr>
            <a:r>
              <a:rPr lang="en-US" sz="1180" b="1" dirty="0">
                <a:solidFill>
                  <a:srgbClr val="132524"/>
                </a:solidFill>
                <a:latin typeface="Aptos" pitchFamily="34" charset="0"/>
                <a:ea typeface="Aptos" pitchFamily="34" charset="-122"/>
                <a:cs typeface="Aptos" pitchFamily="34" charset="-120"/>
              </a:rPr>
              <a:t>GVP-8842, GVP-8843</a:t>
            </a:r>
            <a:endParaRPr lang="en-US" sz="1180" dirty="0"/>
          </a:p>
        </p:txBody>
      </p:sp>
      <p:sp>
        <p:nvSpPr>
          <p:cNvPr id="17" name="Shape 15"/>
          <p:cNvSpPr/>
          <p:nvPr/>
        </p:nvSpPr>
        <p:spPr>
          <a:xfrm>
            <a:off x="3465576" y="4187952"/>
            <a:ext cx="301752" cy="0"/>
          </a:xfrm>
          <a:prstGeom prst="line">
            <a:avLst/>
          </a:prstGeom>
          <a:noFill/>
          <a:ln w="22860">
            <a:solidFill>
              <a:srgbClr val="B94735"/>
            </a:solidFill>
            <a:prstDash val="solid"/>
            <a:headEnd type="none"/>
            <a:tailEnd type="triangle"/>
          </a:ln>
        </p:spPr>
      </p:sp>
      <p:sp>
        <p:nvSpPr>
          <p:cNvPr id="18" name="Shape 16"/>
          <p:cNvSpPr/>
          <p:nvPr/>
        </p:nvSpPr>
        <p:spPr>
          <a:xfrm>
            <a:off x="3913632" y="3822192"/>
            <a:ext cx="4251960" cy="722376"/>
          </a:xfrm>
          <a:prstGeom prst="roundRect">
            <a:avLst>
              <a:gd name="adj" fmla="val 10127"/>
            </a:avLst>
          </a:prstGeom>
          <a:solidFill>
            <a:srgbClr val="E8EEE9"/>
          </a:solidFill>
          <a:ln w="12700">
            <a:solidFill>
              <a:srgbClr val="D9D2C2"/>
            </a:solidFill>
            <a:prstDash val="solid"/>
          </a:ln>
        </p:spPr>
      </p:sp>
      <p:sp>
        <p:nvSpPr>
          <p:cNvPr id="19" name="Text 17"/>
          <p:cNvSpPr/>
          <p:nvPr/>
        </p:nvSpPr>
        <p:spPr>
          <a:xfrm>
            <a:off x="4160520" y="3931920"/>
            <a:ext cx="3730752" cy="493776"/>
          </a:xfrm>
          <a:prstGeom prst="rect">
            <a:avLst/>
          </a:prstGeom>
          <a:noFill/>
          <a:ln/>
        </p:spPr>
        <p:txBody>
          <a:bodyPr wrap="square" lIns="0" tIns="0" rIns="0" bIns="0" rtlCol="0" anchor="ctr">
            <a:normAutofit/>
          </a:bodyPr>
          <a:lstStyle/>
          <a:p>
            <a:pPr indent="0" marL="0">
              <a:buNone/>
            </a:pPr>
            <a:r>
              <a:rPr lang="en-US" sz="1200" i="1" dirty="0">
                <a:solidFill>
                  <a:srgbClr val="132524"/>
                </a:solidFill>
                <a:latin typeface="Aptos" pitchFamily="34" charset="0"/>
                <a:ea typeface="Aptos" pitchFamily="34" charset="-122"/>
                <a:cs typeface="Aptos" pitchFamily="34" charset="-120"/>
              </a:rPr>
              <a:t>“lot codes GVP-8842 and GVP-8843”</a:t>
            </a:r>
            <a:endParaRPr lang="en-US" sz="1200" dirty="0"/>
          </a:p>
        </p:txBody>
      </p:sp>
      <p:sp>
        <p:nvSpPr>
          <p:cNvPr id="20" name="Shape 18"/>
          <p:cNvSpPr/>
          <p:nvPr/>
        </p:nvSpPr>
        <p:spPr>
          <a:xfrm>
            <a:off x="932688" y="4754880"/>
            <a:ext cx="2423160" cy="722376"/>
          </a:xfrm>
          <a:prstGeom prst="roundRect">
            <a:avLst>
              <a:gd name="adj" fmla="val 10127"/>
            </a:avLst>
          </a:prstGeom>
          <a:solidFill>
            <a:srgbClr val="F1D5CC"/>
          </a:solidFill>
          <a:ln w="12700">
            <a:solidFill>
              <a:srgbClr val="D9D2C2"/>
            </a:solidFill>
            <a:prstDash val="solid"/>
          </a:ln>
        </p:spPr>
      </p:sp>
      <p:sp>
        <p:nvSpPr>
          <p:cNvPr id="21" name="Text 19"/>
          <p:cNvSpPr/>
          <p:nvPr/>
        </p:nvSpPr>
        <p:spPr>
          <a:xfrm>
            <a:off x="1133856" y="4864608"/>
            <a:ext cx="2011680" cy="182880"/>
          </a:xfrm>
          <a:prstGeom prst="rect">
            <a:avLst/>
          </a:prstGeom>
          <a:noFill/>
          <a:ln/>
        </p:spPr>
        <p:txBody>
          <a:bodyPr wrap="square" lIns="0" tIns="0" rIns="0" bIns="0" rtlCol="0" anchor="ctr">
            <a:normAutofit/>
          </a:bodyPr>
          <a:lstStyle/>
          <a:p>
            <a:pPr indent="0" marL="0">
              <a:buNone/>
            </a:pPr>
            <a:r>
              <a:rPr lang="en-US" sz="880" b="1" dirty="0">
                <a:solidFill>
                  <a:srgbClr val="B94735"/>
                </a:solidFill>
                <a:latin typeface="Aptos" pitchFamily="34" charset="0"/>
                <a:ea typeface="Aptos" pitchFamily="34" charset="-122"/>
                <a:cs typeface="Aptos" pitchFamily="34" charset="-120"/>
              </a:rPr>
              <a:t>production window</a:t>
            </a:r>
            <a:endParaRPr lang="en-US" sz="880" dirty="0"/>
          </a:p>
        </p:txBody>
      </p:sp>
      <p:sp>
        <p:nvSpPr>
          <p:cNvPr id="22" name="Text 20"/>
          <p:cNvSpPr/>
          <p:nvPr/>
        </p:nvSpPr>
        <p:spPr>
          <a:xfrm>
            <a:off x="1133856" y="5084064"/>
            <a:ext cx="2011680" cy="274320"/>
          </a:xfrm>
          <a:prstGeom prst="rect">
            <a:avLst/>
          </a:prstGeom>
          <a:noFill/>
          <a:ln/>
        </p:spPr>
        <p:txBody>
          <a:bodyPr wrap="square" lIns="0" tIns="0" rIns="0" bIns="0" rtlCol="0" anchor="ctr">
            <a:normAutofit/>
          </a:bodyPr>
          <a:lstStyle/>
          <a:p>
            <a:pPr indent="0" marL="0">
              <a:buNone/>
            </a:pPr>
            <a:r>
              <a:rPr lang="en-US" sz="1180" b="1" dirty="0">
                <a:solidFill>
                  <a:srgbClr val="132524"/>
                </a:solidFill>
                <a:latin typeface="Aptos" pitchFamily="34" charset="0"/>
                <a:ea typeface="Aptos" pitchFamily="34" charset="-122"/>
                <a:cs typeface="Aptos" pitchFamily="34" charset="-120"/>
              </a:rPr>
              <a:t>2026-06-20 → 2026-07-02</a:t>
            </a:r>
            <a:endParaRPr lang="en-US" sz="1180" dirty="0"/>
          </a:p>
        </p:txBody>
      </p:sp>
      <p:sp>
        <p:nvSpPr>
          <p:cNvPr id="23" name="Shape 21"/>
          <p:cNvSpPr/>
          <p:nvPr/>
        </p:nvSpPr>
        <p:spPr>
          <a:xfrm>
            <a:off x="3465576" y="5120640"/>
            <a:ext cx="301752" cy="0"/>
          </a:xfrm>
          <a:prstGeom prst="line">
            <a:avLst/>
          </a:prstGeom>
          <a:noFill/>
          <a:ln w="22860">
            <a:solidFill>
              <a:srgbClr val="B94735"/>
            </a:solidFill>
            <a:prstDash val="solid"/>
            <a:headEnd type="none"/>
            <a:tailEnd type="triangle"/>
          </a:ln>
        </p:spPr>
      </p:sp>
      <p:sp>
        <p:nvSpPr>
          <p:cNvPr id="24" name="Shape 22"/>
          <p:cNvSpPr/>
          <p:nvPr/>
        </p:nvSpPr>
        <p:spPr>
          <a:xfrm>
            <a:off x="3913632" y="4754880"/>
            <a:ext cx="4251960" cy="722376"/>
          </a:xfrm>
          <a:prstGeom prst="roundRect">
            <a:avLst>
              <a:gd name="adj" fmla="val 10127"/>
            </a:avLst>
          </a:prstGeom>
          <a:solidFill>
            <a:srgbClr val="E8EEE9"/>
          </a:solidFill>
          <a:ln w="12700">
            <a:solidFill>
              <a:srgbClr val="D9D2C2"/>
            </a:solidFill>
            <a:prstDash val="solid"/>
          </a:ln>
        </p:spPr>
      </p:sp>
      <p:sp>
        <p:nvSpPr>
          <p:cNvPr id="25" name="Text 23"/>
          <p:cNvSpPr/>
          <p:nvPr/>
        </p:nvSpPr>
        <p:spPr>
          <a:xfrm>
            <a:off x="4160520" y="4864608"/>
            <a:ext cx="3730752" cy="493776"/>
          </a:xfrm>
          <a:prstGeom prst="rect">
            <a:avLst/>
          </a:prstGeom>
          <a:noFill/>
          <a:ln/>
        </p:spPr>
        <p:txBody>
          <a:bodyPr wrap="square" lIns="0" tIns="0" rIns="0" bIns="0" rtlCol="0" anchor="ctr">
            <a:normAutofit/>
          </a:bodyPr>
          <a:lstStyle/>
          <a:p>
            <a:pPr indent="0" marL="0">
              <a:buNone/>
            </a:pPr>
            <a:r>
              <a:rPr lang="en-US" sz="1200" i="1" dirty="0">
                <a:solidFill>
                  <a:srgbClr val="132524"/>
                </a:solidFill>
                <a:latin typeface="Aptos" pitchFamily="34" charset="0"/>
                <a:ea typeface="Aptos" pitchFamily="34" charset="-122"/>
                <a:cs typeface="Aptos" pitchFamily="34" charset="-120"/>
              </a:rPr>
              <a:t>“between June 20, 2026 and July 2, 2026”</a:t>
            </a:r>
            <a:endParaRPr lang="en-US" sz="1200" dirty="0"/>
          </a:p>
        </p:txBody>
      </p:sp>
      <p:sp>
        <p:nvSpPr>
          <p:cNvPr id="26" name="Shape 24"/>
          <p:cNvSpPr/>
          <p:nvPr/>
        </p:nvSpPr>
        <p:spPr>
          <a:xfrm>
            <a:off x="8796528" y="2267712"/>
            <a:ext cx="2743200" cy="3794760"/>
          </a:xfrm>
          <a:prstGeom prst="roundRect">
            <a:avLst>
              <a:gd name="adj" fmla="val 2667"/>
            </a:avLst>
          </a:prstGeom>
          <a:solidFill>
            <a:srgbClr val="E8EEE9"/>
          </a:solidFill>
          <a:ln w="12700">
            <a:solidFill>
              <a:srgbClr val="1D6B62"/>
            </a:solidFill>
            <a:prstDash val="solid"/>
          </a:ln>
        </p:spPr>
      </p:sp>
      <p:sp>
        <p:nvSpPr>
          <p:cNvPr id="27" name="Text 25"/>
          <p:cNvSpPr/>
          <p:nvPr/>
        </p:nvSpPr>
        <p:spPr>
          <a:xfrm>
            <a:off x="9107424" y="2596896"/>
            <a:ext cx="2057400" cy="292608"/>
          </a:xfrm>
          <a:prstGeom prst="rect">
            <a:avLst/>
          </a:prstGeom>
          <a:noFill/>
          <a:ln/>
        </p:spPr>
        <p:txBody>
          <a:bodyPr wrap="square" lIns="0" tIns="0" rIns="0" bIns="0" rtlCol="0" anchor="ctr">
            <a:normAutofit/>
          </a:bodyPr>
          <a:lstStyle/>
          <a:p>
            <a:pPr indent="0" marL="0">
              <a:buNone/>
            </a:pPr>
            <a:r>
              <a:rPr lang="en-US" sz="1500" b="1" dirty="0">
                <a:solidFill>
                  <a:srgbClr val="132524"/>
                </a:solidFill>
                <a:latin typeface="Aptos" pitchFamily="34" charset="0"/>
                <a:ea typeface="Aptos" pitchFamily="34" charset="-122"/>
                <a:cs typeface="Aptos" pitchFamily="34" charset="-120"/>
              </a:rPr>
              <a:t>Evidence contract</a:t>
            </a:r>
            <a:endParaRPr lang="en-US" sz="1500" dirty="0"/>
          </a:p>
        </p:txBody>
      </p:sp>
      <p:sp>
        <p:nvSpPr>
          <p:cNvPr id="28" name="Shape 26"/>
          <p:cNvSpPr/>
          <p:nvPr/>
        </p:nvSpPr>
        <p:spPr>
          <a:xfrm>
            <a:off x="9107424" y="3127248"/>
            <a:ext cx="237744" cy="237744"/>
          </a:xfrm>
          <a:prstGeom prst="ellipse">
            <a:avLst/>
          </a:prstGeom>
          <a:solidFill>
            <a:srgbClr val="1D6B62"/>
          </a:solidFill>
          <a:ln w="12700">
            <a:solidFill>
              <a:srgbClr val="1D6B62"/>
            </a:solidFill>
            <a:prstDash val="solid"/>
          </a:ln>
        </p:spPr>
      </p:sp>
      <p:sp>
        <p:nvSpPr>
          <p:cNvPr id="29" name="Text 27"/>
          <p:cNvSpPr/>
          <p:nvPr/>
        </p:nvSpPr>
        <p:spPr>
          <a:xfrm>
            <a:off x="9107424" y="3118104"/>
            <a:ext cx="237744" cy="219456"/>
          </a:xfrm>
          <a:prstGeom prst="rect">
            <a:avLst/>
          </a:prstGeom>
          <a:noFill/>
          <a:ln/>
        </p:spPr>
        <p:txBody>
          <a:bodyPr wrap="square" lIns="0" tIns="0" rIns="0" bIns="0" rtlCol="0" anchor="ctr">
            <a:normAutofit/>
          </a:bodyPr>
          <a:lstStyle/>
          <a:p>
            <a:pPr algn="ctr" indent="0" marL="0">
              <a:buNone/>
            </a:pPr>
            <a:r>
              <a:rPr lang="en-US" sz="1000" b="1" dirty="0">
                <a:solidFill>
                  <a:srgbClr val="FFFFFF"/>
                </a:solidFill>
                <a:latin typeface="Aptos" pitchFamily="34" charset="0"/>
                <a:ea typeface="Aptos" pitchFamily="34" charset="-122"/>
                <a:cs typeface="Aptos" pitchFamily="34" charset="-120"/>
              </a:rPr>
              <a:t>✓</a:t>
            </a:r>
            <a:endParaRPr lang="en-US" sz="1000" dirty="0"/>
          </a:p>
        </p:txBody>
      </p:sp>
      <p:sp>
        <p:nvSpPr>
          <p:cNvPr id="30" name="Text 28"/>
          <p:cNvSpPr/>
          <p:nvPr/>
        </p:nvSpPr>
        <p:spPr>
          <a:xfrm>
            <a:off x="9454896" y="3108960"/>
            <a:ext cx="1709928" cy="237744"/>
          </a:xfrm>
          <a:prstGeom prst="rect">
            <a:avLst/>
          </a:prstGeom>
          <a:noFill/>
          <a:ln/>
        </p:spPr>
        <p:txBody>
          <a:bodyPr wrap="square" lIns="0" tIns="0" rIns="0" bIns="0" rtlCol="0" anchor="ctr">
            <a:normAutofit/>
          </a:bodyPr>
          <a:lstStyle/>
          <a:p>
            <a:pPr indent="0" marL="0">
              <a:buNone/>
            </a:pPr>
            <a:r>
              <a:rPr lang="en-US" sz="1150" b="1" dirty="0">
                <a:solidFill>
                  <a:srgbClr val="132524"/>
                </a:solidFill>
                <a:latin typeface="Aptos" pitchFamily="34" charset="0"/>
                <a:ea typeface="Aptos" pitchFamily="34" charset="-122"/>
                <a:cs typeface="Aptos" pitchFamily="34" charset="-120"/>
              </a:rPr>
              <a:t>Source snapshot retained</a:t>
            </a:r>
            <a:endParaRPr lang="en-US" sz="1150" dirty="0"/>
          </a:p>
        </p:txBody>
      </p:sp>
      <p:sp>
        <p:nvSpPr>
          <p:cNvPr id="31" name="Text 29"/>
          <p:cNvSpPr/>
          <p:nvPr/>
        </p:nvSpPr>
        <p:spPr>
          <a:xfrm>
            <a:off x="9454896" y="3355848"/>
            <a:ext cx="1709928" cy="274320"/>
          </a:xfrm>
          <a:prstGeom prst="rect">
            <a:avLst/>
          </a:prstGeom>
          <a:noFill/>
          <a:ln/>
        </p:spPr>
        <p:txBody>
          <a:bodyPr wrap="square" lIns="0" tIns="0" rIns="0" bIns="0" rtlCol="0" anchor="t">
            <a:normAutofit/>
          </a:bodyPr>
          <a:lstStyle/>
          <a:p>
            <a:pPr indent="0" marL="0">
              <a:buNone/>
            </a:pPr>
            <a:r>
              <a:rPr lang="en-US" sz="950" dirty="0">
                <a:solidFill>
                  <a:srgbClr val="61706D"/>
                </a:solidFill>
                <a:latin typeface="Aptos" pitchFamily="34" charset="0"/>
                <a:ea typeface="Aptos" pitchFamily="34" charset="-122"/>
                <a:cs typeface="Aptos" pitchFamily="34" charset="-120"/>
              </a:rPr>
              <a:t>input remains inspectable</a:t>
            </a:r>
            <a:endParaRPr lang="en-US" sz="950" dirty="0"/>
          </a:p>
        </p:txBody>
      </p:sp>
      <p:sp>
        <p:nvSpPr>
          <p:cNvPr id="32" name="Shape 30"/>
          <p:cNvSpPr/>
          <p:nvPr/>
        </p:nvSpPr>
        <p:spPr>
          <a:xfrm>
            <a:off x="9107424" y="3803904"/>
            <a:ext cx="237744" cy="237744"/>
          </a:xfrm>
          <a:prstGeom prst="ellipse">
            <a:avLst/>
          </a:prstGeom>
          <a:solidFill>
            <a:srgbClr val="1D6B62"/>
          </a:solidFill>
          <a:ln w="12700">
            <a:solidFill>
              <a:srgbClr val="1D6B62"/>
            </a:solidFill>
            <a:prstDash val="solid"/>
          </a:ln>
        </p:spPr>
      </p:sp>
      <p:sp>
        <p:nvSpPr>
          <p:cNvPr id="33" name="Text 31"/>
          <p:cNvSpPr/>
          <p:nvPr/>
        </p:nvSpPr>
        <p:spPr>
          <a:xfrm>
            <a:off x="9107424" y="3794760"/>
            <a:ext cx="237744" cy="219456"/>
          </a:xfrm>
          <a:prstGeom prst="rect">
            <a:avLst/>
          </a:prstGeom>
          <a:noFill/>
          <a:ln/>
        </p:spPr>
        <p:txBody>
          <a:bodyPr wrap="square" lIns="0" tIns="0" rIns="0" bIns="0" rtlCol="0" anchor="ctr">
            <a:normAutofit/>
          </a:bodyPr>
          <a:lstStyle/>
          <a:p>
            <a:pPr algn="ctr" indent="0" marL="0">
              <a:buNone/>
            </a:pPr>
            <a:r>
              <a:rPr lang="en-US" sz="1000" b="1" dirty="0">
                <a:solidFill>
                  <a:srgbClr val="FFFFFF"/>
                </a:solidFill>
                <a:latin typeface="Aptos" pitchFamily="34" charset="0"/>
                <a:ea typeface="Aptos" pitchFamily="34" charset="-122"/>
                <a:cs typeface="Aptos" pitchFamily="34" charset="-120"/>
              </a:rPr>
              <a:t>✓</a:t>
            </a:r>
            <a:endParaRPr lang="en-US" sz="1000" dirty="0"/>
          </a:p>
        </p:txBody>
      </p:sp>
      <p:sp>
        <p:nvSpPr>
          <p:cNvPr id="34" name="Text 32"/>
          <p:cNvSpPr/>
          <p:nvPr/>
        </p:nvSpPr>
        <p:spPr>
          <a:xfrm>
            <a:off x="9454896" y="3785616"/>
            <a:ext cx="1709928" cy="237744"/>
          </a:xfrm>
          <a:prstGeom prst="rect">
            <a:avLst/>
          </a:prstGeom>
          <a:noFill/>
          <a:ln/>
        </p:spPr>
        <p:txBody>
          <a:bodyPr wrap="square" lIns="0" tIns="0" rIns="0" bIns="0" rtlCol="0" anchor="ctr">
            <a:normAutofit/>
          </a:bodyPr>
          <a:lstStyle/>
          <a:p>
            <a:pPr indent="0" marL="0">
              <a:buNone/>
            </a:pPr>
            <a:r>
              <a:rPr lang="en-US" sz="1150" b="1" dirty="0">
                <a:solidFill>
                  <a:srgbClr val="132524"/>
                </a:solidFill>
                <a:latin typeface="Aptos" pitchFamily="34" charset="0"/>
                <a:ea typeface="Aptos" pitchFamily="34" charset="-122"/>
                <a:cs typeface="Aptos" pitchFamily="34" charset="-120"/>
              </a:rPr>
              <a:t>Field-level quote</a:t>
            </a:r>
            <a:endParaRPr lang="en-US" sz="1150" dirty="0"/>
          </a:p>
        </p:txBody>
      </p:sp>
      <p:sp>
        <p:nvSpPr>
          <p:cNvPr id="35" name="Text 33"/>
          <p:cNvSpPr/>
          <p:nvPr/>
        </p:nvSpPr>
        <p:spPr>
          <a:xfrm>
            <a:off x="9454896" y="4032504"/>
            <a:ext cx="1709928" cy="274320"/>
          </a:xfrm>
          <a:prstGeom prst="rect">
            <a:avLst/>
          </a:prstGeom>
          <a:noFill/>
          <a:ln/>
        </p:spPr>
        <p:txBody>
          <a:bodyPr wrap="square" lIns="0" tIns="0" rIns="0" bIns="0" rtlCol="0" anchor="t">
            <a:normAutofit/>
          </a:bodyPr>
          <a:lstStyle/>
          <a:p>
            <a:pPr indent="0" marL="0">
              <a:buNone/>
            </a:pPr>
            <a:r>
              <a:rPr lang="en-US" sz="950" dirty="0">
                <a:solidFill>
                  <a:srgbClr val="61706D"/>
                </a:solidFill>
                <a:latin typeface="Aptos" pitchFamily="34" charset="0"/>
                <a:ea typeface="Aptos" pitchFamily="34" charset="-122"/>
                <a:cs typeface="Aptos" pitchFamily="34" charset="-120"/>
              </a:rPr>
              <a:t>each value has supporting text</a:t>
            </a:r>
            <a:endParaRPr lang="en-US" sz="950" dirty="0"/>
          </a:p>
        </p:txBody>
      </p:sp>
      <p:sp>
        <p:nvSpPr>
          <p:cNvPr id="36" name="Shape 34"/>
          <p:cNvSpPr/>
          <p:nvPr/>
        </p:nvSpPr>
        <p:spPr>
          <a:xfrm>
            <a:off x="9107424" y="4480560"/>
            <a:ext cx="237744" cy="237744"/>
          </a:xfrm>
          <a:prstGeom prst="ellipse">
            <a:avLst/>
          </a:prstGeom>
          <a:solidFill>
            <a:srgbClr val="B94735"/>
          </a:solidFill>
          <a:ln w="12700">
            <a:solidFill>
              <a:srgbClr val="B94735"/>
            </a:solidFill>
            <a:prstDash val="solid"/>
          </a:ln>
        </p:spPr>
      </p:sp>
      <p:sp>
        <p:nvSpPr>
          <p:cNvPr id="37" name="Text 35"/>
          <p:cNvSpPr/>
          <p:nvPr/>
        </p:nvSpPr>
        <p:spPr>
          <a:xfrm>
            <a:off x="9107424" y="4471416"/>
            <a:ext cx="237744" cy="219456"/>
          </a:xfrm>
          <a:prstGeom prst="rect">
            <a:avLst/>
          </a:prstGeom>
          <a:noFill/>
          <a:ln/>
        </p:spPr>
        <p:txBody>
          <a:bodyPr wrap="square" lIns="0" tIns="0" rIns="0" bIns="0" rtlCol="0" anchor="ctr">
            <a:normAutofit/>
          </a:bodyPr>
          <a:lstStyle/>
          <a:p>
            <a:pPr algn="ctr" indent="0" marL="0">
              <a:buNone/>
            </a:pPr>
            <a:r>
              <a:rPr lang="en-US" sz="1000" b="1" dirty="0">
                <a:solidFill>
                  <a:srgbClr val="FFFFFF"/>
                </a:solidFill>
                <a:latin typeface="Aptos" pitchFamily="34" charset="0"/>
                <a:ea typeface="Aptos" pitchFamily="34" charset="-122"/>
                <a:cs typeface="Aptos" pitchFamily="34" charset="-120"/>
              </a:rPr>
              <a:t>✓</a:t>
            </a:r>
            <a:endParaRPr lang="en-US" sz="1000" dirty="0"/>
          </a:p>
        </p:txBody>
      </p:sp>
      <p:sp>
        <p:nvSpPr>
          <p:cNvPr id="38" name="Text 36"/>
          <p:cNvSpPr/>
          <p:nvPr/>
        </p:nvSpPr>
        <p:spPr>
          <a:xfrm>
            <a:off x="9454896" y="4462272"/>
            <a:ext cx="1709928" cy="237744"/>
          </a:xfrm>
          <a:prstGeom prst="rect">
            <a:avLst/>
          </a:prstGeom>
          <a:noFill/>
          <a:ln/>
        </p:spPr>
        <p:txBody>
          <a:bodyPr wrap="square" lIns="0" tIns="0" rIns="0" bIns="0" rtlCol="0" anchor="ctr">
            <a:normAutofit/>
          </a:bodyPr>
          <a:lstStyle/>
          <a:p>
            <a:pPr indent="0" marL="0">
              <a:buNone/>
            </a:pPr>
            <a:r>
              <a:rPr lang="en-US" sz="1150" b="1" dirty="0">
                <a:solidFill>
                  <a:srgbClr val="132524"/>
                </a:solidFill>
                <a:latin typeface="Aptos" pitchFamily="34" charset="0"/>
                <a:ea typeface="Aptos" pitchFamily="34" charset="-122"/>
                <a:cs typeface="Aptos" pitchFamily="34" charset="-120"/>
              </a:rPr>
              <a:t>Unsupported value dropped</a:t>
            </a:r>
            <a:endParaRPr lang="en-US" sz="1150" dirty="0"/>
          </a:p>
        </p:txBody>
      </p:sp>
      <p:sp>
        <p:nvSpPr>
          <p:cNvPr id="39" name="Text 37"/>
          <p:cNvSpPr/>
          <p:nvPr/>
        </p:nvSpPr>
        <p:spPr>
          <a:xfrm>
            <a:off x="9454896" y="4709160"/>
            <a:ext cx="1709928" cy="274320"/>
          </a:xfrm>
          <a:prstGeom prst="rect">
            <a:avLst/>
          </a:prstGeom>
          <a:noFill/>
          <a:ln/>
        </p:spPr>
        <p:txBody>
          <a:bodyPr wrap="square" lIns="0" tIns="0" rIns="0" bIns="0" rtlCol="0" anchor="t">
            <a:normAutofit/>
          </a:bodyPr>
          <a:lstStyle/>
          <a:p>
            <a:pPr indent="0" marL="0">
              <a:buNone/>
            </a:pPr>
            <a:r>
              <a:rPr lang="en-US" sz="950" dirty="0">
                <a:solidFill>
                  <a:srgbClr val="61706D"/>
                </a:solidFill>
                <a:latin typeface="Aptos" pitchFamily="34" charset="0"/>
                <a:ea typeface="Aptos" pitchFamily="34" charset="-122"/>
                <a:cs typeface="Aptos" pitchFamily="34" charset="-120"/>
              </a:rPr>
              <a:t>verifier removes weak provenance</a:t>
            </a:r>
            <a:endParaRPr lang="en-US" sz="950" dirty="0"/>
          </a:p>
        </p:txBody>
      </p:sp>
      <p:sp>
        <p:nvSpPr>
          <p:cNvPr id="40" name="Shape 38"/>
          <p:cNvSpPr/>
          <p:nvPr/>
        </p:nvSpPr>
        <p:spPr>
          <a:xfrm>
            <a:off x="9107424" y="5157216"/>
            <a:ext cx="237744" cy="237744"/>
          </a:xfrm>
          <a:prstGeom prst="ellipse">
            <a:avLst/>
          </a:prstGeom>
          <a:solidFill>
            <a:srgbClr val="1D6B62"/>
          </a:solidFill>
          <a:ln w="12700">
            <a:solidFill>
              <a:srgbClr val="1D6B62"/>
            </a:solidFill>
            <a:prstDash val="solid"/>
          </a:ln>
        </p:spPr>
      </p:sp>
      <p:sp>
        <p:nvSpPr>
          <p:cNvPr id="41" name="Text 39"/>
          <p:cNvSpPr/>
          <p:nvPr/>
        </p:nvSpPr>
        <p:spPr>
          <a:xfrm>
            <a:off x="9107424" y="5148072"/>
            <a:ext cx="237744" cy="219456"/>
          </a:xfrm>
          <a:prstGeom prst="rect">
            <a:avLst/>
          </a:prstGeom>
          <a:noFill/>
          <a:ln/>
        </p:spPr>
        <p:txBody>
          <a:bodyPr wrap="square" lIns="0" tIns="0" rIns="0" bIns="0" rtlCol="0" anchor="ctr">
            <a:normAutofit/>
          </a:bodyPr>
          <a:lstStyle/>
          <a:p>
            <a:pPr algn="ctr" indent="0" marL="0">
              <a:buNone/>
            </a:pPr>
            <a:r>
              <a:rPr lang="en-US" sz="1000" b="1" dirty="0">
                <a:solidFill>
                  <a:srgbClr val="FFFFFF"/>
                </a:solidFill>
                <a:latin typeface="Aptos" pitchFamily="34" charset="0"/>
                <a:ea typeface="Aptos" pitchFamily="34" charset="-122"/>
                <a:cs typeface="Aptos" pitchFamily="34" charset="-120"/>
              </a:rPr>
              <a:t>✓</a:t>
            </a:r>
            <a:endParaRPr lang="en-US" sz="1000" dirty="0"/>
          </a:p>
        </p:txBody>
      </p:sp>
      <p:sp>
        <p:nvSpPr>
          <p:cNvPr id="42" name="Text 40"/>
          <p:cNvSpPr/>
          <p:nvPr/>
        </p:nvSpPr>
        <p:spPr>
          <a:xfrm>
            <a:off x="9454896" y="5138928"/>
            <a:ext cx="1709928" cy="237744"/>
          </a:xfrm>
          <a:prstGeom prst="rect">
            <a:avLst/>
          </a:prstGeom>
          <a:noFill/>
          <a:ln/>
        </p:spPr>
        <p:txBody>
          <a:bodyPr wrap="square" lIns="0" tIns="0" rIns="0" bIns="0" rtlCol="0" anchor="ctr">
            <a:normAutofit/>
          </a:bodyPr>
          <a:lstStyle/>
          <a:p>
            <a:pPr indent="0" marL="0">
              <a:buNone/>
            </a:pPr>
            <a:r>
              <a:rPr lang="en-US" sz="1150" b="1" dirty="0">
                <a:solidFill>
                  <a:srgbClr val="132524"/>
                </a:solidFill>
                <a:latin typeface="Aptos" pitchFamily="34" charset="0"/>
                <a:ea typeface="Aptos" pitchFamily="34" charset="-122"/>
                <a:cs typeface="Aptos" pitchFamily="34" charset="-120"/>
              </a:rPr>
              <a:t>Exact operational join</a:t>
            </a:r>
            <a:endParaRPr lang="en-US" sz="1150" dirty="0"/>
          </a:p>
        </p:txBody>
      </p:sp>
      <p:sp>
        <p:nvSpPr>
          <p:cNvPr id="43" name="Text 41"/>
          <p:cNvSpPr/>
          <p:nvPr/>
        </p:nvSpPr>
        <p:spPr>
          <a:xfrm>
            <a:off x="9454896" y="5385816"/>
            <a:ext cx="1709928" cy="274320"/>
          </a:xfrm>
          <a:prstGeom prst="rect">
            <a:avLst/>
          </a:prstGeom>
          <a:noFill/>
          <a:ln/>
        </p:spPr>
        <p:txBody>
          <a:bodyPr wrap="square" lIns="0" tIns="0" rIns="0" bIns="0" rtlCol="0" anchor="t">
            <a:normAutofit/>
          </a:bodyPr>
          <a:lstStyle/>
          <a:p>
            <a:pPr indent="0" marL="0">
              <a:buNone/>
            </a:pPr>
            <a:r>
              <a:rPr lang="en-US" sz="950" dirty="0">
                <a:solidFill>
                  <a:srgbClr val="61706D"/>
                </a:solidFill>
                <a:latin typeface="Aptos" pitchFamily="34" charset="0"/>
                <a:ea typeface="Aptos" pitchFamily="34" charset="-122"/>
                <a:cs typeface="Aptos" pitchFamily="34" charset="-120"/>
              </a:rPr>
              <a:t>lot or inbound PO drives impact</a:t>
            </a:r>
            <a:endParaRPr lang="en-US" sz="950" dirty="0"/>
          </a:p>
        </p:txBody>
      </p:sp>
      <p:sp>
        <p:nvSpPr>
          <p:cNvPr id="44" name="Text 42"/>
          <p:cNvSpPr/>
          <p:nvPr/>
        </p:nvSpPr>
        <p:spPr>
          <a:xfrm>
            <a:off x="658368" y="6419088"/>
            <a:ext cx="10469880" cy="210312"/>
          </a:xfrm>
          <a:prstGeom prst="rect">
            <a:avLst/>
          </a:prstGeom>
          <a:noFill/>
          <a:ln/>
        </p:spPr>
        <p:txBody>
          <a:bodyPr wrap="square" lIns="0" tIns="0" rIns="0" bIns="0" rtlCol="0" anchor="ctr">
            <a:normAutofit/>
          </a:bodyPr>
          <a:lstStyle/>
          <a:p>
            <a:pPr indent="0" marL="0">
              <a:buNone/>
            </a:pPr>
            <a:r>
              <a:rPr lang="en-US" sz="850" dirty="0">
                <a:solidFill>
                  <a:srgbClr val="61706D"/>
                </a:solidFill>
                <a:latin typeface="Aptos" pitchFamily="34" charset="0"/>
                <a:ea typeface="Aptos" pitchFamily="34" charset="-122"/>
                <a:cs typeface="Aptos" pitchFamily="34" charset="-120"/>
              </a:rPr>
              <a:t>Curated source-evidence pairs shown at presentation scale; live incidents retain the same provenance contract.  </a:t>
            </a:r>
            <a:pPr indent="0" marL="0">
              <a:buNone/>
            </a:pPr>
            <a:r>
              <a:rPr lang="en-US" sz="850" u="sng" dirty="0">
                <a:solidFill>
                  <a:srgbClr val="1D6B62"/>
                </a:solidFill>
                <a:uFill>
                  <a:solidFill>
                    <a:srgbClr val="1D6B62"/>
                  </a:solidFill>
                </a:uFill>
                <a:latin typeface="Aptos" pitchFamily="34" charset="0"/>
                <a:ea typeface="Aptos" pitchFamily="34" charset="-122"/>
                <a:cs typeface="Aptos" pitchFamily="34" charset="-120"/>
                <a:hlinkClick r:id="rId1" invalidUrl="" action="" tgtFrame="" tooltip="Live exposure queue" history="1" highlightClick="0" endSnd="0">
                  <a:extLst>
                    <a:ext uri="{A12FA001-AC4F-418D-AE19-62706E023703}">
                      <ahyp:hlinkClr xmlns:ahyp="http://schemas.microsoft.com/office/drawing/2018/hyperlinkcolor" val="tx"/>
                    </a:ext>
                  </a:extLst>
                </a:hlinkClick>
              </a:rPr>
              <a:t>Live exposure queue</a:t>
            </a:r>
            <a:pPr indent="0" marL="0">
              <a:buNone/>
            </a:pPr>
            <a:r>
              <a:rPr lang="en-US" sz="850" dirty="0">
                <a:solidFill>
                  <a:srgbClr val="D9D2C2"/>
                </a:solidFill>
                <a:latin typeface="Aptos" pitchFamily="34" charset="0"/>
                <a:ea typeface="Aptos" pitchFamily="34" charset="-122"/>
                <a:cs typeface="Aptos" pitchFamily="34" charset="-120"/>
              </a:rPr>
              <a:t>  |  </a:t>
            </a:r>
            <a:pPr indent="0" marL="0">
              <a:buNone/>
            </a:pPr>
            <a:r>
              <a:rPr lang="en-US" sz="850" u="sng" dirty="0">
                <a:solidFill>
                  <a:srgbClr val="1D6B62"/>
                </a:solidFill>
                <a:uFill>
                  <a:solidFill>
                    <a:srgbClr val="1D6B62"/>
                  </a:solidFill>
                </a:uFill>
                <a:latin typeface="Aptos" pitchFamily="34" charset="0"/>
                <a:ea typeface="Aptos" pitchFamily="34" charset="-122"/>
                <a:cs typeface="Aptos" pitchFamily="34" charset="-120"/>
                <a:hlinkClick r:id="rId2" invalidUrl="" action="" tgtFrame="" tooltip="Extraction verifier" history="1" highlightClick="0" endSnd="0">
                  <a:extLst>
                    <a:ext uri="{A12FA001-AC4F-418D-AE19-62706E023703}">
                      <ahyp:hlinkClr xmlns:ahyp="http://schemas.microsoft.com/office/drawing/2018/hyperlinkcolor" val="tx"/>
                    </a:ext>
                  </a:extLst>
                </a:hlinkClick>
              </a:rPr>
              <a:t>Extraction verifier</a:t>
            </a:r>
            <a:endParaRPr lang="en-US" sz="850" dirty="0"/>
          </a:p>
        </p:txBody>
      </p:sp>
      <p:sp>
        <p:nvSpPr>
          <p:cNvPr id="25" name="Slide Number Placeholder 0"/>
          <p:cNvSpPr>
            <a:spLocks noGrp="1"/>
          </p:cNvSpPr>
          <p:nvPr>
            <p:ph type="sldNum" sz="quarter" idx="4294967295"/>
          </p:nvPr>
        </p:nvSpPr>
        <p:spPr>
          <a:xfrm>
            <a:off x="11448288" y="6437376"/>
            <a:ext cx="219456" cy="182880"/>
          </a:xfrm>
          <a:prstGeom prst="rect">
            <a:avLst/>
          </a:prstGeom>
          <a:extLst>
            <a:ext uri="{C572A759-6A51-4108-AA02-DFA0A04FC94B}">
              <ma14:wrappingTextBoxFlag xmlns:ma14="http://schemas.microsoft.com/office/mac/drawingml/2011/main" val="0"/>
            </a:ext>
          </a:extLst>
        </p:spPr>
        <p:txBody>
          <a:bodyPr lIns="0" tIns="0" rIns="0" bIns="0"/>
          <a:lstStyle>
            <a:lvl1pPr>
              <a:defRPr sz="800">
                <a:solidFill>
                  <a:srgbClr val="61706D"/>
                </a:solidFill>
                <a:latin typeface="Aptos"/>
                <a:ea typeface="Aptos"/>
                <a:cs typeface="Aptos"/>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658368" y="658368"/>
            <a:ext cx="4937760" cy="228600"/>
          </a:xfrm>
          <a:prstGeom prst="rect">
            <a:avLst/>
          </a:prstGeom>
          <a:noFill/>
          <a:ln/>
        </p:spPr>
        <p:txBody>
          <a:bodyPr wrap="square" lIns="0" tIns="0" rIns="0" bIns="0" rtlCol="0" anchor="ctr">
            <a:normAutofit/>
          </a:bodyPr>
          <a:lstStyle/>
          <a:p>
            <a:pPr indent="0" marL="0">
              <a:buNone/>
            </a:pPr>
            <a:r>
              <a:rPr lang="en-US" sz="1050" b="1" spc="120" kern="0" dirty="0">
                <a:solidFill>
                  <a:srgbClr val="B94735"/>
                </a:solidFill>
                <a:latin typeface="Aptos" pitchFamily="34" charset="0"/>
                <a:ea typeface="Aptos" pitchFamily="34" charset="-122"/>
                <a:cs typeface="Aptos" pitchFamily="34" charset="-120"/>
              </a:rPr>
              <a:t>MEASURED DEMO RUN</a:t>
            </a:r>
            <a:endParaRPr lang="en-US" sz="1050" dirty="0"/>
          </a:p>
        </p:txBody>
      </p:sp>
      <p:sp>
        <p:nvSpPr>
          <p:cNvPr id="3" name="Text 1"/>
          <p:cNvSpPr/>
          <p:nvPr/>
        </p:nvSpPr>
        <p:spPr>
          <a:xfrm>
            <a:off x="658368" y="932688"/>
            <a:ext cx="10835640" cy="594360"/>
          </a:xfrm>
          <a:prstGeom prst="rect">
            <a:avLst/>
          </a:prstGeom>
          <a:noFill/>
          <a:ln/>
        </p:spPr>
        <p:txBody>
          <a:bodyPr wrap="square" lIns="0" tIns="0" rIns="0" bIns="0" rtlCol="0" anchor="ctr">
            <a:normAutofit/>
          </a:bodyPr>
          <a:lstStyle/>
          <a:p>
            <a:pPr indent="0" marL="0">
              <a:buNone/>
            </a:pPr>
            <a:r>
              <a:rPr lang="en-US" sz="3600" b="1" dirty="0">
                <a:solidFill>
                  <a:srgbClr val="132524"/>
                </a:solidFill>
                <a:latin typeface="Aptos Display" pitchFamily="34" charset="0"/>
                <a:ea typeface="Aptos Display" pitchFamily="34" charset="-122"/>
                <a:cs typeface="Aptos Display" pitchFamily="34" charset="-120"/>
              </a:rPr>
              <a:t>The recovery plan restores service without breaking safety.</a:t>
            </a:r>
            <a:endParaRPr lang="en-US" sz="3600" dirty="0"/>
          </a:p>
        </p:txBody>
      </p:sp>
      <p:sp>
        <p:nvSpPr>
          <p:cNvPr id="4" name="Text 2"/>
          <p:cNvSpPr/>
          <p:nvPr/>
        </p:nvSpPr>
        <p:spPr>
          <a:xfrm>
            <a:off x="658368" y="1572768"/>
            <a:ext cx="10607040" cy="438912"/>
          </a:xfrm>
          <a:prstGeom prst="rect">
            <a:avLst/>
          </a:prstGeom>
          <a:noFill/>
          <a:ln/>
        </p:spPr>
        <p:txBody>
          <a:bodyPr wrap="square" lIns="0" tIns="0" rIns="0" bIns="0" rtlCol="0" anchor="ctr">
            <a:normAutofit/>
          </a:bodyPr>
          <a:lstStyle/>
          <a:p>
            <a:pPr indent="0" marL="0">
              <a:buNone/>
            </a:pPr>
            <a:r>
              <a:rPr lang="en-US" sz="1550" dirty="0">
                <a:solidFill>
                  <a:srgbClr val="61706D"/>
                </a:solidFill>
                <a:latin typeface="Aptos" pitchFamily="34" charset="0"/>
                <a:ea typeface="Aptos" pitchFamily="34" charset="-122"/>
                <a:cs typeface="Aptos" pitchFamily="34" charset="-120"/>
              </a:rPr>
              <a:t>Baseline and recommended scenarios use the same seven-day synthetic demand. Confirmed recall states are excluded from both.</a:t>
            </a:r>
            <a:endParaRPr lang="en-US" sz="1550" dirty="0"/>
          </a:p>
        </p:txBody>
      </p:sp>
      <p:sp>
        <p:nvSpPr>
          <p:cNvPr id="5" name="Shape 3"/>
          <p:cNvSpPr/>
          <p:nvPr/>
        </p:nvSpPr>
        <p:spPr>
          <a:xfrm>
            <a:off x="658368" y="2212848"/>
            <a:ext cx="6629400" cy="3611880"/>
          </a:xfrm>
          <a:prstGeom prst="roundRect">
            <a:avLst>
              <a:gd name="adj" fmla="val 2025"/>
            </a:avLst>
          </a:prstGeom>
          <a:solidFill>
            <a:srgbClr val="FFFDF8"/>
          </a:solidFill>
          <a:ln w="12700">
            <a:solidFill>
              <a:srgbClr val="D9D2C2"/>
            </a:solidFill>
            <a:prstDash val="solid"/>
          </a:ln>
        </p:spPr>
      </p:sp>
      <p:sp>
        <p:nvSpPr>
          <p:cNvPr id="6" name="Text 4"/>
          <p:cNvSpPr/>
          <p:nvPr/>
        </p:nvSpPr>
        <p:spPr>
          <a:xfrm>
            <a:off x="960120" y="2487168"/>
            <a:ext cx="3840480" cy="292608"/>
          </a:xfrm>
          <a:prstGeom prst="rect">
            <a:avLst/>
          </a:prstGeom>
          <a:noFill/>
          <a:ln/>
        </p:spPr>
        <p:txBody>
          <a:bodyPr wrap="square" lIns="0" tIns="0" rIns="0" bIns="0" rtlCol="0" anchor="ctr">
            <a:normAutofit/>
          </a:bodyPr>
          <a:lstStyle/>
          <a:p>
            <a:pPr indent="0" marL="0">
              <a:buNone/>
            </a:pPr>
            <a:r>
              <a:rPr lang="en-US" sz="1300" b="1" dirty="0">
                <a:solidFill>
                  <a:srgbClr val="132524"/>
                </a:solidFill>
                <a:latin typeface="Aptos" pitchFamily="34" charset="0"/>
                <a:ea typeface="Aptos" pitchFamily="34" charset="-122"/>
                <a:cs typeface="Aptos" pitchFamily="34" charset="-120"/>
              </a:rPr>
              <a:t>Seven-day service outcome (lb)</a:t>
            </a:r>
            <a:endParaRPr lang="en-US" sz="1300" dirty="0"/>
          </a:p>
        </p:txBody>
      </p:sp>
      <p:graphicFrame>
        <p:nvGraphicFramePr>
          <p:cNvPr id="7" name="Chart 0" descr=""/>
          <p:cNvGraphicFramePr/>
          <p:nvPr/>
        </p:nvGraphicFramePr>
        <p:xfrm>
          <a:off x="914400" y="2862072"/>
          <a:ext cx="6053328" cy="2560320"/>
        </p:xfrm>
        <a:graphic xmlns:a="http://schemas.openxmlformats.org/drawingml/2006/main">
          <a:graphicData uri="http://schemas.openxmlformats.org/drawingml/2006/chart">
            <c:chart xmlns:c="http://schemas.openxmlformats.org/drawingml/2006/chart" r:id="rId1"/>
          </a:graphicData>
        </a:graphic>
      </p:graphicFrame>
      <p:sp>
        <p:nvSpPr>
          <p:cNvPr id="8" name="Shape 5"/>
          <p:cNvSpPr/>
          <p:nvPr/>
        </p:nvSpPr>
        <p:spPr>
          <a:xfrm>
            <a:off x="7607808" y="2212848"/>
            <a:ext cx="1847088" cy="1051560"/>
          </a:xfrm>
          <a:prstGeom prst="roundRect">
            <a:avLst>
              <a:gd name="adj" fmla="val 6957"/>
            </a:avLst>
          </a:prstGeom>
          <a:solidFill>
            <a:srgbClr val="FFFDF8"/>
          </a:solidFill>
          <a:ln w="12700">
            <a:solidFill>
              <a:srgbClr val="D9D2C2"/>
            </a:solidFill>
            <a:prstDash val="solid"/>
          </a:ln>
        </p:spPr>
      </p:sp>
      <p:sp>
        <p:nvSpPr>
          <p:cNvPr id="9" name="Shape 6"/>
          <p:cNvSpPr/>
          <p:nvPr/>
        </p:nvSpPr>
        <p:spPr>
          <a:xfrm>
            <a:off x="7607808" y="2212848"/>
            <a:ext cx="73152" cy="1051560"/>
          </a:xfrm>
          <a:prstGeom prst="rect">
            <a:avLst/>
          </a:prstGeom>
          <a:solidFill>
            <a:srgbClr val="1D6B62"/>
          </a:solidFill>
          <a:ln w="12700">
            <a:solidFill>
              <a:srgbClr val="1D6B62"/>
            </a:solidFill>
            <a:prstDash val="solid"/>
          </a:ln>
        </p:spPr>
      </p:sp>
      <p:sp>
        <p:nvSpPr>
          <p:cNvPr id="10" name="Text 7"/>
          <p:cNvSpPr/>
          <p:nvPr/>
        </p:nvSpPr>
        <p:spPr>
          <a:xfrm>
            <a:off x="7790688" y="2359152"/>
            <a:ext cx="1527048" cy="411480"/>
          </a:xfrm>
          <a:prstGeom prst="rect">
            <a:avLst/>
          </a:prstGeom>
          <a:noFill/>
          <a:ln/>
        </p:spPr>
        <p:txBody>
          <a:bodyPr wrap="square" lIns="0" tIns="0" rIns="0" bIns="0" rtlCol="0" anchor="ctr">
            <a:normAutofit/>
          </a:bodyPr>
          <a:lstStyle/>
          <a:p>
            <a:pPr indent="0" marL="0">
              <a:buNone/>
            </a:pPr>
            <a:r>
              <a:rPr lang="en-US" sz="2500" b="1" dirty="0">
                <a:solidFill>
                  <a:srgbClr val="132524"/>
                </a:solidFill>
                <a:latin typeface="Aptos Display" pitchFamily="34" charset="0"/>
                <a:ea typeface="Aptos Display" pitchFamily="34" charset="-122"/>
                <a:cs typeface="Aptos Display" pitchFamily="34" charset="-120"/>
              </a:rPr>
              <a:t>86.1%</a:t>
            </a:r>
            <a:endParaRPr lang="en-US" sz="2500" dirty="0"/>
          </a:p>
        </p:txBody>
      </p:sp>
      <p:sp>
        <p:nvSpPr>
          <p:cNvPr id="11" name="Text 8"/>
          <p:cNvSpPr/>
          <p:nvPr/>
        </p:nvSpPr>
        <p:spPr>
          <a:xfrm>
            <a:off x="7790688" y="2788920"/>
            <a:ext cx="1527048" cy="310896"/>
          </a:xfrm>
          <a:prstGeom prst="rect">
            <a:avLst/>
          </a:prstGeom>
          <a:noFill/>
          <a:ln/>
        </p:spPr>
        <p:txBody>
          <a:bodyPr wrap="square" lIns="0" tIns="0" rIns="0" bIns="0" rtlCol="0" anchor="ctr">
            <a:normAutofit/>
          </a:bodyPr>
          <a:lstStyle/>
          <a:p>
            <a:pPr indent="0" marL="0">
              <a:buNone/>
            </a:pPr>
            <a:r>
              <a:rPr lang="en-US" sz="1050" b="1" dirty="0">
                <a:solidFill>
                  <a:srgbClr val="61706D"/>
                </a:solidFill>
                <a:latin typeface="Aptos" pitchFamily="34" charset="0"/>
                <a:ea typeface="Aptos" pitchFamily="34" charset="-122"/>
                <a:cs typeface="Aptos" pitchFamily="34" charset="-120"/>
              </a:rPr>
              <a:t>worst pantry fill</a:t>
            </a:r>
            <a:endParaRPr lang="en-US" sz="1050" dirty="0"/>
          </a:p>
        </p:txBody>
      </p:sp>
      <p:sp>
        <p:nvSpPr>
          <p:cNvPr id="12" name="Text 9"/>
          <p:cNvSpPr/>
          <p:nvPr/>
        </p:nvSpPr>
        <p:spPr>
          <a:xfrm>
            <a:off x="7790688" y="2962656"/>
            <a:ext cx="1527048" cy="201168"/>
          </a:xfrm>
          <a:prstGeom prst="rect">
            <a:avLst/>
          </a:prstGeom>
          <a:noFill/>
          <a:ln/>
        </p:spPr>
        <p:txBody>
          <a:bodyPr wrap="square" lIns="0" tIns="0" rIns="0" bIns="0" rtlCol="0" anchor="ctr">
            <a:normAutofit/>
          </a:bodyPr>
          <a:lstStyle/>
          <a:p>
            <a:pPr indent="0" marL="0">
              <a:buNone/>
            </a:pPr>
            <a:r>
              <a:rPr lang="en-US" sz="850" dirty="0">
                <a:solidFill>
                  <a:srgbClr val="61706D"/>
                </a:solidFill>
                <a:latin typeface="Aptos" pitchFamily="34" charset="0"/>
                <a:ea typeface="Aptos" pitchFamily="34" charset="-122"/>
                <a:cs typeface="Aptos" pitchFamily="34" charset="-120"/>
              </a:rPr>
              <a:t>from 70.6%</a:t>
            </a:r>
            <a:endParaRPr lang="en-US" sz="850" dirty="0"/>
          </a:p>
        </p:txBody>
      </p:sp>
      <p:sp>
        <p:nvSpPr>
          <p:cNvPr id="13" name="Shape 10"/>
          <p:cNvSpPr/>
          <p:nvPr/>
        </p:nvSpPr>
        <p:spPr>
          <a:xfrm>
            <a:off x="9674352" y="2212848"/>
            <a:ext cx="1847088" cy="1051560"/>
          </a:xfrm>
          <a:prstGeom prst="roundRect">
            <a:avLst>
              <a:gd name="adj" fmla="val 6957"/>
            </a:avLst>
          </a:prstGeom>
          <a:solidFill>
            <a:srgbClr val="FFFDF8"/>
          </a:solidFill>
          <a:ln w="12700">
            <a:solidFill>
              <a:srgbClr val="D9D2C2"/>
            </a:solidFill>
            <a:prstDash val="solid"/>
          </a:ln>
        </p:spPr>
      </p:sp>
      <p:sp>
        <p:nvSpPr>
          <p:cNvPr id="14" name="Shape 11"/>
          <p:cNvSpPr/>
          <p:nvPr/>
        </p:nvSpPr>
        <p:spPr>
          <a:xfrm>
            <a:off x="9674352" y="2212848"/>
            <a:ext cx="73152" cy="1051560"/>
          </a:xfrm>
          <a:prstGeom prst="rect">
            <a:avLst/>
          </a:prstGeom>
          <a:solidFill>
            <a:srgbClr val="1D6B62"/>
          </a:solidFill>
          <a:ln w="12700">
            <a:solidFill>
              <a:srgbClr val="1D6B62"/>
            </a:solidFill>
            <a:prstDash val="solid"/>
          </a:ln>
        </p:spPr>
      </p:sp>
      <p:sp>
        <p:nvSpPr>
          <p:cNvPr id="15" name="Text 12"/>
          <p:cNvSpPr/>
          <p:nvPr/>
        </p:nvSpPr>
        <p:spPr>
          <a:xfrm>
            <a:off x="9857232" y="2359152"/>
            <a:ext cx="1527048" cy="411480"/>
          </a:xfrm>
          <a:prstGeom prst="rect">
            <a:avLst/>
          </a:prstGeom>
          <a:noFill/>
          <a:ln/>
        </p:spPr>
        <p:txBody>
          <a:bodyPr wrap="square" lIns="0" tIns="0" rIns="0" bIns="0" rtlCol="0" anchor="ctr">
            <a:normAutofit/>
          </a:bodyPr>
          <a:lstStyle/>
          <a:p>
            <a:pPr indent="0" marL="0">
              <a:buNone/>
            </a:pPr>
            <a:r>
              <a:rPr lang="en-US" sz="2500" b="1" dirty="0">
                <a:solidFill>
                  <a:srgbClr val="132524"/>
                </a:solidFill>
                <a:latin typeface="Aptos Display" pitchFamily="34" charset="0"/>
                <a:ea typeface="Aptos Display" pitchFamily="34" charset="-122"/>
                <a:cs typeface="Aptos Display" pitchFamily="34" charset="-120"/>
              </a:rPr>
              <a:t>68</a:t>
            </a:r>
            <a:endParaRPr lang="en-US" sz="2500" dirty="0"/>
          </a:p>
        </p:txBody>
      </p:sp>
      <p:sp>
        <p:nvSpPr>
          <p:cNvPr id="16" name="Text 13"/>
          <p:cNvSpPr/>
          <p:nvPr/>
        </p:nvSpPr>
        <p:spPr>
          <a:xfrm>
            <a:off x="9857232" y="2788920"/>
            <a:ext cx="1527048" cy="310896"/>
          </a:xfrm>
          <a:prstGeom prst="rect">
            <a:avLst/>
          </a:prstGeom>
          <a:noFill/>
          <a:ln/>
        </p:spPr>
        <p:txBody>
          <a:bodyPr wrap="square" lIns="0" tIns="0" rIns="0" bIns="0" rtlCol="0" anchor="ctr">
            <a:normAutofit/>
          </a:bodyPr>
          <a:lstStyle/>
          <a:p>
            <a:pPr indent="0" marL="0">
              <a:buNone/>
            </a:pPr>
            <a:r>
              <a:rPr lang="en-US" sz="1050" b="1" dirty="0">
                <a:solidFill>
                  <a:srgbClr val="61706D"/>
                </a:solidFill>
                <a:latin typeface="Aptos" pitchFamily="34" charset="0"/>
                <a:ea typeface="Aptos" pitchFamily="34" charset="-122"/>
                <a:cs typeface="Aptos" pitchFamily="34" charset="-120"/>
              </a:rPr>
              <a:t>boxes disrupted</a:t>
            </a:r>
            <a:endParaRPr lang="en-US" sz="1050" dirty="0"/>
          </a:p>
        </p:txBody>
      </p:sp>
      <p:sp>
        <p:nvSpPr>
          <p:cNvPr id="17" name="Text 14"/>
          <p:cNvSpPr/>
          <p:nvPr/>
        </p:nvSpPr>
        <p:spPr>
          <a:xfrm>
            <a:off x="9857232" y="2962656"/>
            <a:ext cx="1527048" cy="201168"/>
          </a:xfrm>
          <a:prstGeom prst="rect">
            <a:avLst/>
          </a:prstGeom>
          <a:noFill/>
          <a:ln/>
        </p:spPr>
        <p:txBody>
          <a:bodyPr wrap="square" lIns="0" tIns="0" rIns="0" bIns="0" rtlCol="0" anchor="ctr">
            <a:normAutofit/>
          </a:bodyPr>
          <a:lstStyle/>
          <a:p>
            <a:pPr indent="0" marL="0">
              <a:buNone/>
            </a:pPr>
            <a:r>
              <a:rPr lang="en-US" sz="850" dirty="0">
                <a:solidFill>
                  <a:srgbClr val="61706D"/>
                </a:solidFill>
                <a:latin typeface="Aptos" pitchFamily="34" charset="0"/>
                <a:ea typeface="Aptos" pitchFamily="34" charset="-122"/>
                <a:cs typeface="Aptos" pitchFamily="34" charset="-120"/>
              </a:rPr>
              <a:t>from 168</a:t>
            </a:r>
            <a:endParaRPr lang="en-US" sz="850" dirty="0"/>
          </a:p>
        </p:txBody>
      </p:sp>
      <p:sp>
        <p:nvSpPr>
          <p:cNvPr id="18" name="Shape 15"/>
          <p:cNvSpPr/>
          <p:nvPr/>
        </p:nvSpPr>
        <p:spPr>
          <a:xfrm>
            <a:off x="7607808" y="3502152"/>
            <a:ext cx="1847088" cy="1051560"/>
          </a:xfrm>
          <a:prstGeom prst="roundRect">
            <a:avLst>
              <a:gd name="adj" fmla="val 6957"/>
            </a:avLst>
          </a:prstGeom>
          <a:solidFill>
            <a:srgbClr val="FFFDF8"/>
          </a:solidFill>
          <a:ln w="12700">
            <a:solidFill>
              <a:srgbClr val="D9D2C2"/>
            </a:solidFill>
            <a:prstDash val="solid"/>
          </a:ln>
        </p:spPr>
      </p:sp>
      <p:sp>
        <p:nvSpPr>
          <p:cNvPr id="19" name="Shape 16"/>
          <p:cNvSpPr/>
          <p:nvPr/>
        </p:nvSpPr>
        <p:spPr>
          <a:xfrm>
            <a:off x="7607808" y="3502152"/>
            <a:ext cx="73152" cy="1051560"/>
          </a:xfrm>
          <a:prstGeom prst="rect">
            <a:avLst/>
          </a:prstGeom>
          <a:solidFill>
            <a:srgbClr val="C88C2C"/>
          </a:solidFill>
          <a:ln w="12700">
            <a:solidFill>
              <a:srgbClr val="C88C2C"/>
            </a:solidFill>
            <a:prstDash val="solid"/>
          </a:ln>
        </p:spPr>
      </p:sp>
      <p:sp>
        <p:nvSpPr>
          <p:cNvPr id="20" name="Text 17"/>
          <p:cNvSpPr/>
          <p:nvPr/>
        </p:nvSpPr>
        <p:spPr>
          <a:xfrm>
            <a:off x="7790688" y="3648456"/>
            <a:ext cx="1527048" cy="411480"/>
          </a:xfrm>
          <a:prstGeom prst="rect">
            <a:avLst/>
          </a:prstGeom>
          <a:noFill/>
          <a:ln/>
        </p:spPr>
        <p:txBody>
          <a:bodyPr wrap="square" lIns="0" tIns="0" rIns="0" bIns="0" rtlCol="0" anchor="ctr">
            <a:normAutofit/>
          </a:bodyPr>
          <a:lstStyle/>
          <a:p>
            <a:pPr indent="0" marL="0">
              <a:buNone/>
            </a:pPr>
            <a:r>
              <a:rPr lang="en-US" sz="2500" b="1" dirty="0">
                <a:solidFill>
                  <a:srgbClr val="132524"/>
                </a:solidFill>
                <a:latin typeface="Aptos Display" pitchFamily="34" charset="0"/>
                <a:ea typeface="Aptos Display" pitchFamily="34" charset="-122"/>
                <a:cs typeface="Aptos Display" pitchFamily="34" charset="-120"/>
              </a:rPr>
              <a:t>$550</a:t>
            </a:r>
            <a:endParaRPr lang="en-US" sz="2500" dirty="0"/>
          </a:p>
        </p:txBody>
      </p:sp>
      <p:sp>
        <p:nvSpPr>
          <p:cNvPr id="21" name="Text 18"/>
          <p:cNvSpPr/>
          <p:nvPr/>
        </p:nvSpPr>
        <p:spPr>
          <a:xfrm>
            <a:off x="7790688" y="4078224"/>
            <a:ext cx="1527048" cy="310896"/>
          </a:xfrm>
          <a:prstGeom prst="rect">
            <a:avLst/>
          </a:prstGeom>
          <a:noFill/>
          <a:ln/>
        </p:spPr>
        <p:txBody>
          <a:bodyPr wrap="square" lIns="0" tIns="0" rIns="0" bIns="0" rtlCol="0" anchor="ctr">
            <a:normAutofit/>
          </a:bodyPr>
          <a:lstStyle/>
          <a:p>
            <a:pPr indent="0" marL="0">
              <a:buNone/>
            </a:pPr>
            <a:r>
              <a:rPr lang="en-US" sz="1050" b="1" dirty="0">
                <a:solidFill>
                  <a:srgbClr val="61706D"/>
                </a:solidFill>
                <a:latin typeface="Aptos" pitchFamily="34" charset="0"/>
                <a:ea typeface="Aptos" pitchFamily="34" charset="-122"/>
                <a:cs typeface="Aptos" pitchFamily="34" charset="-120"/>
              </a:rPr>
              <a:t>procurement cost</a:t>
            </a:r>
            <a:endParaRPr lang="en-US" sz="1050" dirty="0"/>
          </a:p>
        </p:txBody>
      </p:sp>
      <p:sp>
        <p:nvSpPr>
          <p:cNvPr id="22" name="Text 19"/>
          <p:cNvSpPr/>
          <p:nvPr/>
        </p:nvSpPr>
        <p:spPr>
          <a:xfrm>
            <a:off x="7790688" y="4251960"/>
            <a:ext cx="1527048" cy="201168"/>
          </a:xfrm>
          <a:prstGeom prst="rect">
            <a:avLst/>
          </a:prstGeom>
          <a:noFill/>
          <a:ln/>
        </p:spPr>
        <p:txBody>
          <a:bodyPr wrap="square" lIns="0" tIns="0" rIns="0" bIns="0" rtlCol="0" anchor="ctr">
            <a:normAutofit/>
          </a:bodyPr>
          <a:lstStyle/>
          <a:p>
            <a:pPr indent="0" marL="0">
              <a:buNone/>
            </a:pPr>
            <a:r>
              <a:rPr lang="en-US" sz="850" dirty="0">
                <a:solidFill>
                  <a:srgbClr val="61706D"/>
                </a:solidFill>
                <a:latin typeface="Aptos" pitchFamily="34" charset="0"/>
                <a:ea typeface="Aptos" pitchFamily="34" charset="-122"/>
                <a:cs typeface="Aptos" pitchFamily="34" charset="-120"/>
              </a:rPr>
              <a:t>recommended plan</a:t>
            </a:r>
            <a:endParaRPr lang="en-US" sz="850" dirty="0"/>
          </a:p>
        </p:txBody>
      </p:sp>
      <p:sp>
        <p:nvSpPr>
          <p:cNvPr id="23" name="Shape 20"/>
          <p:cNvSpPr/>
          <p:nvPr/>
        </p:nvSpPr>
        <p:spPr>
          <a:xfrm>
            <a:off x="9674352" y="3502152"/>
            <a:ext cx="1847088" cy="1051560"/>
          </a:xfrm>
          <a:prstGeom prst="roundRect">
            <a:avLst>
              <a:gd name="adj" fmla="val 6957"/>
            </a:avLst>
          </a:prstGeom>
          <a:solidFill>
            <a:srgbClr val="FFFDF8"/>
          </a:solidFill>
          <a:ln w="12700">
            <a:solidFill>
              <a:srgbClr val="D9D2C2"/>
            </a:solidFill>
            <a:prstDash val="solid"/>
          </a:ln>
        </p:spPr>
      </p:sp>
      <p:sp>
        <p:nvSpPr>
          <p:cNvPr id="24" name="Shape 21"/>
          <p:cNvSpPr/>
          <p:nvPr/>
        </p:nvSpPr>
        <p:spPr>
          <a:xfrm>
            <a:off x="9674352" y="3502152"/>
            <a:ext cx="73152" cy="1051560"/>
          </a:xfrm>
          <a:prstGeom prst="rect">
            <a:avLst/>
          </a:prstGeom>
          <a:solidFill>
            <a:srgbClr val="1D6B62"/>
          </a:solidFill>
          <a:ln w="12700">
            <a:solidFill>
              <a:srgbClr val="1D6B62"/>
            </a:solidFill>
            <a:prstDash val="solid"/>
          </a:ln>
        </p:spPr>
      </p:sp>
      <p:sp>
        <p:nvSpPr>
          <p:cNvPr id="25" name="Text 22"/>
          <p:cNvSpPr/>
          <p:nvPr/>
        </p:nvSpPr>
        <p:spPr>
          <a:xfrm>
            <a:off x="9857232" y="3648456"/>
            <a:ext cx="1527048" cy="411480"/>
          </a:xfrm>
          <a:prstGeom prst="rect">
            <a:avLst/>
          </a:prstGeom>
          <a:noFill/>
          <a:ln/>
        </p:spPr>
        <p:txBody>
          <a:bodyPr wrap="square" lIns="0" tIns="0" rIns="0" bIns="0" rtlCol="0" anchor="ctr">
            <a:normAutofit/>
          </a:bodyPr>
          <a:lstStyle/>
          <a:p>
            <a:pPr indent="0" marL="0">
              <a:buNone/>
            </a:pPr>
            <a:r>
              <a:rPr lang="en-US" sz="2500" b="1" dirty="0">
                <a:solidFill>
                  <a:srgbClr val="132524"/>
                </a:solidFill>
                <a:latin typeface="Aptos Display" pitchFamily="34" charset="0"/>
                <a:ea typeface="Aptos Display" pitchFamily="34" charset="-122"/>
                <a:cs typeface="Aptos Display" pitchFamily="34" charset="-120"/>
              </a:rPr>
              <a:t>7+</a:t>
            </a:r>
            <a:endParaRPr lang="en-US" sz="2500" dirty="0"/>
          </a:p>
        </p:txBody>
      </p:sp>
      <p:sp>
        <p:nvSpPr>
          <p:cNvPr id="26" name="Text 23"/>
          <p:cNvSpPr/>
          <p:nvPr/>
        </p:nvSpPr>
        <p:spPr>
          <a:xfrm>
            <a:off x="9857232" y="4078224"/>
            <a:ext cx="1527048" cy="310896"/>
          </a:xfrm>
          <a:prstGeom prst="rect">
            <a:avLst/>
          </a:prstGeom>
          <a:noFill/>
          <a:ln/>
        </p:spPr>
        <p:txBody>
          <a:bodyPr wrap="square" lIns="0" tIns="0" rIns="0" bIns="0" rtlCol="0" anchor="ctr">
            <a:normAutofit/>
          </a:bodyPr>
          <a:lstStyle/>
          <a:p>
            <a:pPr indent="0" marL="0">
              <a:buNone/>
            </a:pPr>
            <a:r>
              <a:rPr lang="en-US" sz="1050" b="1" dirty="0">
                <a:solidFill>
                  <a:srgbClr val="61706D"/>
                </a:solidFill>
                <a:latin typeface="Aptos" pitchFamily="34" charset="0"/>
                <a:ea typeface="Aptos" pitchFamily="34" charset="-122"/>
                <a:cs typeface="Aptos" pitchFamily="34" charset="-120"/>
              </a:rPr>
              <a:t>produce days</a:t>
            </a:r>
            <a:endParaRPr lang="en-US" sz="1050" dirty="0"/>
          </a:p>
        </p:txBody>
      </p:sp>
      <p:sp>
        <p:nvSpPr>
          <p:cNvPr id="27" name="Text 24"/>
          <p:cNvSpPr/>
          <p:nvPr/>
        </p:nvSpPr>
        <p:spPr>
          <a:xfrm>
            <a:off x="9857232" y="4251960"/>
            <a:ext cx="1527048" cy="201168"/>
          </a:xfrm>
          <a:prstGeom prst="rect">
            <a:avLst/>
          </a:prstGeom>
          <a:noFill/>
          <a:ln/>
        </p:spPr>
        <p:txBody>
          <a:bodyPr wrap="square" lIns="0" tIns="0" rIns="0" bIns="0" rtlCol="0" anchor="ctr">
            <a:normAutofit/>
          </a:bodyPr>
          <a:lstStyle/>
          <a:p>
            <a:pPr indent="0" marL="0">
              <a:buNone/>
            </a:pPr>
            <a:r>
              <a:rPr lang="en-US" sz="850" dirty="0">
                <a:solidFill>
                  <a:srgbClr val="61706D"/>
                </a:solidFill>
                <a:latin typeface="Aptos" pitchFamily="34" charset="0"/>
                <a:ea typeface="Aptos" pitchFamily="34" charset="-122"/>
                <a:cs typeface="Aptos" pitchFamily="34" charset="-120"/>
              </a:rPr>
              <a:t>from 5.8</a:t>
            </a:r>
            <a:endParaRPr lang="en-US" sz="850" dirty="0"/>
          </a:p>
        </p:txBody>
      </p:sp>
      <p:sp>
        <p:nvSpPr>
          <p:cNvPr id="28" name="Shape 25"/>
          <p:cNvSpPr/>
          <p:nvPr/>
        </p:nvSpPr>
        <p:spPr>
          <a:xfrm>
            <a:off x="7607808" y="4791456"/>
            <a:ext cx="1847088" cy="1051560"/>
          </a:xfrm>
          <a:prstGeom prst="roundRect">
            <a:avLst>
              <a:gd name="adj" fmla="val 6957"/>
            </a:avLst>
          </a:prstGeom>
          <a:solidFill>
            <a:srgbClr val="FFFDF8"/>
          </a:solidFill>
          <a:ln w="12700">
            <a:solidFill>
              <a:srgbClr val="D9D2C2"/>
            </a:solidFill>
            <a:prstDash val="solid"/>
          </a:ln>
        </p:spPr>
      </p:sp>
      <p:sp>
        <p:nvSpPr>
          <p:cNvPr id="29" name="Shape 26"/>
          <p:cNvSpPr/>
          <p:nvPr/>
        </p:nvSpPr>
        <p:spPr>
          <a:xfrm>
            <a:off x="7607808" y="4791456"/>
            <a:ext cx="73152" cy="1051560"/>
          </a:xfrm>
          <a:prstGeom prst="rect">
            <a:avLst/>
          </a:prstGeom>
          <a:solidFill>
            <a:srgbClr val="1D6B62"/>
          </a:solidFill>
          <a:ln w="12700">
            <a:solidFill>
              <a:srgbClr val="1D6B62"/>
            </a:solidFill>
            <a:prstDash val="solid"/>
          </a:ln>
        </p:spPr>
      </p:sp>
      <p:sp>
        <p:nvSpPr>
          <p:cNvPr id="30" name="Text 27"/>
          <p:cNvSpPr/>
          <p:nvPr/>
        </p:nvSpPr>
        <p:spPr>
          <a:xfrm>
            <a:off x="7790688" y="4937760"/>
            <a:ext cx="1527048" cy="411480"/>
          </a:xfrm>
          <a:prstGeom prst="rect">
            <a:avLst/>
          </a:prstGeom>
          <a:noFill/>
          <a:ln/>
        </p:spPr>
        <p:txBody>
          <a:bodyPr wrap="square" lIns="0" tIns="0" rIns="0" bIns="0" rtlCol="0" anchor="ctr">
            <a:normAutofit/>
          </a:bodyPr>
          <a:lstStyle/>
          <a:p>
            <a:pPr indent="0" marL="0">
              <a:buNone/>
            </a:pPr>
            <a:r>
              <a:rPr lang="en-US" sz="2500" b="1" dirty="0">
                <a:solidFill>
                  <a:srgbClr val="132524"/>
                </a:solidFill>
                <a:latin typeface="Aptos Display" pitchFamily="34" charset="0"/>
                <a:ea typeface="Aptos Display" pitchFamily="34" charset="-122"/>
                <a:cs typeface="Aptos Display" pitchFamily="34" charset="-120"/>
              </a:rPr>
              <a:t>0</a:t>
            </a:r>
            <a:endParaRPr lang="en-US" sz="2500" dirty="0"/>
          </a:p>
        </p:txBody>
      </p:sp>
      <p:sp>
        <p:nvSpPr>
          <p:cNvPr id="31" name="Text 28"/>
          <p:cNvSpPr/>
          <p:nvPr/>
        </p:nvSpPr>
        <p:spPr>
          <a:xfrm>
            <a:off x="7790688" y="5367528"/>
            <a:ext cx="1527048" cy="310896"/>
          </a:xfrm>
          <a:prstGeom prst="rect">
            <a:avLst/>
          </a:prstGeom>
          <a:noFill/>
          <a:ln/>
        </p:spPr>
        <p:txBody>
          <a:bodyPr wrap="square" lIns="0" tIns="0" rIns="0" bIns="0" rtlCol="0" anchor="ctr">
            <a:normAutofit/>
          </a:bodyPr>
          <a:lstStyle/>
          <a:p>
            <a:pPr indent="0" marL="0">
              <a:buNone/>
            </a:pPr>
            <a:r>
              <a:rPr lang="en-US" sz="1050" b="1" dirty="0">
                <a:solidFill>
                  <a:srgbClr val="61706D"/>
                </a:solidFill>
                <a:latin typeface="Aptos" pitchFamily="34" charset="0"/>
                <a:ea typeface="Aptos" pitchFamily="34" charset="-122"/>
                <a:cs typeface="Aptos" pitchFamily="34" charset="-120"/>
              </a:rPr>
              <a:t>hard violations</a:t>
            </a:r>
            <a:endParaRPr lang="en-US" sz="1050" dirty="0"/>
          </a:p>
        </p:txBody>
      </p:sp>
      <p:sp>
        <p:nvSpPr>
          <p:cNvPr id="32" name="Text 29"/>
          <p:cNvSpPr/>
          <p:nvPr/>
        </p:nvSpPr>
        <p:spPr>
          <a:xfrm>
            <a:off x="7790688" y="5541264"/>
            <a:ext cx="1527048" cy="201168"/>
          </a:xfrm>
          <a:prstGeom prst="rect">
            <a:avLst/>
          </a:prstGeom>
          <a:noFill/>
          <a:ln/>
        </p:spPr>
        <p:txBody>
          <a:bodyPr wrap="square" lIns="0" tIns="0" rIns="0" bIns="0" rtlCol="0" anchor="ctr">
            <a:normAutofit/>
          </a:bodyPr>
          <a:lstStyle/>
          <a:p>
            <a:pPr indent="0" marL="0">
              <a:buNone/>
            </a:pPr>
            <a:r>
              <a:rPr lang="en-US" sz="850" dirty="0">
                <a:solidFill>
                  <a:srgbClr val="61706D"/>
                </a:solidFill>
                <a:latin typeface="Aptos" pitchFamily="34" charset="0"/>
                <a:ea typeface="Aptos" pitchFamily="34" charset="-122"/>
                <a:cs typeface="Aptos" pitchFamily="34" charset="-120"/>
              </a:rPr>
              <a:t>approval gate</a:t>
            </a:r>
            <a:endParaRPr lang="en-US" sz="850" dirty="0"/>
          </a:p>
        </p:txBody>
      </p:sp>
      <p:sp>
        <p:nvSpPr>
          <p:cNvPr id="33" name="Shape 30"/>
          <p:cNvSpPr/>
          <p:nvPr/>
        </p:nvSpPr>
        <p:spPr>
          <a:xfrm>
            <a:off x="9674352" y="4791456"/>
            <a:ext cx="1847088" cy="1051560"/>
          </a:xfrm>
          <a:prstGeom prst="roundRect">
            <a:avLst>
              <a:gd name="adj" fmla="val 6957"/>
            </a:avLst>
          </a:prstGeom>
          <a:solidFill>
            <a:srgbClr val="FFFDF8"/>
          </a:solidFill>
          <a:ln w="12700">
            <a:solidFill>
              <a:srgbClr val="D9D2C2"/>
            </a:solidFill>
            <a:prstDash val="solid"/>
          </a:ln>
        </p:spPr>
      </p:sp>
      <p:sp>
        <p:nvSpPr>
          <p:cNvPr id="34" name="Shape 31"/>
          <p:cNvSpPr/>
          <p:nvPr/>
        </p:nvSpPr>
        <p:spPr>
          <a:xfrm>
            <a:off x="9674352" y="4791456"/>
            <a:ext cx="73152" cy="1051560"/>
          </a:xfrm>
          <a:prstGeom prst="rect">
            <a:avLst/>
          </a:prstGeom>
          <a:solidFill>
            <a:srgbClr val="1D6B62"/>
          </a:solidFill>
          <a:ln w="12700">
            <a:solidFill>
              <a:srgbClr val="1D6B62"/>
            </a:solidFill>
            <a:prstDash val="solid"/>
          </a:ln>
        </p:spPr>
      </p:sp>
      <p:sp>
        <p:nvSpPr>
          <p:cNvPr id="35" name="Text 32"/>
          <p:cNvSpPr/>
          <p:nvPr/>
        </p:nvSpPr>
        <p:spPr>
          <a:xfrm>
            <a:off x="9857232" y="4937760"/>
            <a:ext cx="1527048" cy="411480"/>
          </a:xfrm>
          <a:prstGeom prst="rect">
            <a:avLst/>
          </a:prstGeom>
          <a:noFill/>
          <a:ln/>
        </p:spPr>
        <p:txBody>
          <a:bodyPr wrap="square" lIns="0" tIns="0" rIns="0" bIns="0" rtlCol="0" anchor="ctr">
            <a:normAutofit/>
          </a:bodyPr>
          <a:lstStyle/>
          <a:p>
            <a:pPr indent="0" marL="0">
              <a:buNone/>
            </a:pPr>
            <a:r>
              <a:rPr lang="en-US" sz="2500" b="1" dirty="0">
                <a:solidFill>
                  <a:srgbClr val="132524"/>
                </a:solidFill>
                <a:latin typeface="Aptos Display" pitchFamily="34" charset="0"/>
                <a:ea typeface="Aptos Display" pitchFamily="34" charset="-122"/>
                <a:cs typeface="Aptos Display" pitchFamily="34" charset="-120"/>
              </a:rPr>
              <a:t>0.10s</a:t>
            </a:r>
            <a:endParaRPr lang="en-US" sz="2500" dirty="0"/>
          </a:p>
        </p:txBody>
      </p:sp>
      <p:sp>
        <p:nvSpPr>
          <p:cNvPr id="36" name="Text 33"/>
          <p:cNvSpPr/>
          <p:nvPr/>
        </p:nvSpPr>
        <p:spPr>
          <a:xfrm>
            <a:off x="9857232" y="5367528"/>
            <a:ext cx="1527048" cy="310896"/>
          </a:xfrm>
          <a:prstGeom prst="rect">
            <a:avLst/>
          </a:prstGeom>
          <a:noFill/>
          <a:ln/>
        </p:spPr>
        <p:txBody>
          <a:bodyPr wrap="square" lIns="0" tIns="0" rIns="0" bIns="0" rtlCol="0" anchor="ctr">
            <a:normAutofit/>
          </a:bodyPr>
          <a:lstStyle/>
          <a:p>
            <a:pPr indent="0" marL="0">
              <a:buNone/>
            </a:pPr>
            <a:r>
              <a:rPr lang="en-US" sz="1050" b="1" dirty="0">
                <a:solidFill>
                  <a:srgbClr val="61706D"/>
                </a:solidFill>
                <a:latin typeface="Aptos" pitchFamily="34" charset="0"/>
                <a:ea typeface="Aptos" pitchFamily="34" charset="-122"/>
                <a:cs typeface="Aptos" pitchFamily="34" charset="-120"/>
              </a:rPr>
              <a:t>planning time</a:t>
            </a:r>
            <a:endParaRPr lang="en-US" sz="1050" dirty="0"/>
          </a:p>
        </p:txBody>
      </p:sp>
      <p:sp>
        <p:nvSpPr>
          <p:cNvPr id="37" name="Text 34"/>
          <p:cNvSpPr/>
          <p:nvPr/>
        </p:nvSpPr>
        <p:spPr>
          <a:xfrm>
            <a:off x="9857232" y="5541264"/>
            <a:ext cx="1527048" cy="201168"/>
          </a:xfrm>
          <a:prstGeom prst="rect">
            <a:avLst/>
          </a:prstGeom>
          <a:noFill/>
          <a:ln/>
        </p:spPr>
        <p:txBody>
          <a:bodyPr wrap="square" lIns="0" tIns="0" rIns="0" bIns="0" rtlCol="0" anchor="ctr">
            <a:normAutofit/>
          </a:bodyPr>
          <a:lstStyle/>
          <a:p>
            <a:pPr indent="0" marL="0">
              <a:buNone/>
            </a:pPr>
            <a:r>
              <a:rPr lang="en-US" sz="850" dirty="0">
                <a:solidFill>
                  <a:srgbClr val="61706D"/>
                </a:solidFill>
                <a:latin typeface="Aptos" pitchFamily="34" charset="0"/>
                <a:ea typeface="Aptos" pitchFamily="34" charset="-122"/>
                <a:cs typeface="Aptos" pitchFamily="34" charset="-120"/>
              </a:rPr>
              <a:t>deployed seeded run</a:t>
            </a:r>
            <a:endParaRPr lang="en-US" sz="850" dirty="0"/>
          </a:p>
        </p:txBody>
      </p:sp>
      <p:sp>
        <p:nvSpPr>
          <p:cNvPr id="38" name="Text 35"/>
          <p:cNvSpPr/>
          <p:nvPr/>
        </p:nvSpPr>
        <p:spPr>
          <a:xfrm>
            <a:off x="658368" y="6419088"/>
            <a:ext cx="10469880" cy="210312"/>
          </a:xfrm>
          <a:prstGeom prst="rect">
            <a:avLst/>
          </a:prstGeom>
          <a:noFill/>
          <a:ln/>
        </p:spPr>
        <p:txBody>
          <a:bodyPr wrap="square" lIns="0" tIns="0" rIns="0" bIns="0" rtlCol="0" anchor="ctr">
            <a:normAutofit/>
          </a:bodyPr>
          <a:lstStyle/>
          <a:p>
            <a:pPr indent="0" marL="0">
              <a:buNone/>
            </a:pPr>
            <a:r>
              <a:rPr lang="en-US" sz="850" dirty="0">
                <a:solidFill>
                  <a:srgbClr val="61706D"/>
                </a:solidFill>
                <a:latin typeface="Aptos" pitchFamily="34" charset="0"/>
                <a:ea typeface="Aptos" pitchFamily="34" charset="-122"/>
                <a:cs typeface="Aptos" pitchFamily="34" charset="-120"/>
              </a:rPr>
              <a:t>Measured on the deployed synthetic scenario. No comparison to the hypothetical 2.0 staff-hour task model is claimed.  </a:t>
            </a:r>
            <a:pPr indent="0" marL="0">
              <a:buNone/>
            </a:pPr>
            <a:r>
              <a:rPr lang="en-US" sz="850" u="sng" dirty="0">
                <a:solidFill>
                  <a:srgbClr val="1D6B62"/>
                </a:solidFill>
                <a:uFill>
                  <a:solidFill>
                    <a:srgbClr val="1D6B62"/>
                  </a:solidFill>
                </a:uFill>
                <a:latin typeface="Aptos" pitchFamily="34" charset="0"/>
                <a:ea typeface="Aptos" pitchFamily="34" charset="-122"/>
                <a:cs typeface="Aptos" pitchFamily="34" charset="-120"/>
                <a:hlinkClick r:id="rId2" invalidUrl="" action="" tgtFrame="" tooltip="Deterministic demo runner" history="1" highlightClick="0" endSnd="0">
                  <a:extLst>
                    <a:ext uri="{A12FA001-AC4F-418D-AE19-62706E023703}">
                      <ahyp:hlinkClr xmlns:ahyp="http://schemas.microsoft.com/office/drawing/2018/hyperlinkcolor" val="tx"/>
                    </a:ext>
                  </a:extLst>
                </a:hlinkClick>
              </a:rPr>
              <a:t>Deterministic demo runner</a:t>
            </a:r>
            <a:pPr indent="0" marL="0">
              <a:buNone/>
            </a:pPr>
            <a:r>
              <a:rPr lang="en-US" sz="850" dirty="0">
                <a:solidFill>
                  <a:srgbClr val="D9D2C2"/>
                </a:solidFill>
                <a:latin typeface="Aptos" pitchFamily="34" charset="0"/>
                <a:ea typeface="Aptos" pitchFamily="34" charset="-122"/>
                <a:cs typeface="Aptos" pitchFamily="34" charset="-120"/>
              </a:rPr>
              <a:t>  |  </a:t>
            </a:r>
            <a:pPr indent="0" marL="0">
              <a:buNone/>
            </a:pPr>
            <a:r>
              <a:rPr lang="en-US" sz="850" u="sng" dirty="0">
                <a:solidFill>
                  <a:srgbClr val="1D6B62"/>
                </a:solidFill>
                <a:uFill>
                  <a:solidFill>
                    <a:srgbClr val="1D6B62"/>
                  </a:solidFill>
                </a:uFill>
                <a:latin typeface="Aptos" pitchFamily="34" charset="0"/>
                <a:ea typeface="Aptos" pitchFamily="34" charset="-122"/>
                <a:cs typeface="Aptos" pitchFamily="34" charset="-120"/>
                <a:hlinkClick r:id="rId3" invalidUrl="" action="" tgtFrame="" tooltip="Scenario database" history="1" highlightClick="0" endSnd="0">
                  <a:extLst>
                    <a:ext uri="{A12FA001-AC4F-418D-AE19-62706E023703}">
                      <ahyp:hlinkClr xmlns:ahyp="http://schemas.microsoft.com/office/drawing/2018/hyperlinkcolor" val="tx"/>
                    </a:ext>
                  </a:extLst>
                </a:hlinkClick>
              </a:rPr>
              <a:t>Scenario database</a:t>
            </a:r>
            <a:endParaRPr lang="en-US" sz="850" dirty="0"/>
          </a:p>
        </p:txBody>
      </p:sp>
      <p:sp>
        <p:nvSpPr>
          <p:cNvPr id="25" name="Slide Number Placeholder 0"/>
          <p:cNvSpPr>
            <a:spLocks noGrp="1"/>
          </p:cNvSpPr>
          <p:nvPr>
            <p:ph type="sldNum" sz="quarter" idx="4294967295"/>
          </p:nvPr>
        </p:nvSpPr>
        <p:spPr>
          <a:xfrm>
            <a:off x="11448288" y="6437376"/>
            <a:ext cx="219456" cy="182880"/>
          </a:xfrm>
          <a:prstGeom prst="rect">
            <a:avLst/>
          </a:prstGeom>
          <a:extLst>
            <a:ext uri="{C572A759-6A51-4108-AA02-DFA0A04FC94B}">
              <ma14:wrappingTextBoxFlag xmlns:ma14="http://schemas.microsoft.com/office/mac/drawingml/2011/main" val="0"/>
            </a:ext>
          </a:extLst>
        </p:spPr>
        <p:txBody>
          <a:bodyPr lIns="0" tIns="0" rIns="0" bIns="0"/>
          <a:lstStyle>
            <a:lvl1pPr>
              <a:defRPr sz="800">
                <a:solidFill>
                  <a:srgbClr val="61706D"/>
                </a:solidFill>
                <a:latin typeface="Aptos"/>
                <a:ea typeface="Aptos"/>
                <a:cs typeface="Aptos"/>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658368" y="658368"/>
            <a:ext cx="4937760" cy="228600"/>
          </a:xfrm>
          <a:prstGeom prst="rect">
            <a:avLst/>
          </a:prstGeom>
          <a:noFill/>
          <a:ln/>
        </p:spPr>
        <p:txBody>
          <a:bodyPr wrap="square" lIns="0" tIns="0" rIns="0" bIns="0" rtlCol="0" anchor="ctr">
            <a:normAutofit/>
          </a:bodyPr>
          <a:lstStyle/>
          <a:p>
            <a:pPr indent="0" marL="0">
              <a:buNone/>
            </a:pPr>
            <a:r>
              <a:rPr lang="en-US" sz="1050" b="1" spc="120" kern="0" dirty="0">
                <a:solidFill>
                  <a:srgbClr val="B94735"/>
                </a:solidFill>
                <a:latin typeface="Aptos" pitchFamily="34" charset="0"/>
                <a:ea typeface="Aptos" pitchFamily="34" charset="-122"/>
                <a:cs typeface="Aptos" pitchFamily="34" charset="-120"/>
              </a:rPr>
              <a:t>CONTROL</a:t>
            </a:r>
            <a:endParaRPr lang="en-US" sz="1050" dirty="0"/>
          </a:p>
        </p:txBody>
      </p:sp>
      <p:sp>
        <p:nvSpPr>
          <p:cNvPr id="3" name="Text 1"/>
          <p:cNvSpPr/>
          <p:nvPr/>
        </p:nvSpPr>
        <p:spPr>
          <a:xfrm>
            <a:off x="658368" y="932688"/>
            <a:ext cx="10835640" cy="594360"/>
          </a:xfrm>
          <a:prstGeom prst="rect">
            <a:avLst/>
          </a:prstGeom>
          <a:noFill/>
          <a:ln/>
        </p:spPr>
        <p:txBody>
          <a:bodyPr wrap="square" lIns="0" tIns="0" rIns="0" bIns="0" rtlCol="0" anchor="ctr">
            <a:normAutofit/>
          </a:bodyPr>
          <a:lstStyle/>
          <a:p>
            <a:pPr indent="0" marL="0">
              <a:buNone/>
            </a:pPr>
            <a:r>
              <a:rPr lang="en-US" sz="3600" b="1" dirty="0">
                <a:solidFill>
                  <a:srgbClr val="132524"/>
                </a:solidFill>
                <a:latin typeface="Aptos Display" pitchFamily="34" charset="0"/>
                <a:ea typeface="Aptos Display" pitchFamily="34" charset="-122"/>
                <a:cs typeface="Aptos Display" pitchFamily="34" charset="-120"/>
              </a:rPr>
              <a:t>Human approval is a transaction, not a button.</a:t>
            </a:r>
            <a:endParaRPr lang="en-US" sz="3600" dirty="0"/>
          </a:p>
        </p:txBody>
      </p:sp>
      <p:sp>
        <p:nvSpPr>
          <p:cNvPr id="4" name="Text 2"/>
          <p:cNvSpPr/>
          <p:nvPr/>
        </p:nvSpPr>
        <p:spPr>
          <a:xfrm>
            <a:off x="658368" y="1572768"/>
            <a:ext cx="10652760" cy="502920"/>
          </a:xfrm>
          <a:prstGeom prst="rect">
            <a:avLst/>
          </a:prstGeom>
          <a:noFill/>
          <a:ln/>
        </p:spPr>
        <p:txBody>
          <a:bodyPr wrap="square" lIns="0" tIns="0" rIns="0" bIns="0" rtlCol="0" anchor="t">
            <a:normAutofit/>
          </a:bodyPr>
          <a:lstStyle/>
          <a:p>
            <a:pPr indent="0" marL="0">
              <a:buNone/>
            </a:pPr>
            <a:r>
              <a:rPr lang="en-US" sz="1550" dirty="0">
                <a:solidFill>
                  <a:srgbClr val="61706D"/>
                </a:solidFill>
                <a:latin typeface="Aptos" pitchFamily="34" charset="0"/>
                <a:ea typeface="Aptos" pitchFamily="34" charset="-122"/>
                <a:cs typeface="Aptos" pitchFamily="34" charset="-120"/>
              </a:rPr>
              <a:t>Approval re-reads current state, rejects stale or altered drafts, and commits one auditable transition only after every hard constraint still passes.</a:t>
            </a:r>
            <a:endParaRPr lang="en-US" sz="1550" dirty="0"/>
          </a:p>
        </p:txBody>
      </p:sp>
      <p:sp>
        <p:nvSpPr>
          <p:cNvPr id="5" name="Shape 3"/>
          <p:cNvSpPr/>
          <p:nvPr/>
        </p:nvSpPr>
        <p:spPr>
          <a:xfrm>
            <a:off x="658368" y="2267712"/>
            <a:ext cx="7818120" cy="3794760"/>
          </a:xfrm>
          <a:prstGeom prst="roundRect">
            <a:avLst>
              <a:gd name="adj" fmla="val 1928"/>
            </a:avLst>
          </a:prstGeom>
          <a:solidFill>
            <a:srgbClr val="FFFDF8"/>
          </a:solidFill>
          <a:ln w="12700">
            <a:solidFill>
              <a:srgbClr val="D9D2C2"/>
            </a:solidFill>
            <a:prstDash val="solid"/>
          </a:ln>
        </p:spPr>
      </p:sp>
      <p:sp>
        <p:nvSpPr>
          <p:cNvPr id="6" name="Text 4"/>
          <p:cNvSpPr/>
          <p:nvPr/>
        </p:nvSpPr>
        <p:spPr>
          <a:xfrm>
            <a:off x="932688" y="2542032"/>
            <a:ext cx="3200400" cy="219456"/>
          </a:xfrm>
          <a:prstGeom prst="rect">
            <a:avLst/>
          </a:prstGeom>
          <a:noFill/>
          <a:ln/>
        </p:spPr>
        <p:txBody>
          <a:bodyPr wrap="square" lIns="0" tIns="0" rIns="0" bIns="0" rtlCol="0" anchor="ctr">
            <a:normAutofit/>
          </a:bodyPr>
          <a:lstStyle/>
          <a:p>
            <a:pPr indent="0" marL="0">
              <a:buNone/>
            </a:pPr>
            <a:r>
              <a:rPr lang="en-US" sz="950" b="1" spc="100" kern="0" dirty="0">
                <a:solidFill>
                  <a:srgbClr val="B94735"/>
                </a:solidFill>
                <a:latin typeface="Aptos" pitchFamily="34" charset="0"/>
                <a:ea typeface="Aptos" pitchFamily="34" charset="-122"/>
                <a:cs typeface="Aptos" pitchFamily="34" charset="-120"/>
              </a:rPr>
              <a:t>EXECUTABLE APPROVAL PATH</a:t>
            </a:r>
            <a:endParaRPr lang="en-US" sz="950" dirty="0"/>
          </a:p>
        </p:txBody>
      </p:sp>
      <p:sp>
        <p:nvSpPr>
          <p:cNvPr id="7" name="Shape 5"/>
          <p:cNvSpPr/>
          <p:nvPr/>
        </p:nvSpPr>
        <p:spPr>
          <a:xfrm>
            <a:off x="932688" y="2953512"/>
            <a:ext cx="2112264" cy="2468880"/>
          </a:xfrm>
          <a:prstGeom prst="roundRect">
            <a:avLst>
              <a:gd name="adj" fmla="val 3463"/>
            </a:avLst>
          </a:prstGeom>
          <a:solidFill>
            <a:srgbClr val="FFFDF8"/>
          </a:solidFill>
          <a:ln w="17780">
            <a:solidFill>
              <a:srgbClr val="64757A"/>
            </a:solidFill>
            <a:prstDash val="solid"/>
          </a:ln>
        </p:spPr>
      </p:sp>
      <p:sp>
        <p:nvSpPr>
          <p:cNvPr id="8" name="Shape 6"/>
          <p:cNvSpPr/>
          <p:nvPr/>
        </p:nvSpPr>
        <p:spPr>
          <a:xfrm>
            <a:off x="1115568" y="3182112"/>
            <a:ext cx="1325880" cy="274320"/>
          </a:xfrm>
          <a:prstGeom prst="roundRect">
            <a:avLst/>
          </a:prstGeom>
          <a:solidFill>
            <a:srgbClr val="64757A"/>
          </a:solidFill>
          <a:ln w="12700">
            <a:solidFill>
              <a:srgbClr val="64757A"/>
            </a:solidFill>
            <a:prstDash val="solid"/>
          </a:ln>
        </p:spPr>
      </p:sp>
      <p:sp>
        <p:nvSpPr>
          <p:cNvPr id="9" name="Text 7"/>
          <p:cNvSpPr/>
          <p:nvPr/>
        </p:nvSpPr>
        <p:spPr>
          <a:xfrm>
            <a:off x="1188720" y="3209544"/>
            <a:ext cx="1179576" cy="210312"/>
          </a:xfrm>
          <a:prstGeom prst="rect">
            <a:avLst/>
          </a:prstGeom>
          <a:noFill/>
          <a:ln/>
        </p:spPr>
        <p:txBody>
          <a:bodyPr wrap="square" lIns="0" tIns="0" rIns="0" bIns="0" rtlCol="0" anchor="ctr">
            <a:normAutofit/>
          </a:bodyPr>
          <a:lstStyle/>
          <a:p>
            <a:pPr algn="ctr" indent="0" marL="0">
              <a:buNone/>
            </a:pPr>
            <a:r>
              <a:rPr lang="en-US" sz="900" b="1" dirty="0">
                <a:solidFill>
                  <a:srgbClr val="FFFFFF"/>
                </a:solidFill>
                <a:latin typeface="Aptos" pitchFamily="34" charset="0"/>
                <a:ea typeface="Aptos" pitchFamily="34" charset="-122"/>
                <a:cs typeface="Aptos" pitchFamily="34" charset="-120"/>
              </a:rPr>
              <a:t>1 · DRAFT</a:t>
            </a:r>
            <a:endParaRPr lang="en-US" sz="900" dirty="0"/>
          </a:p>
        </p:txBody>
      </p:sp>
      <p:sp>
        <p:nvSpPr>
          <p:cNvPr id="10" name="Text 8"/>
          <p:cNvSpPr/>
          <p:nvPr/>
        </p:nvSpPr>
        <p:spPr>
          <a:xfrm>
            <a:off x="1115568" y="3685032"/>
            <a:ext cx="1746504" cy="502920"/>
          </a:xfrm>
          <a:prstGeom prst="rect">
            <a:avLst/>
          </a:prstGeom>
          <a:noFill/>
          <a:ln/>
        </p:spPr>
        <p:txBody>
          <a:bodyPr wrap="square" lIns="0" tIns="0" rIns="0" bIns="0" rtlCol="0" anchor="t">
            <a:normAutofit/>
          </a:bodyPr>
          <a:lstStyle/>
          <a:p>
            <a:pPr indent="0" marL="0">
              <a:buNone/>
            </a:pPr>
            <a:r>
              <a:rPr lang="en-US" sz="1320" b="1" dirty="0">
                <a:solidFill>
                  <a:srgbClr val="132524"/>
                </a:solidFill>
                <a:latin typeface="Aptos" pitchFamily="34" charset="0"/>
                <a:ea typeface="Aptos" pitchFamily="34" charset="-122"/>
                <a:cs typeface="Aptos" pitchFamily="34" charset="-120"/>
              </a:rPr>
              <a:t>PLAN-RECOMMENDED-002</a:t>
            </a:r>
            <a:endParaRPr lang="en-US" sz="1320" dirty="0"/>
          </a:p>
        </p:txBody>
      </p:sp>
      <p:sp>
        <p:nvSpPr>
          <p:cNvPr id="11" name="Text 9"/>
          <p:cNvSpPr/>
          <p:nvPr/>
        </p:nvSpPr>
        <p:spPr>
          <a:xfrm>
            <a:off x="1115568" y="4370832"/>
            <a:ext cx="1746504" cy="749808"/>
          </a:xfrm>
          <a:prstGeom prst="rect">
            <a:avLst/>
          </a:prstGeom>
          <a:noFill/>
          <a:ln/>
        </p:spPr>
        <p:txBody>
          <a:bodyPr wrap="square" lIns="0" tIns="0" rIns="0" bIns="0" rtlCol="0" anchor="t">
            <a:normAutofit/>
          </a:bodyPr>
          <a:lstStyle/>
          <a:p>
            <a:pPr indent="0" marL="0">
              <a:buNone/>
            </a:pPr>
            <a:r>
              <a:rPr lang="en-US" sz="1050" dirty="0">
                <a:solidFill>
                  <a:srgbClr val="61706D"/>
                </a:solidFill>
                <a:latin typeface="Aptos" pitchFamily="34" charset="0"/>
                <a:ea typeface="Aptos" pitchFamily="34" charset="-122"/>
                <a:cs typeface="Aptos" pitchFamily="34" charset="-120"/>
              </a:rPr>
              <a:t>$550 procurement</a:t>
            </a:r>
            <a:endParaRPr lang="en-US" sz="1050" dirty="0"/>
          </a:p>
          <a:p>
            <a:pPr indent="0" marL="0">
              <a:buNone/>
            </a:pPr>
            <a:r>
              <a:rPr lang="en-US" sz="1050" dirty="0">
                <a:solidFill>
                  <a:srgbClr val="61706D"/>
                </a:solidFill>
                <a:latin typeface="Aptos" pitchFamily="34" charset="0"/>
                <a:ea typeface="Aptos" pitchFamily="34" charset="-122"/>
                <a:cs typeface="Aptos" pitchFamily="34" charset="-120"/>
              </a:rPr>
              <a:t>0 hard violations</a:t>
            </a:r>
            <a:endParaRPr lang="en-US" sz="1050" dirty="0"/>
          </a:p>
          <a:p>
            <a:pPr indent="0" marL="0">
              <a:buNone/>
            </a:pPr>
            <a:r>
              <a:rPr lang="en-US" sz="1050" dirty="0">
                <a:solidFill>
                  <a:srgbClr val="61706D"/>
                </a:solidFill>
                <a:latin typeface="Aptos" pitchFamily="34" charset="0"/>
                <a:ea typeface="Aptos" pitchFamily="34" charset="-122"/>
                <a:cs typeface="Aptos" pitchFamily="34" charset="-120"/>
              </a:rPr>
              <a:t>review gaps surfaced</a:t>
            </a:r>
            <a:endParaRPr lang="en-US" sz="1050" dirty="0"/>
          </a:p>
        </p:txBody>
      </p:sp>
      <p:sp>
        <p:nvSpPr>
          <p:cNvPr id="12" name="Shape 10"/>
          <p:cNvSpPr/>
          <p:nvPr/>
        </p:nvSpPr>
        <p:spPr>
          <a:xfrm>
            <a:off x="3108960" y="4215384"/>
            <a:ext cx="237744" cy="0"/>
          </a:xfrm>
          <a:prstGeom prst="line">
            <a:avLst/>
          </a:prstGeom>
          <a:noFill/>
          <a:ln w="22860">
            <a:solidFill>
              <a:srgbClr val="B94735"/>
            </a:solidFill>
            <a:prstDash val="solid"/>
            <a:headEnd type="none"/>
            <a:tailEnd type="triangle"/>
          </a:ln>
        </p:spPr>
      </p:sp>
      <p:sp>
        <p:nvSpPr>
          <p:cNvPr id="13" name="Shape 11"/>
          <p:cNvSpPr/>
          <p:nvPr/>
        </p:nvSpPr>
        <p:spPr>
          <a:xfrm>
            <a:off x="3410712" y="2953512"/>
            <a:ext cx="2112264" cy="2468880"/>
          </a:xfrm>
          <a:prstGeom prst="roundRect">
            <a:avLst>
              <a:gd name="adj" fmla="val 3463"/>
            </a:avLst>
          </a:prstGeom>
          <a:solidFill>
            <a:srgbClr val="FFFDF8"/>
          </a:solidFill>
          <a:ln w="17780">
            <a:solidFill>
              <a:srgbClr val="C88C2C"/>
            </a:solidFill>
            <a:prstDash val="solid"/>
          </a:ln>
        </p:spPr>
      </p:sp>
      <p:sp>
        <p:nvSpPr>
          <p:cNvPr id="14" name="Shape 12"/>
          <p:cNvSpPr/>
          <p:nvPr/>
        </p:nvSpPr>
        <p:spPr>
          <a:xfrm>
            <a:off x="3593592" y="3182112"/>
            <a:ext cx="1325880" cy="274320"/>
          </a:xfrm>
          <a:prstGeom prst="roundRect">
            <a:avLst/>
          </a:prstGeom>
          <a:solidFill>
            <a:srgbClr val="C88C2C"/>
          </a:solidFill>
          <a:ln w="12700">
            <a:solidFill>
              <a:srgbClr val="C88C2C"/>
            </a:solidFill>
            <a:prstDash val="solid"/>
          </a:ln>
        </p:spPr>
      </p:sp>
      <p:sp>
        <p:nvSpPr>
          <p:cNvPr id="15" name="Text 13"/>
          <p:cNvSpPr/>
          <p:nvPr/>
        </p:nvSpPr>
        <p:spPr>
          <a:xfrm>
            <a:off x="3666744" y="3209544"/>
            <a:ext cx="1179576" cy="210312"/>
          </a:xfrm>
          <a:prstGeom prst="rect">
            <a:avLst/>
          </a:prstGeom>
          <a:noFill/>
          <a:ln/>
        </p:spPr>
        <p:txBody>
          <a:bodyPr wrap="square" lIns="0" tIns="0" rIns="0" bIns="0" rtlCol="0" anchor="ctr">
            <a:normAutofit/>
          </a:bodyPr>
          <a:lstStyle/>
          <a:p>
            <a:pPr algn="ctr" indent="0" marL="0">
              <a:buNone/>
            </a:pPr>
            <a:r>
              <a:rPr lang="en-US" sz="900" b="1" dirty="0">
                <a:solidFill>
                  <a:srgbClr val="FFFFFF"/>
                </a:solidFill>
                <a:latin typeface="Aptos" pitchFamily="34" charset="0"/>
                <a:ea typeface="Aptos" pitchFamily="34" charset="-122"/>
                <a:cs typeface="Aptos" pitchFamily="34" charset="-120"/>
              </a:rPr>
              <a:t>2 · REVALIDATE</a:t>
            </a:r>
            <a:endParaRPr lang="en-US" sz="900" dirty="0"/>
          </a:p>
        </p:txBody>
      </p:sp>
      <p:sp>
        <p:nvSpPr>
          <p:cNvPr id="16" name="Text 14"/>
          <p:cNvSpPr/>
          <p:nvPr/>
        </p:nvSpPr>
        <p:spPr>
          <a:xfrm>
            <a:off x="3593592" y="3685032"/>
            <a:ext cx="1746504" cy="502920"/>
          </a:xfrm>
          <a:prstGeom prst="rect">
            <a:avLst/>
          </a:prstGeom>
          <a:noFill/>
          <a:ln/>
        </p:spPr>
        <p:txBody>
          <a:bodyPr wrap="square" lIns="0" tIns="0" rIns="0" bIns="0" rtlCol="0" anchor="t">
            <a:normAutofit/>
          </a:bodyPr>
          <a:lstStyle/>
          <a:p>
            <a:pPr indent="0" marL="0">
              <a:buNone/>
            </a:pPr>
            <a:r>
              <a:rPr lang="en-US" sz="1320" b="1" dirty="0">
                <a:solidFill>
                  <a:srgbClr val="132524"/>
                </a:solidFill>
                <a:latin typeface="Aptos" pitchFamily="34" charset="0"/>
                <a:ea typeface="Aptos" pitchFamily="34" charset="-122"/>
                <a:cs typeface="Aptos" pitchFamily="34" charset="-120"/>
              </a:rPr>
              <a:t>Read current state again</a:t>
            </a:r>
            <a:endParaRPr lang="en-US" sz="1320" dirty="0"/>
          </a:p>
        </p:txBody>
      </p:sp>
      <p:sp>
        <p:nvSpPr>
          <p:cNvPr id="17" name="Text 15"/>
          <p:cNvSpPr/>
          <p:nvPr/>
        </p:nvSpPr>
        <p:spPr>
          <a:xfrm>
            <a:off x="3593592" y="4370832"/>
            <a:ext cx="1746504" cy="749808"/>
          </a:xfrm>
          <a:prstGeom prst="rect">
            <a:avLst/>
          </a:prstGeom>
          <a:noFill/>
          <a:ln/>
        </p:spPr>
        <p:txBody>
          <a:bodyPr wrap="square" lIns="0" tIns="0" rIns="0" bIns="0" rtlCol="0" anchor="t">
            <a:normAutofit/>
          </a:bodyPr>
          <a:lstStyle/>
          <a:p>
            <a:pPr indent="0" marL="0">
              <a:buNone/>
            </a:pPr>
            <a:r>
              <a:rPr lang="en-US" sz="1050" dirty="0">
                <a:solidFill>
                  <a:srgbClr val="61706D"/>
                </a:solidFill>
                <a:latin typeface="Aptos" pitchFamily="34" charset="0"/>
                <a:ea typeface="Aptos" pitchFamily="34" charset="-122"/>
                <a:cs typeface="Aptos" pitchFamily="34" charset="-120"/>
              </a:rPr>
              <a:t>latest plan + payload</a:t>
            </a:r>
            <a:endParaRPr lang="en-US" sz="1050" dirty="0"/>
          </a:p>
          <a:p>
            <a:pPr indent="0" marL="0">
              <a:buNone/>
            </a:pPr>
            <a:r>
              <a:rPr lang="en-US" sz="1050" dirty="0">
                <a:solidFill>
                  <a:srgbClr val="61706D"/>
                </a:solidFill>
                <a:latin typeface="Aptos" pitchFamily="34" charset="0"/>
                <a:ea typeface="Aptos" pitchFamily="34" charset="-122"/>
                <a:cs typeface="Aptos" pitchFamily="34" charset="-120"/>
              </a:rPr>
              <a:t>live offers + timing</a:t>
            </a:r>
            <a:endParaRPr lang="en-US" sz="1050" dirty="0"/>
          </a:p>
          <a:p>
            <a:pPr indent="0" marL="0">
              <a:buNone/>
            </a:pPr>
            <a:r>
              <a:rPr lang="en-US" sz="1050" dirty="0">
                <a:solidFill>
                  <a:srgbClr val="61706D"/>
                </a:solidFill>
                <a:latin typeface="Aptos" pitchFamily="34" charset="0"/>
                <a:ea typeface="Aptos" pitchFamily="34" charset="-122"/>
                <a:cs typeface="Aptos" pitchFamily="34" charset="-120"/>
              </a:rPr>
              <a:t>all hard constraints</a:t>
            </a:r>
            <a:endParaRPr lang="en-US" sz="1050" dirty="0"/>
          </a:p>
        </p:txBody>
      </p:sp>
      <p:sp>
        <p:nvSpPr>
          <p:cNvPr id="18" name="Shape 16"/>
          <p:cNvSpPr/>
          <p:nvPr/>
        </p:nvSpPr>
        <p:spPr>
          <a:xfrm>
            <a:off x="5586984" y="4215384"/>
            <a:ext cx="237744" cy="0"/>
          </a:xfrm>
          <a:prstGeom prst="line">
            <a:avLst/>
          </a:prstGeom>
          <a:noFill/>
          <a:ln w="22860">
            <a:solidFill>
              <a:srgbClr val="B94735"/>
            </a:solidFill>
            <a:prstDash val="solid"/>
            <a:headEnd type="none"/>
            <a:tailEnd type="triangle"/>
          </a:ln>
        </p:spPr>
      </p:sp>
      <p:sp>
        <p:nvSpPr>
          <p:cNvPr id="19" name="Shape 17"/>
          <p:cNvSpPr/>
          <p:nvPr/>
        </p:nvSpPr>
        <p:spPr>
          <a:xfrm>
            <a:off x="5888736" y="2953512"/>
            <a:ext cx="2112264" cy="2468880"/>
          </a:xfrm>
          <a:prstGeom prst="roundRect">
            <a:avLst>
              <a:gd name="adj" fmla="val 3463"/>
            </a:avLst>
          </a:prstGeom>
          <a:solidFill>
            <a:srgbClr val="E8EEE9"/>
          </a:solidFill>
          <a:ln w="17780">
            <a:solidFill>
              <a:srgbClr val="1D6B62"/>
            </a:solidFill>
            <a:prstDash val="solid"/>
          </a:ln>
        </p:spPr>
      </p:sp>
      <p:sp>
        <p:nvSpPr>
          <p:cNvPr id="20" name="Shape 18"/>
          <p:cNvSpPr/>
          <p:nvPr/>
        </p:nvSpPr>
        <p:spPr>
          <a:xfrm>
            <a:off x="6071616" y="3182112"/>
            <a:ext cx="1325880" cy="274320"/>
          </a:xfrm>
          <a:prstGeom prst="roundRect">
            <a:avLst/>
          </a:prstGeom>
          <a:solidFill>
            <a:srgbClr val="1D6B62"/>
          </a:solidFill>
          <a:ln w="12700">
            <a:solidFill>
              <a:srgbClr val="1D6B62"/>
            </a:solidFill>
            <a:prstDash val="solid"/>
          </a:ln>
        </p:spPr>
      </p:sp>
      <p:sp>
        <p:nvSpPr>
          <p:cNvPr id="21" name="Text 19"/>
          <p:cNvSpPr/>
          <p:nvPr/>
        </p:nvSpPr>
        <p:spPr>
          <a:xfrm>
            <a:off x="6144768" y="3209544"/>
            <a:ext cx="1179576" cy="210312"/>
          </a:xfrm>
          <a:prstGeom prst="rect">
            <a:avLst/>
          </a:prstGeom>
          <a:noFill/>
          <a:ln/>
        </p:spPr>
        <p:txBody>
          <a:bodyPr wrap="square" lIns="0" tIns="0" rIns="0" bIns="0" rtlCol="0" anchor="ctr">
            <a:normAutofit/>
          </a:bodyPr>
          <a:lstStyle/>
          <a:p>
            <a:pPr algn="ctr" indent="0" marL="0">
              <a:buNone/>
            </a:pPr>
            <a:r>
              <a:rPr lang="en-US" sz="900" b="1" dirty="0">
                <a:solidFill>
                  <a:srgbClr val="FFFFFF"/>
                </a:solidFill>
                <a:latin typeface="Aptos" pitchFamily="34" charset="0"/>
                <a:ea typeface="Aptos" pitchFamily="34" charset="-122"/>
                <a:cs typeface="Aptos" pitchFamily="34" charset="-120"/>
              </a:rPr>
              <a:t>3 · COMMIT ONCE</a:t>
            </a:r>
            <a:endParaRPr lang="en-US" sz="900" dirty="0"/>
          </a:p>
        </p:txBody>
      </p:sp>
      <p:sp>
        <p:nvSpPr>
          <p:cNvPr id="22" name="Text 20"/>
          <p:cNvSpPr/>
          <p:nvPr/>
        </p:nvSpPr>
        <p:spPr>
          <a:xfrm>
            <a:off x="6071616" y="3685032"/>
            <a:ext cx="1746504" cy="502920"/>
          </a:xfrm>
          <a:prstGeom prst="rect">
            <a:avLst/>
          </a:prstGeom>
          <a:noFill/>
          <a:ln/>
        </p:spPr>
        <p:txBody>
          <a:bodyPr wrap="square" lIns="0" tIns="0" rIns="0" bIns="0" rtlCol="0" anchor="t">
            <a:normAutofit/>
          </a:bodyPr>
          <a:lstStyle/>
          <a:p>
            <a:pPr indent="0" marL="0">
              <a:buNone/>
            </a:pPr>
            <a:r>
              <a:rPr lang="en-US" sz="1320" b="1" dirty="0">
                <a:solidFill>
                  <a:srgbClr val="132524"/>
                </a:solidFill>
                <a:latin typeface="Aptos" pitchFamily="34" charset="0"/>
                <a:ea typeface="Aptos" pitchFamily="34" charset="-122"/>
                <a:cs typeface="Aptos" pitchFamily="34" charset="-120"/>
              </a:rPr>
              <a:t>Approved + audited</a:t>
            </a:r>
            <a:endParaRPr lang="en-US" sz="1320" dirty="0"/>
          </a:p>
        </p:txBody>
      </p:sp>
      <p:sp>
        <p:nvSpPr>
          <p:cNvPr id="23" name="Text 21"/>
          <p:cNvSpPr/>
          <p:nvPr/>
        </p:nvSpPr>
        <p:spPr>
          <a:xfrm>
            <a:off x="6071616" y="4370832"/>
            <a:ext cx="1746504" cy="749808"/>
          </a:xfrm>
          <a:prstGeom prst="rect">
            <a:avLst/>
          </a:prstGeom>
          <a:noFill/>
          <a:ln/>
        </p:spPr>
        <p:txBody>
          <a:bodyPr wrap="square" lIns="0" tIns="0" rIns="0" bIns="0" rtlCol="0" anchor="t">
            <a:normAutofit/>
          </a:bodyPr>
          <a:lstStyle/>
          <a:p>
            <a:pPr indent="0" marL="0">
              <a:buNone/>
            </a:pPr>
            <a:r>
              <a:rPr lang="en-US" sz="1050" dirty="0">
                <a:solidFill>
                  <a:srgbClr val="61706D"/>
                </a:solidFill>
                <a:latin typeface="Aptos" pitchFamily="34" charset="0"/>
                <a:ea typeface="Aptos" pitchFamily="34" charset="-122"/>
                <a:cs typeface="Aptos" pitchFamily="34" charset="-120"/>
              </a:rPr>
              <a:t>operator + timestamp</a:t>
            </a:r>
            <a:endParaRPr lang="en-US" sz="1050" dirty="0"/>
          </a:p>
          <a:p>
            <a:pPr indent="0" marL="0">
              <a:buNone/>
            </a:pPr>
            <a:r>
              <a:rPr lang="en-US" sz="1050" dirty="0">
                <a:solidFill>
                  <a:srgbClr val="61706D"/>
                </a:solidFill>
                <a:latin typeface="Aptos" pitchFamily="34" charset="0"/>
                <a:ea typeface="Aptos" pitchFamily="34" charset="-122"/>
                <a:cs typeface="Aptos" pitchFamily="34" charset="-120"/>
              </a:rPr>
              <a:t>single status transition</a:t>
            </a:r>
            <a:endParaRPr lang="en-US" sz="1050" dirty="0"/>
          </a:p>
          <a:p>
            <a:pPr indent="0" marL="0">
              <a:buNone/>
            </a:pPr>
            <a:r>
              <a:rPr lang="en-US" sz="1050" dirty="0">
                <a:solidFill>
                  <a:srgbClr val="61706D"/>
                </a:solidFill>
                <a:latin typeface="Aptos" pitchFamily="34" charset="0"/>
                <a:ea typeface="Aptos" pitchFamily="34" charset="-122"/>
                <a:cs typeface="Aptos" pitchFamily="34" charset="-120"/>
              </a:rPr>
              <a:t>scoped communications</a:t>
            </a:r>
            <a:endParaRPr lang="en-US" sz="1050" dirty="0"/>
          </a:p>
        </p:txBody>
      </p:sp>
      <p:sp>
        <p:nvSpPr>
          <p:cNvPr id="24" name="Text 22"/>
          <p:cNvSpPr/>
          <p:nvPr/>
        </p:nvSpPr>
        <p:spPr>
          <a:xfrm>
            <a:off x="932688" y="5650992"/>
            <a:ext cx="7068312" cy="219456"/>
          </a:xfrm>
          <a:prstGeom prst="rect">
            <a:avLst/>
          </a:prstGeom>
          <a:noFill/>
          <a:ln/>
        </p:spPr>
        <p:txBody>
          <a:bodyPr wrap="square" lIns="0" tIns="0" rIns="0" bIns="0" rtlCol="0" anchor="ctr">
            <a:normAutofit/>
          </a:bodyPr>
          <a:lstStyle/>
          <a:p>
            <a:pPr algn="ctr" indent="0" marL="0">
              <a:buNone/>
            </a:pPr>
            <a:r>
              <a:rPr lang="en-US" sz="1000" b="1" spc="50" kern="0" dirty="0">
                <a:solidFill>
                  <a:srgbClr val="B94735"/>
                </a:solidFill>
                <a:latin typeface="Aptos" pitchFamily="34" charset="0"/>
                <a:ea typeface="Aptos" pitchFamily="34" charset="-122"/>
                <a:cs typeface="Aptos" pitchFamily="34" charset="-120"/>
              </a:rPr>
              <a:t>ANY MISMATCH  →  REJECT WITH NO PARTIAL SIDE EFFECTS</a:t>
            </a:r>
            <a:endParaRPr lang="en-US" sz="1000" dirty="0"/>
          </a:p>
        </p:txBody>
      </p:sp>
      <p:sp>
        <p:nvSpPr>
          <p:cNvPr id="25" name="Shape 23"/>
          <p:cNvSpPr/>
          <p:nvPr/>
        </p:nvSpPr>
        <p:spPr>
          <a:xfrm>
            <a:off x="8796528" y="2267712"/>
            <a:ext cx="2743200" cy="2267712"/>
          </a:xfrm>
          <a:prstGeom prst="roundRect">
            <a:avLst>
              <a:gd name="adj" fmla="val 3226"/>
            </a:avLst>
          </a:prstGeom>
          <a:solidFill>
            <a:srgbClr val="E8EEE9"/>
          </a:solidFill>
          <a:ln w="12700">
            <a:solidFill>
              <a:srgbClr val="D9D2C2"/>
            </a:solidFill>
            <a:prstDash val="solid"/>
          </a:ln>
        </p:spPr>
      </p:sp>
      <p:sp>
        <p:nvSpPr>
          <p:cNvPr id="26" name="Text 24"/>
          <p:cNvSpPr/>
          <p:nvPr/>
        </p:nvSpPr>
        <p:spPr>
          <a:xfrm>
            <a:off x="9107424" y="2523744"/>
            <a:ext cx="2029968" cy="274320"/>
          </a:xfrm>
          <a:prstGeom prst="rect">
            <a:avLst/>
          </a:prstGeom>
          <a:noFill/>
          <a:ln/>
        </p:spPr>
        <p:txBody>
          <a:bodyPr wrap="square" lIns="0" tIns="0" rIns="0" bIns="0" rtlCol="0" anchor="ctr">
            <a:normAutofit/>
          </a:bodyPr>
          <a:lstStyle/>
          <a:p>
            <a:pPr indent="0" marL="0">
              <a:buNone/>
            </a:pPr>
            <a:r>
              <a:rPr lang="en-US" sz="1400" b="1" dirty="0">
                <a:solidFill>
                  <a:srgbClr val="132524"/>
                </a:solidFill>
                <a:latin typeface="Aptos" pitchFamily="34" charset="0"/>
                <a:ea typeface="Aptos" pitchFamily="34" charset="-122"/>
                <a:cs typeface="Aptos" pitchFamily="34" charset="-120"/>
              </a:rPr>
              <a:t>Approval gates</a:t>
            </a:r>
            <a:endParaRPr lang="en-US" sz="1400" dirty="0"/>
          </a:p>
        </p:txBody>
      </p:sp>
      <p:sp>
        <p:nvSpPr>
          <p:cNvPr id="27" name="Shape 25"/>
          <p:cNvSpPr/>
          <p:nvPr/>
        </p:nvSpPr>
        <p:spPr>
          <a:xfrm>
            <a:off x="9107424" y="2962656"/>
            <a:ext cx="237744" cy="237744"/>
          </a:xfrm>
          <a:prstGeom prst="ellipse">
            <a:avLst/>
          </a:prstGeom>
          <a:solidFill>
            <a:srgbClr val="1D6B62"/>
          </a:solidFill>
          <a:ln w="12700">
            <a:solidFill>
              <a:srgbClr val="1D6B62"/>
            </a:solidFill>
            <a:prstDash val="solid"/>
          </a:ln>
        </p:spPr>
      </p:sp>
      <p:sp>
        <p:nvSpPr>
          <p:cNvPr id="28" name="Text 26"/>
          <p:cNvSpPr/>
          <p:nvPr/>
        </p:nvSpPr>
        <p:spPr>
          <a:xfrm>
            <a:off x="9107424" y="2953512"/>
            <a:ext cx="237744" cy="219456"/>
          </a:xfrm>
          <a:prstGeom prst="rect">
            <a:avLst/>
          </a:prstGeom>
          <a:noFill/>
          <a:ln/>
        </p:spPr>
        <p:txBody>
          <a:bodyPr wrap="square" lIns="0" tIns="0" rIns="0" bIns="0" rtlCol="0" anchor="ctr">
            <a:normAutofit/>
          </a:bodyPr>
          <a:lstStyle/>
          <a:p>
            <a:pPr algn="ctr" indent="0" marL="0">
              <a:buNone/>
            </a:pPr>
            <a:r>
              <a:rPr lang="en-US" sz="1000" b="1" dirty="0">
                <a:solidFill>
                  <a:srgbClr val="FFFFFF"/>
                </a:solidFill>
                <a:latin typeface="Aptos" pitchFamily="34" charset="0"/>
                <a:ea typeface="Aptos" pitchFamily="34" charset="-122"/>
                <a:cs typeface="Aptos" pitchFamily="34" charset="-120"/>
              </a:rPr>
              <a:t>✓</a:t>
            </a:r>
            <a:endParaRPr lang="en-US" sz="1000" dirty="0"/>
          </a:p>
        </p:txBody>
      </p:sp>
      <p:sp>
        <p:nvSpPr>
          <p:cNvPr id="29" name="Text 27"/>
          <p:cNvSpPr/>
          <p:nvPr/>
        </p:nvSpPr>
        <p:spPr>
          <a:xfrm>
            <a:off x="9454896" y="2944368"/>
            <a:ext cx="1709928" cy="237744"/>
          </a:xfrm>
          <a:prstGeom prst="rect">
            <a:avLst/>
          </a:prstGeom>
          <a:noFill/>
          <a:ln/>
        </p:spPr>
        <p:txBody>
          <a:bodyPr wrap="square" lIns="0" tIns="0" rIns="0" bIns="0" rtlCol="0" anchor="ctr">
            <a:normAutofit/>
          </a:bodyPr>
          <a:lstStyle/>
          <a:p>
            <a:pPr indent="0" marL="0">
              <a:buNone/>
            </a:pPr>
            <a:r>
              <a:rPr lang="en-US" sz="1150" b="1" dirty="0">
                <a:solidFill>
                  <a:srgbClr val="132524"/>
                </a:solidFill>
                <a:latin typeface="Aptos" pitchFamily="34" charset="0"/>
                <a:ea typeface="Aptos" pitchFamily="34" charset="-122"/>
                <a:cs typeface="Aptos" pitchFamily="34" charset="-120"/>
              </a:rPr>
              <a:t>Latest recommendation</a:t>
            </a:r>
            <a:endParaRPr lang="en-US" sz="1150" dirty="0"/>
          </a:p>
        </p:txBody>
      </p:sp>
      <p:sp>
        <p:nvSpPr>
          <p:cNvPr id="30" name="Text 28"/>
          <p:cNvSpPr/>
          <p:nvPr/>
        </p:nvSpPr>
        <p:spPr>
          <a:xfrm>
            <a:off x="9454896" y="3191256"/>
            <a:ext cx="1709928" cy="274320"/>
          </a:xfrm>
          <a:prstGeom prst="rect">
            <a:avLst/>
          </a:prstGeom>
          <a:noFill/>
          <a:ln/>
        </p:spPr>
        <p:txBody>
          <a:bodyPr wrap="square" lIns="0" tIns="0" rIns="0" bIns="0" rtlCol="0" anchor="t">
            <a:normAutofit/>
          </a:bodyPr>
          <a:lstStyle/>
          <a:p>
            <a:pPr indent="0" marL="0">
              <a:buNone/>
            </a:pPr>
            <a:r>
              <a:rPr lang="en-US" sz="950" dirty="0">
                <a:solidFill>
                  <a:srgbClr val="61706D"/>
                </a:solidFill>
                <a:latin typeface="Aptos" pitchFamily="34" charset="0"/>
                <a:ea typeface="Aptos" pitchFamily="34" charset="-122"/>
                <a:cs typeface="Aptos" pitchFamily="34" charset="-120"/>
              </a:rPr>
              <a:t>stale drafts rejected</a:t>
            </a:r>
            <a:endParaRPr lang="en-US" sz="950" dirty="0"/>
          </a:p>
        </p:txBody>
      </p:sp>
      <p:sp>
        <p:nvSpPr>
          <p:cNvPr id="31" name="Shape 29"/>
          <p:cNvSpPr/>
          <p:nvPr/>
        </p:nvSpPr>
        <p:spPr>
          <a:xfrm>
            <a:off x="9107424" y="3474720"/>
            <a:ext cx="237744" cy="237744"/>
          </a:xfrm>
          <a:prstGeom prst="ellipse">
            <a:avLst/>
          </a:prstGeom>
          <a:solidFill>
            <a:srgbClr val="1D6B62"/>
          </a:solidFill>
          <a:ln w="12700">
            <a:solidFill>
              <a:srgbClr val="1D6B62"/>
            </a:solidFill>
            <a:prstDash val="solid"/>
          </a:ln>
        </p:spPr>
      </p:sp>
      <p:sp>
        <p:nvSpPr>
          <p:cNvPr id="32" name="Text 30"/>
          <p:cNvSpPr/>
          <p:nvPr/>
        </p:nvSpPr>
        <p:spPr>
          <a:xfrm>
            <a:off x="9107424" y="3465576"/>
            <a:ext cx="237744" cy="219456"/>
          </a:xfrm>
          <a:prstGeom prst="rect">
            <a:avLst/>
          </a:prstGeom>
          <a:noFill/>
          <a:ln/>
        </p:spPr>
        <p:txBody>
          <a:bodyPr wrap="square" lIns="0" tIns="0" rIns="0" bIns="0" rtlCol="0" anchor="ctr">
            <a:normAutofit/>
          </a:bodyPr>
          <a:lstStyle/>
          <a:p>
            <a:pPr algn="ctr" indent="0" marL="0">
              <a:buNone/>
            </a:pPr>
            <a:r>
              <a:rPr lang="en-US" sz="1000" b="1" dirty="0">
                <a:solidFill>
                  <a:srgbClr val="FFFFFF"/>
                </a:solidFill>
                <a:latin typeface="Aptos" pitchFamily="34" charset="0"/>
                <a:ea typeface="Aptos" pitchFamily="34" charset="-122"/>
                <a:cs typeface="Aptos" pitchFamily="34" charset="-120"/>
              </a:rPr>
              <a:t>✓</a:t>
            </a:r>
            <a:endParaRPr lang="en-US" sz="1000" dirty="0"/>
          </a:p>
        </p:txBody>
      </p:sp>
      <p:sp>
        <p:nvSpPr>
          <p:cNvPr id="33" name="Text 31"/>
          <p:cNvSpPr/>
          <p:nvPr/>
        </p:nvSpPr>
        <p:spPr>
          <a:xfrm>
            <a:off x="9454896" y="3456432"/>
            <a:ext cx="1709928" cy="237744"/>
          </a:xfrm>
          <a:prstGeom prst="rect">
            <a:avLst/>
          </a:prstGeom>
          <a:noFill/>
          <a:ln/>
        </p:spPr>
        <p:txBody>
          <a:bodyPr wrap="square" lIns="0" tIns="0" rIns="0" bIns="0" rtlCol="0" anchor="ctr">
            <a:normAutofit/>
          </a:bodyPr>
          <a:lstStyle/>
          <a:p>
            <a:pPr indent="0" marL="0">
              <a:buNone/>
            </a:pPr>
            <a:r>
              <a:rPr lang="en-US" sz="1150" b="1" dirty="0">
                <a:solidFill>
                  <a:srgbClr val="132524"/>
                </a:solidFill>
                <a:latin typeface="Aptos" pitchFamily="34" charset="0"/>
                <a:ea typeface="Aptos" pitchFamily="34" charset="-122"/>
                <a:cs typeface="Aptos" pitchFamily="34" charset="-120"/>
              </a:rPr>
              <a:t>Plan lines re-evaluated</a:t>
            </a:r>
            <a:endParaRPr lang="en-US" sz="1150" dirty="0"/>
          </a:p>
        </p:txBody>
      </p:sp>
      <p:sp>
        <p:nvSpPr>
          <p:cNvPr id="34" name="Text 32"/>
          <p:cNvSpPr/>
          <p:nvPr/>
        </p:nvSpPr>
        <p:spPr>
          <a:xfrm>
            <a:off x="9454896" y="3703320"/>
            <a:ext cx="1709928" cy="274320"/>
          </a:xfrm>
          <a:prstGeom prst="rect">
            <a:avLst/>
          </a:prstGeom>
          <a:noFill/>
          <a:ln/>
        </p:spPr>
        <p:txBody>
          <a:bodyPr wrap="square" lIns="0" tIns="0" rIns="0" bIns="0" rtlCol="0" anchor="t">
            <a:normAutofit/>
          </a:bodyPr>
          <a:lstStyle/>
          <a:p>
            <a:pPr indent="0" marL="0">
              <a:buNone/>
            </a:pPr>
            <a:r>
              <a:rPr lang="en-US" sz="950" dirty="0">
                <a:solidFill>
                  <a:srgbClr val="61706D"/>
                </a:solidFill>
                <a:latin typeface="Aptos" pitchFamily="34" charset="0"/>
                <a:ea typeface="Aptos" pitchFamily="34" charset="-122"/>
                <a:cs typeface="Aptos" pitchFamily="34" charset="-120"/>
              </a:rPr>
              <a:t>offers, timing, constraints checked</a:t>
            </a:r>
            <a:endParaRPr lang="en-US" sz="950" dirty="0"/>
          </a:p>
        </p:txBody>
      </p:sp>
      <p:sp>
        <p:nvSpPr>
          <p:cNvPr id="35" name="Shape 33"/>
          <p:cNvSpPr/>
          <p:nvPr/>
        </p:nvSpPr>
        <p:spPr>
          <a:xfrm>
            <a:off x="9107424" y="3986784"/>
            <a:ext cx="237744" cy="237744"/>
          </a:xfrm>
          <a:prstGeom prst="ellipse">
            <a:avLst/>
          </a:prstGeom>
          <a:solidFill>
            <a:srgbClr val="B94735"/>
          </a:solidFill>
          <a:ln w="12700">
            <a:solidFill>
              <a:srgbClr val="B94735"/>
            </a:solidFill>
            <a:prstDash val="solid"/>
          </a:ln>
        </p:spPr>
      </p:sp>
      <p:sp>
        <p:nvSpPr>
          <p:cNvPr id="36" name="Text 34"/>
          <p:cNvSpPr/>
          <p:nvPr/>
        </p:nvSpPr>
        <p:spPr>
          <a:xfrm>
            <a:off x="9107424" y="3977640"/>
            <a:ext cx="237744" cy="219456"/>
          </a:xfrm>
          <a:prstGeom prst="rect">
            <a:avLst/>
          </a:prstGeom>
          <a:noFill/>
          <a:ln/>
        </p:spPr>
        <p:txBody>
          <a:bodyPr wrap="square" lIns="0" tIns="0" rIns="0" bIns="0" rtlCol="0" anchor="ctr">
            <a:normAutofit/>
          </a:bodyPr>
          <a:lstStyle/>
          <a:p>
            <a:pPr algn="ctr" indent="0" marL="0">
              <a:buNone/>
            </a:pPr>
            <a:r>
              <a:rPr lang="en-US" sz="1000" b="1" dirty="0">
                <a:solidFill>
                  <a:srgbClr val="FFFFFF"/>
                </a:solidFill>
                <a:latin typeface="Aptos" pitchFamily="34" charset="0"/>
                <a:ea typeface="Aptos" pitchFamily="34" charset="-122"/>
                <a:cs typeface="Aptos" pitchFamily="34" charset="-120"/>
              </a:rPr>
              <a:t>✓</a:t>
            </a:r>
            <a:endParaRPr lang="en-US" sz="1000" dirty="0"/>
          </a:p>
        </p:txBody>
      </p:sp>
      <p:sp>
        <p:nvSpPr>
          <p:cNvPr id="37" name="Text 35"/>
          <p:cNvSpPr/>
          <p:nvPr/>
        </p:nvSpPr>
        <p:spPr>
          <a:xfrm>
            <a:off x="9454896" y="3968496"/>
            <a:ext cx="1709928" cy="237744"/>
          </a:xfrm>
          <a:prstGeom prst="rect">
            <a:avLst/>
          </a:prstGeom>
          <a:noFill/>
          <a:ln/>
        </p:spPr>
        <p:txBody>
          <a:bodyPr wrap="square" lIns="0" tIns="0" rIns="0" bIns="0" rtlCol="0" anchor="ctr">
            <a:normAutofit/>
          </a:bodyPr>
          <a:lstStyle/>
          <a:p>
            <a:pPr indent="0" marL="0">
              <a:buNone/>
            </a:pPr>
            <a:r>
              <a:rPr lang="en-US" sz="1150" b="1" dirty="0">
                <a:solidFill>
                  <a:srgbClr val="132524"/>
                </a:solidFill>
                <a:latin typeface="Aptos" pitchFamily="34" charset="0"/>
                <a:ea typeface="Aptos" pitchFamily="34" charset="-122"/>
                <a:cs typeface="Aptos" pitchFamily="34" charset="-120"/>
              </a:rPr>
              <a:t>Zero hard violations</a:t>
            </a:r>
            <a:endParaRPr lang="en-US" sz="1150" dirty="0"/>
          </a:p>
        </p:txBody>
      </p:sp>
      <p:sp>
        <p:nvSpPr>
          <p:cNvPr id="38" name="Text 36"/>
          <p:cNvSpPr/>
          <p:nvPr/>
        </p:nvSpPr>
        <p:spPr>
          <a:xfrm>
            <a:off x="9454896" y="4215384"/>
            <a:ext cx="1709928" cy="274320"/>
          </a:xfrm>
          <a:prstGeom prst="rect">
            <a:avLst/>
          </a:prstGeom>
          <a:noFill/>
          <a:ln/>
        </p:spPr>
        <p:txBody>
          <a:bodyPr wrap="square" lIns="0" tIns="0" rIns="0" bIns="0" rtlCol="0" anchor="t">
            <a:normAutofit/>
          </a:bodyPr>
          <a:lstStyle/>
          <a:p>
            <a:pPr indent="0" marL="0">
              <a:buNone/>
            </a:pPr>
            <a:r>
              <a:rPr lang="en-US" sz="950" dirty="0">
                <a:solidFill>
                  <a:srgbClr val="61706D"/>
                </a:solidFill>
                <a:latin typeface="Aptos" pitchFamily="34" charset="0"/>
                <a:ea typeface="Aptos" pitchFamily="34" charset="-122"/>
                <a:cs typeface="Aptos" pitchFamily="34" charset="-120"/>
              </a:rPr>
              <a:t>state checked again</a:t>
            </a:r>
            <a:endParaRPr lang="en-US" sz="950" dirty="0"/>
          </a:p>
        </p:txBody>
      </p:sp>
      <p:sp>
        <p:nvSpPr>
          <p:cNvPr id="39" name="Shape 37"/>
          <p:cNvSpPr/>
          <p:nvPr/>
        </p:nvSpPr>
        <p:spPr>
          <a:xfrm>
            <a:off x="8796528" y="4773168"/>
            <a:ext cx="2743200" cy="1289304"/>
          </a:xfrm>
          <a:prstGeom prst="roundRect">
            <a:avLst>
              <a:gd name="adj" fmla="val 5674"/>
            </a:avLst>
          </a:prstGeom>
          <a:solidFill>
            <a:srgbClr val="143B37"/>
          </a:solidFill>
          <a:ln w="12700">
            <a:solidFill>
              <a:srgbClr val="143B37"/>
            </a:solidFill>
            <a:prstDash val="solid"/>
          </a:ln>
        </p:spPr>
      </p:sp>
      <p:sp>
        <p:nvSpPr>
          <p:cNvPr id="40" name="Text 38"/>
          <p:cNvSpPr/>
          <p:nvPr/>
        </p:nvSpPr>
        <p:spPr>
          <a:xfrm>
            <a:off x="9107424" y="5010912"/>
            <a:ext cx="2029968" cy="246888"/>
          </a:xfrm>
          <a:prstGeom prst="rect">
            <a:avLst/>
          </a:prstGeom>
          <a:noFill/>
          <a:ln/>
        </p:spPr>
        <p:txBody>
          <a:bodyPr wrap="square" lIns="0" tIns="0" rIns="0" bIns="0" rtlCol="0" anchor="ctr">
            <a:normAutofit/>
          </a:bodyPr>
          <a:lstStyle/>
          <a:p>
            <a:pPr indent="0" marL="0">
              <a:buNone/>
            </a:pPr>
            <a:r>
              <a:rPr lang="en-US" sz="1300" b="1" dirty="0">
                <a:solidFill>
                  <a:srgbClr val="FFFDF8"/>
                </a:solidFill>
                <a:latin typeface="Aptos" pitchFamily="34" charset="0"/>
                <a:ea typeface="Aptos" pitchFamily="34" charset="-122"/>
                <a:cs typeface="Aptos" pitchFamily="34" charset="-120"/>
              </a:rPr>
              <a:t>After approval</a:t>
            </a:r>
            <a:endParaRPr lang="en-US" sz="1300" dirty="0"/>
          </a:p>
        </p:txBody>
      </p:sp>
      <p:sp>
        <p:nvSpPr>
          <p:cNvPr id="41" name="Text 39"/>
          <p:cNvSpPr/>
          <p:nvPr/>
        </p:nvSpPr>
        <p:spPr>
          <a:xfrm>
            <a:off x="9107424" y="5340096"/>
            <a:ext cx="2011680" cy="566928"/>
          </a:xfrm>
          <a:prstGeom prst="rect">
            <a:avLst/>
          </a:prstGeom>
          <a:noFill/>
          <a:ln/>
        </p:spPr>
        <p:txBody>
          <a:bodyPr wrap="square" lIns="0" tIns="0" rIns="0" bIns="0" rtlCol="0" anchor="t">
            <a:normAutofit/>
          </a:bodyPr>
          <a:lstStyle/>
          <a:p>
            <a:pPr indent="0" marL="0">
              <a:buNone/>
            </a:pPr>
            <a:r>
              <a:rPr lang="en-US" sz="1030" dirty="0">
                <a:solidFill>
                  <a:srgbClr val="78B7A9"/>
                </a:solidFill>
                <a:latin typeface="Aptos" pitchFamily="34" charset="0"/>
                <a:ea typeface="Aptos" pitchFamily="34" charset="-122"/>
                <a:cs typeface="Aptos" pitchFamily="34" charset="-120"/>
              </a:rPr>
              <a:t>Lot-specific pantry notices</a:t>
            </a:r>
            <a:endParaRPr lang="en-US" sz="1030" dirty="0"/>
          </a:p>
          <a:p>
            <a:pPr indent="0" marL="0">
              <a:buNone/>
            </a:pPr>
            <a:r>
              <a:rPr lang="en-US" sz="1030" dirty="0">
                <a:solidFill>
                  <a:srgbClr val="78B7A9"/>
                </a:solidFill>
                <a:latin typeface="Aptos" pitchFamily="34" charset="0"/>
                <a:ea typeface="Aptos" pitchFamily="34" charset="-122"/>
                <a:cs typeface="Aptos" pitchFamily="34" charset="-120"/>
              </a:rPr>
              <a:t>Purchase instructions</a:t>
            </a:r>
            <a:endParaRPr lang="en-US" sz="1030" dirty="0"/>
          </a:p>
          <a:p>
            <a:pPr indent="0" marL="0">
              <a:buNone/>
            </a:pPr>
            <a:r>
              <a:rPr lang="en-US" sz="1030" dirty="0">
                <a:solidFill>
                  <a:srgbClr val="78B7A9"/>
                </a:solidFill>
                <a:latin typeface="Aptos" pitchFamily="34" charset="0"/>
                <a:ea typeface="Aptos" pitchFamily="34" charset="-122"/>
                <a:cs typeface="Aptos" pitchFamily="34" charset="-120"/>
              </a:rPr>
              <a:t>Auditable approval event</a:t>
            </a:r>
            <a:endParaRPr lang="en-US" sz="1030" dirty="0"/>
          </a:p>
        </p:txBody>
      </p:sp>
      <p:sp>
        <p:nvSpPr>
          <p:cNvPr id="42" name="Text 40"/>
          <p:cNvSpPr/>
          <p:nvPr/>
        </p:nvSpPr>
        <p:spPr>
          <a:xfrm>
            <a:off x="658368" y="6419088"/>
            <a:ext cx="10469880" cy="210312"/>
          </a:xfrm>
          <a:prstGeom prst="rect">
            <a:avLst/>
          </a:prstGeom>
          <a:noFill/>
          <a:ln/>
        </p:spPr>
        <p:txBody>
          <a:bodyPr wrap="square" lIns="0" tIns="0" rIns="0" bIns="0" rtlCol="0" anchor="ctr">
            <a:normAutofit/>
          </a:bodyPr>
          <a:lstStyle/>
          <a:p>
            <a:pPr indent="0" marL="0">
              <a:buNone/>
            </a:pPr>
            <a:r>
              <a:rPr lang="en-US" sz="850" dirty="0">
                <a:solidFill>
                  <a:srgbClr val="61706D"/>
                </a:solidFill>
                <a:latin typeface="Aptos" pitchFamily="34" charset="0"/>
                <a:ea typeface="Aptos" pitchFamily="34" charset="-122"/>
                <a:cs typeface="Aptos" pitchFamily="34" charset="-120"/>
              </a:rPr>
              <a:t>Diagram maps the executed approval path; no model or UI click bypasses revalidation.  </a:t>
            </a:r>
            <a:pPr indent="0" marL="0">
              <a:buNone/>
            </a:pPr>
            <a:r>
              <a:rPr lang="en-US" sz="850" u="sng" dirty="0">
                <a:solidFill>
                  <a:srgbClr val="1D6B62"/>
                </a:solidFill>
                <a:uFill>
                  <a:solidFill>
                    <a:srgbClr val="1D6B62"/>
                  </a:solidFill>
                </a:uFill>
                <a:latin typeface="Aptos" pitchFamily="34" charset="0"/>
                <a:ea typeface="Aptos" pitchFamily="34" charset="-122"/>
                <a:cs typeface="Aptos" pitchFamily="34" charset="-120"/>
                <a:hlinkClick r:id="rId1" invalidUrl="" action="" tgtFrame="" tooltip="Live approval flow" history="1" highlightClick="0" endSnd="0">
                  <a:extLst>
                    <a:ext uri="{A12FA001-AC4F-418D-AE19-62706E023703}">
                      <ahyp:hlinkClr xmlns:ahyp="http://schemas.microsoft.com/office/drawing/2018/hyperlinkcolor" val="tx"/>
                    </a:ext>
                  </a:extLst>
                </a:hlinkClick>
              </a:rPr>
              <a:t>Live approval flow</a:t>
            </a:r>
            <a:pPr indent="0" marL="0">
              <a:buNone/>
            </a:pPr>
            <a:r>
              <a:rPr lang="en-US" sz="850" dirty="0">
                <a:solidFill>
                  <a:srgbClr val="D9D2C2"/>
                </a:solidFill>
                <a:latin typeface="Aptos" pitchFamily="34" charset="0"/>
                <a:ea typeface="Aptos" pitchFamily="34" charset="-122"/>
                <a:cs typeface="Aptos" pitchFamily="34" charset="-120"/>
              </a:rPr>
              <a:t>  |  </a:t>
            </a:r>
            <a:pPr indent="0" marL="0">
              <a:buNone/>
            </a:pPr>
            <a:r>
              <a:rPr lang="en-US" sz="850" u="sng" dirty="0">
                <a:solidFill>
                  <a:srgbClr val="1D6B62"/>
                </a:solidFill>
                <a:uFill>
                  <a:solidFill>
                    <a:srgbClr val="1D6B62"/>
                  </a:solidFill>
                </a:uFill>
                <a:latin typeface="Aptos" pitchFamily="34" charset="0"/>
                <a:ea typeface="Aptos" pitchFamily="34" charset="-122"/>
                <a:cs typeface="Aptos" pitchFamily="34" charset="-120"/>
                <a:hlinkClick r:id="rId2" invalidUrl="" action="" tgtFrame="" tooltip="Approval regression tests" history="1" highlightClick="0" endSnd="0">
                  <a:extLst>
                    <a:ext uri="{A12FA001-AC4F-418D-AE19-62706E023703}">
                      <ahyp:hlinkClr xmlns:ahyp="http://schemas.microsoft.com/office/drawing/2018/hyperlinkcolor" val="tx"/>
                    </a:ext>
                  </a:extLst>
                </a:hlinkClick>
              </a:rPr>
              <a:t>Approval regression tests</a:t>
            </a:r>
            <a:endParaRPr lang="en-US" sz="850" dirty="0"/>
          </a:p>
        </p:txBody>
      </p:sp>
      <p:sp>
        <p:nvSpPr>
          <p:cNvPr id="25" name="Slide Number Placeholder 0"/>
          <p:cNvSpPr>
            <a:spLocks noGrp="1"/>
          </p:cNvSpPr>
          <p:nvPr>
            <p:ph type="sldNum" sz="quarter" idx="4294967295"/>
          </p:nvPr>
        </p:nvSpPr>
        <p:spPr>
          <a:xfrm>
            <a:off x="11448288" y="6437376"/>
            <a:ext cx="219456" cy="182880"/>
          </a:xfrm>
          <a:prstGeom prst="rect">
            <a:avLst/>
          </a:prstGeom>
          <a:extLst>
            <a:ext uri="{C572A759-6A51-4108-AA02-DFA0A04FC94B}">
              <ma14:wrappingTextBoxFlag xmlns:ma14="http://schemas.microsoft.com/office/mac/drawingml/2011/main" val="0"/>
            </a:ext>
          </a:extLst>
        </p:spPr>
        <p:txBody>
          <a:bodyPr lIns="0" tIns="0" rIns="0" bIns="0"/>
          <a:lstStyle>
            <a:lvl1pPr>
              <a:defRPr sz="800">
                <a:solidFill>
                  <a:srgbClr val="61706D"/>
                </a:solidFill>
                <a:latin typeface="Aptos"/>
                <a:ea typeface="Aptos"/>
                <a:cs typeface="Aptos"/>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658368" y="658368"/>
            <a:ext cx="4937760" cy="228600"/>
          </a:xfrm>
          <a:prstGeom prst="rect">
            <a:avLst/>
          </a:prstGeom>
          <a:noFill/>
          <a:ln/>
        </p:spPr>
        <p:txBody>
          <a:bodyPr wrap="square" lIns="0" tIns="0" rIns="0" bIns="0" rtlCol="0" anchor="ctr">
            <a:normAutofit/>
          </a:bodyPr>
          <a:lstStyle/>
          <a:p>
            <a:pPr indent="0" marL="0">
              <a:buNone/>
            </a:pPr>
            <a:r>
              <a:rPr lang="en-US" sz="1050" b="1" spc="120" kern="0" dirty="0">
                <a:solidFill>
                  <a:srgbClr val="B94735"/>
                </a:solidFill>
                <a:latin typeface="Aptos" pitchFamily="34" charset="0"/>
                <a:ea typeface="Aptos" pitchFamily="34" charset="-122"/>
                <a:cs typeface="Aptos" pitchFamily="34" charset="-120"/>
              </a:rPr>
              <a:t>VALIDATION STATUS</a:t>
            </a:r>
            <a:endParaRPr lang="en-US" sz="1050" dirty="0"/>
          </a:p>
        </p:txBody>
      </p:sp>
      <p:sp>
        <p:nvSpPr>
          <p:cNvPr id="3" name="Text 1"/>
          <p:cNvSpPr/>
          <p:nvPr/>
        </p:nvSpPr>
        <p:spPr>
          <a:xfrm>
            <a:off x="658368" y="932688"/>
            <a:ext cx="10835640" cy="594360"/>
          </a:xfrm>
          <a:prstGeom prst="rect">
            <a:avLst/>
          </a:prstGeom>
          <a:noFill/>
          <a:ln/>
        </p:spPr>
        <p:txBody>
          <a:bodyPr wrap="square" lIns="0" tIns="0" rIns="0" bIns="0" rtlCol="0" anchor="ctr">
            <a:normAutofit/>
          </a:bodyPr>
          <a:lstStyle/>
          <a:p>
            <a:pPr indent="0" marL="0">
              <a:buNone/>
            </a:pPr>
            <a:r>
              <a:rPr lang="en-US" sz="3600" b="1" dirty="0">
                <a:solidFill>
                  <a:srgbClr val="132524"/>
                </a:solidFill>
                <a:latin typeface="Aptos Display" pitchFamily="34" charset="0"/>
                <a:ea typeface="Aptos Display" pitchFamily="34" charset="-122"/>
                <a:cs typeface="Aptos Display" pitchFamily="34" charset="-120"/>
              </a:rPr>
              <a:t>Evidence is separated from ambition.</a:t>
            </a:r>
            <a:endParaRPr lang="en-US" sz="3600" dirty="0"/>
          </a:p>
        </p:txBody>
      </p:sp>
      <p:sp>
        <p:nvSpPr>
          <p:cNvPr id="4" name="Text 2"/>
          <p:cNvSpPr/>
          <p:nvPr/>
        </p:nvSpPr>
        <p:spPr>
          <a:xfrm>
            <a:off x="658368" y="1572768"/>
            <a:ext cx="10698480" cy="475488"/>
          </a:xfrm>
          <a:prstGeom prst="rect">
            <a:avLst/>
          </a:prstGeom>
          <a:noFill/>
          <a:ln/>
        </p:spPr>
        <p:txBody>
          <a:bodyPr wrap="square" lIns="0" tIns="0" rIns="0" bIns="0" rtlCol="0" anchor="t">
            <a:normAutofit/>
          </a:bodyPr>
          <a:lstStyle/>
          <a:p>
            <a:pPr indent="0" marL="0">
              <a:buNone/>
            </a:pPr>
            <a:r>
              <a:rPr lang="en-US" sz="1550" dirty="0">
                <a:solidFill>
                  <a:srgbClr val="61706D"/>
                </a:solidFill>
                <a:latin typeface="Aptos" pitchFamily="34" charset="0"/>
                <a:ea typeface="Aptos" pitchFamily="34" charset="-122"/>
                <a:cs typeface="Aptos" pitchFamily="34" charset="-120"/>
              </a:rPr>
              <a:t>Measured behavior, evaluation readiness, and future validation are reported as different categories. No unavailable result is converted into a claim.</a:t>
            </a:r>
            <a:endParaRPr lang="en-US" sz="1550" dirty="0"/>
          </a:p>
        </p:txBody>
      </p:sp>
      <p:sp>
        <p:nvSpPr>
          <p:cNvPr id="5" name="Shape 3"/>
          <p:cNvSpPr/>
          <p:nvPr/>
        </p:nvSpPr>
        <p:spPr>
          <a:xfrm>
            <a:off x="658368" y="2359152"/>
            <a:ext cx="3246120" cy="3611880"/>
          </a:xfrm>
          <a:prstGeom prst="roundRect">
            <a:avLst>
              <a:gd name="adj" fmla="val 2254"/>
            </a:avLst>
          </a:prstGeom>
          <a:solidFill>
            <a:srgbClr val="E8EEE9"/>
          </a:solidFill>
          <a:ln w="17780">
            <a:solidFill>
              <a:srgbClr val="1D6B62"/>
            </a:solidFill>
            <a:prstDash val="solid"/>
          </a:ln>
        </p:spPr>
      </p:sp>
      <p:sp>
        <p:nvSpPr>
          <p:cNvPr id="6" name="Shape 4"/>
          <p:cNvSpPr/>
          <p:nvPr/>
        </p:nvSpPr>
        <p:spPr>
          <a:xfrm>
            <a:off x="950976" y="2651760"/>
            <a:ext cx="1417320" cy="274320"/>
          </a:xfrm>
          <a:prstGeom prst="roundRect">
            <a:avLst/>
          </a:prstGeom>
          <a:solidFill>
            <a:srgbClr val="1D6B62"/>
          </a:solidFill>
          <a:ln w="12700">
            <a:solidFill>
              <a:srgbClr val="1D6B62"/>
            </a:solidFill>
            <a:prstDash val="solid"/>
          </a:ln>
        </p:spPr>
      </p:sp>
      <p:sp>
        <p:nvSpPr>
          <p:cNvPr id="7" name="Text 5"/>
          <p:cNvSpPr/>
          <p:nvPr/>
        </p:nvSpPr>
        <p:spPr>
          <a:xfrm>
            <a:off x="1024128" y="2679192"/>
            <a:ext cx="1271016" cy="210312"/>
          </a:xfrm>
          <a:prstGeom prst="rect">
            <a:avLst/>
          </a:prstGeom>
          <a:noFill/>
          <a:ln/>
        </p:spPr>
        <p:txBody>
          <a:bodyPr wrap="square" lIns="0" tIns="0" rIns="0" bIns="0" rtlCol="0" anchor="ctr">
            <a:normAutofit/>
          </a:bodyPr>
          <a:lstStyle/>
          <a:p>
            <a:pPr algn="ctr" indent="0" marL="0">
              <a:buNone/>
            </a:pPr>
            <a:r>
              <a:rPr lang="en-US" sz="900" b="1" dirty="0">
                <a:solidFill>
                  <a:srgbClr val="FFFFFF"/>
                </a:solidFill>
                <a:latin typeface="Aptos" pitchFamily="34" charset="0"/>
                <a:ea typeface="Aptos" pitchFamily="34" charset="-122"/>
                <a:cs typeface="Aptos" pitchFamily="34" charset="-120"/>
              </a:rPr>
              <a:t>MEASURED</a:t>
            </a:r>
            <a:endParaRPr lang="en-US" sz="900" dirty="0"/>
          </a:p>
        </p:txBody>
      </p:sp>
      <p:sp>
        <p:nvSpPr>
          <p:cNvPr id="8" name="Text 6"/>
          <p:cNvSpPr/>
          <p:nvPr/>
        </p:nvSpPr>
        <p:spPr>
          <a:xfrm>
            <a:off x="950976" y="3090672"/>
            <a:ext cx="2606040" cy="301752"/>
          </a:xfrm>
          <a:prstGeom prst="rect">
            <a:avLst/>
          </a:prstGeom>
          <a:noFill/>
          <a:ln/>
        </p:spPr>
        <p:txBody>
          <a:bodyPr wrap="square" lIns="0" tIns="0" rIns="0" bIns="0" rtlCol="0" anchor="ctr">
            <a:normAutofit/>
          </a:bodyPr>
          <a:lstStyle/>
          <a:p>
            <a:pPr indent="0" marL="0">
              <a:buNone/>
            </a:pPr>
            <a:r>
              <a:rPr lang="en-US" sz="1450" b="1" dirty="0">
                <a:solidFill>
                  <a:srgbClr val="132524"/>
                </a:solidFill>
                <a:latin typeface="Aptos" pitchFamily="34" charset="0"/>
                <a:ea typeface="Aptos" pitchFamily="34" charset="-122"/>
                <a:cs typeface="Aptos" pitchFamily="34" charset="-120"/>
              </a:rPr>
              <a:t>Implemented + measured</a:t>
            </a:r>
            <a:endParaRPr lang="en-US" sz="1450" dirty="0"/>
          </a:p>
        </p:txBody>
      </p:sp>
      <p:sp>
        <p:nvSpPr>
          <p:cNvPr id="9" name="Text 7"/>
          <p:cNvSpPr/>
          <p:nvPr/>
        </p:nvSpPr>
        <p:spPr>
          <a:xfrm>
            <a:off x="950976" y="3639312"/>
            <a:ext cx="1115568" cy="265176"/>
          </a:xfrm>
          <a:prstGeom prst="rect">
            <a:avLst/>
          </a:prstGeom>
          <a:noFill/>
          <a:ln/>
        </p:spPr>
        <p:txBody>
          <a:bodyPr wrap="square" lIns="0" tIns="0" rIns="0" bIns="0" rtlCol="0" anchor="ctr">
            <a:normAutofit/>
          </a:bodyPr>
          <a:lstStyle/>
          <a:p>
            <a:pPr indent="0" marL="0">
              <a:buNone/>
            </a:pPr>
            <a:r>
              <a:rPr lang="en-US" sz="1250" b="1" dirty="0">
                <a:solidFill>
                  <a:srgbClr val="1D6B62"/>
                </a:solidFill>
                <a:latin typeface="Aptos" pitchFamily="34" charset="0"/>
                <a:ea typeface="Aptos" pitchFamily="34" charset="-122"/>
                <a:cs typeface="Aptos" pitchFamily="34" charset="-120"/>
              </a:rPr>
              <a:t>2 feeds</a:t>
            </a:r>
            <a:endParaRPr lang="en-US" sz="1250" dirty="0"/>
          </a:p>
        </p:txBody>
      </p:sp>
      <p:sp>
        <p:nvSpPr>
          <p:cNvPr id="10" name="Text 8"/>
          <p:cNvSpPr/>
          <p:nvPr/>
        </p:nvSpPr>
        <p:spPr>
          <a:xfrm>
            <a:off x="2231136" y="3648456"/>
            <a:ext cx="1344168" cy="274320"/>
          </a:xfrm>
          <a:prstGeom prst="rect">
            <a:avLst/>
          </a:prstGeom>
          <a:noFill/>
          <a:ln/>
        </p:spPr>
        <p:txBody>
          <a:bodyPr wrap="square" lIns="0" tIns="0" rIns="0" bIns="0" rtlCol="0" anchor="t">
            <a:normAutofit/>
          </a:bodyPr>
          <a:lstStyle/>
          <a:p>
            <a:pPr indent="0" marL="0">
              <a:buNone/>
            </a:pPr>
            <a:r>
              <a:rPr lang="en-US" sz="960" dirty="0">
                <a:solidFill>
                  <a:srgbClr val="132524"/>
                </a:solidFill>
                <a:latin typeface="Aptos" pitchFamily="34" charset="0"/>
                <a:ea typeface="Aptos" pitchFamily="34" charset="-122"/>
                <a:cs typeface="Aptos" pitchFamily="34" charset="-120"/>
              </a:rPr>
              <a:t>on-demand openFDA + FSIS</a:t>
            </a:r>
            <a:endParaRPr lang="en-US" sz="960" dirty="0"/>
          </a:p>
        </p:txBody>
      </p:sp>
      <p:sp>
        <p:nvSpPr>
          <p:cNvPr id="11" name="Text 9"/>
          <p:cNvSpPr/>
          <p:nvPr/>
        </p:nvSpPr>
        <p:spPr>
          <a:xfrm>
            <a:off x="950976" y="4178808"/>
            <a:ext cx="1115568" cy="265176"/>
          </a:xfrm>
          <a:prstGeom prst="rect">
            <a:avLst/>
          </a:prstGeom>
          <a:noFill/>
          <a:ln/>
        </p:spPr>
        <p:txBody>
          <a:bodyPr wrap="square" lIns="0" tIns="0" rIns="0" bIns="0" rtlCol="0" anchor="ctr">
            <a:normAutofit/>
          </a:bodyPr>
          <a:lstStyle/>
          <a:p>
            <a:pPr indent="0" marL="0">
              <a:buNone/>
            </a:pPr>
            <a:r>
              <a:rPr lang="en-US" sz="1250" b="1" dirty="0">
                <a:solidFill>
                  <a:srgbClr val="1D6B62"/>
                </a:solidFill>
                <a:latin typeface="Aptos" pitchFamily="34" charset="0"/>
                <a:ea typeface="Aptos" pitchFamily="34" charset="-122"/>
                <a:cs typeface="Aptos" pitchFamily="34" charset="-120"/>
              </a:rPr>
              <a:t>101 tests</a:t>
            </a:r>
            <a:endParaRPr lang="en-US" sz="1250" dirty="0"/>
          </a:p>
        </p:txBody>
      </p:sp>
      <p:sp>
        <p:nvSpPr>
          <p:cNvPr id="12" name="Text 10"/>
          <p:cNvSpPr/>
          <p:nvPr/>
        </p:nvSpPr>
        <p:spPr>
          <a:xfrm>
            <a:off x="2231136" y="4187952"/>
            <a:ext cx="1344168" cy="274320"/>
          </a:xfrm>
          <a:prstGeom prst="rect">
            <a:avLst/>
          </a:prstGeom>
          <a:noFill/>
          <a:ln/>
        </p:spPr>
        <p:txBody>
          <a:bodyPr wrap="square" lIns="0" tIns="0" rIns="0" bIns="0" rtlCol="0" anchor="t">
            <a:normAutofit/>
          </a:bodyPr>
          <a:lstStyle/>
          <a:p>
            <a:pPr indent="0" marL="0">
              <a:buNone/>
            </a:pPr>
            <a:r>
              <a:rPr lang="en-US" sz="960" dirty="0">
                <a:solidFill>
                  <a:srgbClr val="132524"/>
                </a:solidFill>
                <a:latin typeface="Aptos" pitchFamily="34" charset="0"/>
                <a:ea typeface="Aptos" pitchFamily="34" charset="-122"/>
                <a:cs typeface="Aptos" pitchFamily="34" charset="-120"/>
              </a:rPr>
              <a:t>deterministic regression suite</a:t>
            </a:r>
            <a:endParaRPr lang="en-US" sz="960" dirty="0"/>
          </a:p>
        </p:txBody>
      </p:sp>
      <p:sp>
        <p:nvSpPr>
          <p:cNvPr id="13" name="Text 11"/>
          <p:cNvSpPr/>
          <p:nvPr/>
        </p:nvSpPr>
        <p:spPr>
          <a:xfrm>
            <a:off x="950976" y="4718304"/>
            <a:ext cx="1115568" cy="265176"/>
          </a:xfrm>
          <a:prstGeom prst="rect">
            <a:avLst/>
          </a:prstGeom>
          <a:noFill/>
          <a:ln/>
        </p:spPr>
        <p:txBody>
          <a:bodyPr wrap="square" lIns="0" tIns="0" rIns="0" bIns="0" rtlCol="0" anchor="ctr">
            <a:normAutofit/>
          </a:bodyPr>
          <a:lstStyle/>
          <a:p>
            <a:pPr indent="0" marL="0">
              <a:buNone/>
            </a:pPr>
            <a:r>
              <a:rPr lang="en-US" sz="1250" b="1" dirty="0">
                <a:solidFill>
                  <a:srgbClr val="1D6B62"/>
                </a:solidFill>
                <a:latin typeface="Aptos" pitchFamily="34" charset="0"/>
                <a:ea typeface="Aptos" pitchFamily="34" charset="-122"/>
                <a:cs typeface="Aptos" pitchFamily="34" charset="-120"/>
              </a:rPr>
              <a:t>0</a:t>
            </a:r>
            <a:endParaRPr lang="en-US" sz="1250" dirty="0"/>
          </a:p>
        </p:txBody>
      </p:sp>
      <p:sp>
        <p:nvSpPr>
          <p:cNvPr id="14" name="Text 12"/>
          <p:cNvSpPr/>
          <p:nvPr/>
        </p:nvSpPr>
        <p:spPr>
          <a:xfrm>
            <a:off x="2231136" y="4727448"/>
            <a:ext cx="1344168" cy="274320"/>
          </a:xfrm>
          <a:prstGeom prst="rect">
            <a:avLst/>
          </a:prstGeom>
          <a:noFill/>
          <a:ln/>
        </p:spPr>
        <p:txBody>
          <a:bodyPr wrap="square" lIns="0" tIns="0" rIns="0" bIns="0" rtlCol="0" anchor="t">
            <a:normAutofit/>
          </a:bodyPr>
          <a:lstStyle/>
          <a:p>
            <a:pPr indent="0" marL="0">
              <a:buNone/>
            </a:pPr>
            <a:r>
              <a:rPr lang="en-US" sz="960" dirty="0">
                <a:solidFill>
                  <a:srgbClr val="132524"/>
                </a:solidFill>
                <a:latin typeface="Aptos" pitchFamily="34" charset="0"/>
                <a:ea typeface="Aptos" pitchFamily="34" charset="-122"/>
                <a:cs typeface="Aptos" pitchFamily="34" charset="-120"/>
              </a:rPr>
              <a:t>hard-constraint violations</a:t>
            </a:r>
            <a:endParaRPr lang="en-US" sz="960" dirty="0"/>
          </a:p>
        </p:txBody>
      </p:sp>
      <p:sp>
        <p:nvSpPr>
          <p:cNvPr id="15" name="Text 13"/>
          <p:cNvSpPr/>
          <p:nvPr/>
        </p:nvSpPr>
        <p:spPr>
          <a:xfrm>
            <a:off x="950976" y="5257800"/>
            <a:ext cx="1115568" cy="265176"/>
          </a:xfrm>
          <a:prstGeom prst="rect">
            <a:avLst/>
          </a:prstGeom>
          <a:noFill/>
          <a:ln/>
        </p:spPr>
        <p:txBody>
          <a:bodyPr wrap="square" lIns="0" tIns="0" rIns="0" bIns="0" rtlCol="0" anchor="ctr">
            <a:normAutofit/>
          </a:bodyPr>
          <a:lstStyle/>
          <a:p>
            <a:pPr indent="0" marL="0">
              <a:buNone/>
            </a:pPr>
            <a:r>
              <a:rPr lang="en-US" sz="1250" b="1" dirty="0">
                <a:solidFill>
                  <a:srgbClr val="1D6B62"/>
                </a:solidFill>
                <a:latin typeface="Aptos" pitchFamily="34" charset="0"/>
                <a:ea typeface="Aptos" pitchFamily="34" charset="-122"/>
                <a:cs typeface="Aptos" pitchFamily="34" charset="-120"/>
              </a:rPr>
              <a:t>+1,000 lb</a:t>
            </a:r>
            <a:endParaRPr lang="en-US" sz="1250" dirty="0"/>
          </a:p>
        </p:txBody>
      </p:sp>
      <p:sp>
        <p:nvSpPr>
          <p:cNvPr id="16" name="Text 14"/>
          <p:cNvSpPr/>
          <p:nvPr/>
        </p:nvSpPr>
        <p:spPr>
          <a:xfrm>
            <a:off x="2231136" y="5266944"/>
            <a:ext cx="1344168" cy="274320"/>
          </a:xfrm>
          <a:prstGeom prst="rect">
            <a:avLst/>
          </a:prstGeom>
          <a:noFill/>
          <a:ln/>
        </p:spPr>
        <p:txBody>
          <a:bodyPr wrap="square" lIns="0" tIns="0" rIns="0" bIns="0" rtlCol="0" anchor="t">
            <a:normAutofit/>
          </a:bodyPr>
          <a:lstStyle/>
          <a:p>
            <a:pPr indent="0" marL="0">
              <a:buNone/>
            </a:pPr>
            <a:r>
              <a:rPr lang="en-US" sz="960" dirty="0">
                <a:solidFill>
                  <a:srgbClr val="132524"/>
                </a:solidFill>
                <a:latin typeface="Aptos" pitchFamily="34" charset="0"/>
                <a:ea typeface="Aptos" pitchFamily="34" charset="-122"/>
                <a:cs typeface="Aptos" pitchFamily="34" charset="-120"/>
              </a:rPr>
              <a:t>curated recovery vs baseline</a:t>
            </a:r>
            <a:endParaRPr lang="en-US" sz="960" dirty="0"/>
          </a:p>
        </p:txBody>
      </p:sp>
      <p:sp>
        <p:nvSpPr>
          <p:cNvPr id="17" name="Shape 15"/>
          <p:cNvSpPr/>
          <p:nvPr/>
        </p:nvSpPr>
        <p:spPr>
          <a:xfrm>
            <a:off x="4471416" y="2359152"/>
            <a:ext cx="3246120" cy="3611880"/>
          </a:xfrm>
          <a:prstGeom prst="roundRect">
            <a:avLst>
              <a:gd name="adj" fmla="val 2254"/>
            </a:avLst>
          </a:prstGeom>
          <a:solidFill>
            <a:srgbClr val="F7E9CB"/>
          </a:solidFill>
          <a:ln w="17780">
            <a:solidFill>
              <a:srgbClr val="C88C2C"/>
            </a:solidFill>
            <a:prstDash val="solid"/>
          </a:ln>
        </p:spPr>
      </p:sp>
      <p:sp>
        <p:nvSpPr>
          <p:cNvPr id="18" name="Shape 16"/>
          <p:cNvSpPr/>
          <p:nvPr/>
        </p:nvSpPr>
        <p:spPr>
          <a:xfrm>
            <a:off x="4764024" y="2651760"/>
            <a:ext cx="1417320" cy="274320"/>
          </a:xfrm>
          <a:prstGeom prst="roundRect">
            <a:avLst/>
          </a:prstGeom>
          <a:solidFill>
            <a:srgbClr val="C88C2C"/>
          </a:solidFill>
          <a:ln w="12700">
            <a:solidFill>
              <a:srgbClr val="C88C2C"/>
            </a:solidFill>
            <a:prstDash val="solid"/>
          </a:ln>
        </p:spPr>
      </p:sp>
      <p:sp>
        <p:nvSpPr>
          <p:cNvPr id="19" name="Text 17"/>
          <p:cNvSpPr/>
          <p:nvPr/>
        </p:nvSpPr>
        <p:spPr>
          <a:xfrm>
            <a:off x="4837176" y="2679192"/>
            <a:ext cx="1271016" cy="210312"/>
          </a:xfrm>
          <a:prstGeom prst="rect">
            <a:avLst/>
          </a:prstGeom>
          <a:noFill/>
          <a:ln/>
        </p:spPr>
        <p:txBody>
          <a:bodyPr wrap="square" lIns="0" tIns="0" rIns="0" bIns="0" rtlCol="0" anchor="ctr">
            <a:normAutofit/>
          </a:bodyPr>
          <a:lstStyle/>
          <a:p>
            <a:pPr algn="ctr" indent="0" marL="0">
              <a:buNone/>
            </a:pPr>
            <a:r>
              <a:rPr lang="en-US" sz="900" b="1" dirty="0">
                <a:solidFill>
                  <a:srgbClr val="FFFFFF"/>
                </a:solidFill>
                <a:latin typeface="Aptos" pitchFamily="34" charset="0"/>
                <a:ea typeface="Aptos" pitchFamily="34" charset="-122"/>
                <a:cs typeface="Aptos" pitchFamily="34" charset="-120"/>
              </a:rPr>
              <a:t>READY / NOT RUN</a:t>
            </a:r>
            <a:endParaRPr lang="en-US" sz="900" dirty="0"/>
          </a:p>
        </p:txBody>
      </p:sp>
      <p:sp>
        <p:nvSpPr>
          <p:cNvPr id="20" name="Text 18"/>
          <p:cNvSpPr/>
          <p:nvPr/>
        </p:nvSpPr>
        <p:spPr>
          <a:xfrm>
            <a:off x="4764024" y="3090672"/>
            <a:ext cx="2606040" cy="301752"/>
          </a:xfrm>
          <a:prstGeom prst="rect">
            <a:avLst/>
          </a:prstGeom>
          <a:noFill/>
          <a:ln/>
        </p:spPr>
        <p:txBody>
          <a:bodyPr wrap="square" lIns="0" tIns="0" rIns="0" bIns="0" rtlCol="0" anchor="ctr">
            <a:normAutofit/>
          </a:bodyPr>
          <a:lstStyle/>
          <a:p>
            <a:pPr indent="0" marL="0">
              <a:buNone/>
            </a:pPr>
            <a:r>
              <a:rPr lang="en-US" sz="1450" b="1" dirty="0">
                <a:solidFill>
                  <a:srgbClr val="132524"/>
                </a:solidFill>
                <a:latin typeface="Aptos" pitchFamily="34" charset="0"/>
                <a:ea typeface="Aptos" pitchFamily="34" charset="-122"/>
                <a:cs typeface="Aptos" pitchFamily="34" charset="-120"/>
              </a:rPr>
              <a:t>Extraction evaluation</a:t>
            </a:r>
            <a:endParaRPr lang="en-US" sz="1450" dirty="0"/>
          </a:p>
        </p:txBody>
      </p:sp>
      <p:sp>
        <p:nvSpPr>
          <p:cNvPr id="21" name="Text 19"/>
          <p:cNvSpPr/>
          <p:nvPr/>
        </p:nvSpPr>
        <p:spPr>
          <a:xfrm>
            <a:off x="4764024" y="3639312"/>
            <a:ext cx="1115568" cy="265176"/>
          </a:xfrm>
          <a:prstGeom prst="rect">
            <a:avLst/>
          </a:prstGeom>
          <a:noFill/>
          <a:ln/>
        </p:spPr>
        <p:txBody>
          <a:bodyPr wrap="square" lIns="0" tIns="0" rIns="0" bIns="0" rtlCol="0" anchor="ctr">
            <a:normAutofit/>
          </a:bodyPr>
          <a:lstStyle/>
          <a:p>
            <a:pPr indent="0" marL="0">
              <a:buNone/>
            </a:pPr>
            <a:r>
              <a:rPr lang="en-US" sz="1250" b="1" dirty="0">
                <a:solidFill>
                  <a:srgbClr val="132524"/>
                </a:solidFill>
                <a:latin typeface="Aptos" pitchFamily="34" charset="0"/>
                <a:ea typeface="Aptos" pitchFamily="34" charset="-122"/>
                <a:cs typeface="Aptos" pitchFamily="34" charset="-120"/>
              </a:rPr>
              <a:t>5 notices</a:t>
            </a:r>
            <a:endParaRPr lang="en-US" sz="1250" dirty="0"/>
          </a:p>
        </p:txBody>
      </p:sp>
      <p:sp>
        <p:nvSpPr>
          <p:cNvPr id="22" name="Text 20"/>
          <p:cNvSpPr/>
          <p:nvPr/>
        </p:nvSpPr>
        <p:spPr>
          <a:xfrm>
            <a:off x="6044184" y="3648456"/>
            <a:ext cx="1344168" cy="274320"/>
          </a:xfrm>
          <a:prstGeom prst="rect">
            <a:avLst/>
          </a:prstGeom>
          <a:noFill/>
          <a:ln/>
        </p:spPr>
        <p:txBody>
          <a:bodyPr wrap="square" lIns="0" tIns="0" rIns="0" bIns="0" rtlCol="0" anchor="t">
            <a:normAutofit/>
          </a:bodyPr>
          <a:lstStyle/>
          <a:p>
            <a:pPr indent="0" marL="0">
              <a:buNone/>
            </a:pPr>
            <a:r>
              <a:rPr lang="en-US" sz="960" dirty="0">
                <a:solidFill>
                  <a:srgbClr val="132524"/>
                </a:solidFill>
                <a:latin typeface="Aptos" pitchFamily="34" charset="0"/>
                <a:ea typeface="Aptos" pitchFamily="34" charset="-122"/>
                <a:cs typeface="Aptos" pitchFamily="34" charset="-120"/>
              </a:rPr>
              <a:t>frozen official gold set</a:t>
            </a:r>
            <a:endParaRPr lang="en-US" sz="960" dirty="0"/>
          </a:p>
        </p:txBody>
      </p:sp>
      <p:sp>
        <p:nvSpPr>
          <p:cNvPr id="23" name="Text 21"/>
          <p:cNvSpPr/>
          <p:nvPr/>
        </p:nvSpPr>
        <p:spPr>
          <a:xfrm>
            <a:off x="4764024" y="4178808"/>
            <a:ext cx="1115568" cy="265176"/>
          </a:xfrm>
          <a:prstGeom prst="rect">
            <a:avLst/>
          </a:prstGeom>
          <a:noFill/>
          <a:ln/>
        </p:spPr>
        <p:txBody>
          <a:bodyPr wrap="square" lIns="0" tIns="0" rIns="0" bIns="0" rtlCol="0" anchor="ctr">
            <a:normAutofit/>
          </a:bodyPr>
          <a:lstStyle/>
          <a:p>
            <a:pPr indent="0" marL="0">
              <a:buNone/>
            </a:pPr>
            <a:r>
              <a:rPr lang="en-US" sz="1250" b="1" dirty="0">
                <a:solidFill>
                  <a:srgbClr val="132524"/>
                </a:solidFill>
                <a:latin typeface="Aptos" pitchFamily="34" charset="0"/>
                <a:ea typeface="Aptos" pitchFamily="34" charset="-122"/>
                <a:cs typeface="Aptos" pitchFamily="34" charset="-120"/>
              </a:rPr>
              <a:t>Exact match</a:t>
            </a:r>
            <a:endParaRPr lang="en-US" sz="1250" dirty="0"/>
          </a:p>
        </p:txBody>
      </p:sp>
      <p:sp>
        <p:nvSpPr>
          <p:cNvPr id="24" name="Text 22"/>
          <p:cNvSpPr/>
          <p:nvPr/>
        </p:nvSpPr>
        <p:spPr>
          <a:xfrm>
            <a:off x="6044184" y="4187952"/>
            <a:ext cx="1344168" cy="274320"/>
          </a:xfrm>
          <a:prstGeom prst="rect">
            <a:avLst/>
          </a:prstGeom>
          <a:noFill/>
          <a:ln/>
        </p:spPr>
        <p:txBody>
          <a:bodyPr wrap="square" lIns="0" tIns="0" rIns="0" bIns="0" rtlCol="0" anchor="t">
            <a:normAutofit/>
          </a:bodyPr>
          <a:lstStyle/>
          <a:p>
            <a:pPr indent="0" marL="0">
              <a:buNone/>
            </a:pPr>
            <a:r>
              <a:rPr lang="en-US" sz="960" dirty="0">
                <a:solidFill>
                  <a:srgbClr val="132524"/>
                </a:solidFill>
                <a:latin typeface="Aptos" pitchFamily="34" charset="0"/>
                <a:ea typeface="Aptos" pitchFamily="34" charset="-122"/>
                <a:cs typeface="Aptos" pitchFamily="34" charset="-120"/>
              </a:rPr>
              <a:t>field-level scorer</a:t>
            </a:r>
            <a:endParaRPr lang="en-US" sz="960" dirty="0"/>
          </a:p>
        </p:txBody>
      </p:sp>
      <p:sp>
        <p:nvSpPr>
          <p:cNvPr id="25" name="Text 23"/>
          <p:cNvSpPr/>
          <p:nvPr/>
        </p:nvSpPr>
        <p:spPr>
          <a:xfrm>
            <a:off x="4764024" y="4718304"/>
            <a:ext cx="1115568" cy="265176"/>
          </a:xfrm>
          <a:prstGeom prst="rect">
            <a:avLst/>
          </a:prstGeom>
          <a:noFill/>
          <a:ln/>
        </p:spPr>
        <p:txBody>
          <a:bodyPr wrap="square" lIns="0" tIns="0" rIns="0" bIns="0" rtlCol="0" anchor="ctr">
            <a:normAutofit/>
          </a:bodyPr>
          <a:lstStyle/>
          <a:p>
            <a:pPr indent="0" marL="0">
              <a:buNone/>
            </a:pPr>
            <a:r>
              <a:rPr lang="en-US" sz="1250" b="1" dirty="0">
                <a:solidFill>
                  <a:srgbClr val="132524"/>
                </a:solidFill>
                <a:latin typeface="Aptos" pitchFamily="34" charset="0"/>
                <a:ea typeface="Aptos" pitchFamily="34" charset="-122"/>
                <a:cs typeface="Aptos" pitchFamily="34" charset="-120"/>
              </a:rPr>
              <a:t>Provenance</a:t>
            </a:r>
            <a:endParaRPr lang="en-US" sz="1250" dirty="0"/>
          </a:p>
        </p:txBody>
      </p:sp>
      <p:sp>
        <p:nvSpPr>
          <p:cNvPr id="26" name="Text 24"/>
          <p:cNvSpPr/>
          <p:nvPr/>
        </p:nvSpPr>
        <p:spPr>
          <a:xfrm>
            <a:off x="6044184" y="4727448"/>
            <a:ext cx="1344168" cy="274320"/>
          </a:xfrm>
          <a:prstGeom prst="rect">
            <a:avLst/>
          </a:prstGeom>
          <a:noFill/>
          <a:ln/>
        </p:spPr>
        <p:txBody>
          <a:bodyPr wrap="square" lIns="0" tIns="0" rIns="0" bIns="0" rtlCol="0" anchor="t">
            <a:normAutofit/>
          </a:bodyPr>
          <a:lstStyle/>
          <a:p>
            <a:pPr indent="0" marL="0">
              <a:buNone/>
            </a:pPr>
            <a:r>
              <a:rPr lang="en-US" sz="960" dirty="0">
                <a:solidFill>
                  <a:srgbClr val="132524"/>
                </a:solidFill>
                <a:latin typeface="Aptos" pitchFamily="34" charset="0"/>
                <a:ea typeface="Aptos" pitchFamily="34" charset="-122"/>
                <a:cs typeface="Aptos" pitchFamily="34" charset="-120"/>
              </a:rPr>
              <a:t>raw + verified outputs</a:t>
            </a:r>
            <a:endParaRPr lang="en-US" sz="960" dirty="0"/>
          </a:p>
        </p:txBody>
      </p:sp>
      <p:sp>
        <p:nvSpPr>
          <p:cNvPr id="27" name="Text 25"/>
          <p:cNvSpPr/>
          <p:nvPr/>
        </p:nvSpPr>
        <p:spPr>
          <a:xfrm>
            <a:off x="4764024" y="5257800"/>
            <a:ext cx="1115568" cy="265176"/>
          </a:xfrm>
          <a:prstGeom prst="rect">
            <a:avLst/>
          </a:prstGeom>
          <a:noFill/>
          <a:ln/>
        </p:spPr>
        <p:txBody>
          <a:bodyPr wrap="square" lIns="0" tIns="0" rIns="0" bIns="0" rtlCol="0" anchor="ctr">
            <a:normAutofit/>
          </a:bodyPr>
          <a:lstStyle/>
          <a:p>
            <a:pPr indent="0" marL="0">
              <a:buNone/>
            </a:pPr>
            <a:r>
              <a:rPr lang="en-US" sz="1250" b="1" dirty="0">
                <a:solidFill>
                  <a:srgbClr val="132524"/>
                </a:solidFill>
                <a:latin typeface="Aptos" pitchFamily="34" charset="0"/>
                <a:ea typeface="Aptos" pitchFamily="34" charset="-122"/>
                <a:cs typeface="Aptos" pitchFamily="34" charset="-120"/>
              </a:rPr>
              <a:t>No rate</a:t>
            </a:r>
            <a:endParaRPr lang="en-US" sz="1250" dirty="0"/>
          </a:p>
        </p:txBody>
      </p:sp>
      <p:sp>
        <p:nvSpPr>
          <p:cNvPr id="28" name="Text 26"/>
          <p:cNvSpPr/>
          <p:nvPr/>
        </p:nvSpPr>
        <p:spPr>
          <a:xfrm>
            <a:off x="6044184" y="5266944"/>
            <a:ext cx="1344168" cy="274320"/>
          </a:xfrm>
          <a:prstGeom prst="rect">
            <a:avLst/>
          </a:prstGeom>
          <a:noFill/>
          <a:ln/>
        </p:spPr>
        <p:txBody>
          <a:bodyPr wrap="square" lIns="0" tIns="0" rIns="0" bIns="0" rtlCol="0" anchor="t">
            <a:normAutofit/>
          </a:bodyPr>
          <a:lstStyle/>
          <a:p>
            <a:pPr indent="0" marL="0">
              <a:buNone/>
            </a:pPr>
            <a:r>
              <a:rPr lang="en-US" sz="960" dirty="0">
                <a:solidFill>
                  <a:srgbClr val="132524"/>
                </a:solidFill>
                <a:latin typeface="Aptos" pitchFamily="34" charset="0"/>
                <a:ea typeface="Aptos" pitchFamily="34" charset="-122"/>
                <a:cs typeface="Aptos" pitchFamily="34" charset="-120"/>
              </a:rPr>
              <a:t>live model eval not run</a:t>
            </a:r>
            <a:endParaRPr lang="en-US" sz="960" dirty="0"/>
          </a:p>
        </p:txBody>
      </p:sp>
      <p:sp>
        <p:nvSpPr>
          <p:cNvPr id="29" name="Shape 27"/>
          <p:cNvSpPr/>
          <p:nvPr/>
        </p:nvSpPr>
        <p:spPr>
          <a:xfrm>
            <a:off x="8284464" y="2359152"/>
            <a:ext cx="3246120" cy="3611880"/>
          </a:xfrm>
          <a:prstGeom prst="roundRect">
            <a:avLst>
              <a:gd name="adj" fmla="val 2254"/>
            </a:avLst>
          </a:prstGeom>
          <a:solidFill>
            <a:srgbClr val="E9ECEC"/>
          </a:solidFill>
          <a:ln w="17780">
            <a:solidFill>
              <a:srgbClr val="64757A"/>
            </a:solidFill>
            <a:prstDash val="solid"/>
          </a:ln>
        </p:spPr>
      </p:sp>
      <p:sp>
        <p:nvSpPr>
          <p:cNvPr id="30" name="Shape 28"/>
          <p:cNvSpPr/>
          <p:nvPr/>
        </p:nvSpPr>
        <p:spPr>
          <a:xfrm>
            <a:off x="8577072" y="2651760"/>
            <a:ext cx="1417320" cy="274320"/>
          </a:xfrm>
          <a:prstGeom prst="roundRect">
            <a:avLst/>
          </a:prstGeom>
          <a:solidFill>
            <a:srgbClr val="64757A"/>
          </a:solidFill>
          <a:ln w="12700">
            <a:solidFill>
              <a:srgbClr val="64757A"/>
            </a:solidFill>
            <a:prstDash val="solid"/>
          </a:ln>
        </p:spPr>
      </p:sp>
      <p:sp>
        <p:nvSpPr>
          <p:cNvPr id="31" name="Text 29"/>
          <p:cNvSpPr/>
          <p:nvPr/>
        </p:nvSpPr>
        <p:spPr>
          <a:xfrm>
            <a:off x="8650224" y="2679192"/>
            <a:ext cx="1271016" cy="210312"/>
          </a:xfrm>
          <a:prstGeom prst="rect">
            <a:avLst/>
          </a:prstGeom>
          <a:noFill/>
          <a:ln/>
        </p:spPr>
        <p:txBody>
          <a:bodyPr wrap="square" lIns="0" tIns="0" rIns="0" bIns="0" rtlCol="0" anchor="ctr">
            <a:normAutofit/>
          </a:bodyPr>
          <a:lstStyle/>
          <a:p>
            <a:pPr algn="ctr" indent="0" marL="0">
              <a:buNone/>
            </a:pPr>
            <a:r>
              <a:rPr lang="en-US" sz="900" b="1" dirty="0">
                <a:solidFill>
                  <a:srgbClr val="FFFFFF"/>
                </a:solidFill>
                <a:latin typeface="Aptos" pitchFamily="34" charset="0"/>
                <a:ea typeface="Aptos" pitchFamily="34" charset="-122"/>
                <a:cs typeface="Aptos" pitchFamily="34" charset="-120"/>
              </a:rPr>
              <a:t>NOT YET VALIDATED</a:t>
            </a:r>
            <a:endParaRPr lang="en-US" sz="900" dirty="0"/>
          </a:p>
        </p:txBody>
      </p:sp>
      <p:sp>
        <p:nvSpPr>
          <p:cNvPr id="32" name="Text 30"/>
          <p:cNvSpPr/>
          <p:nvPr/>
        </p:nvSpPr>
        <p:spPr>
          <a:xfrm>
            <a:off x="8577072" y="3090672"/>
            <a:ext cx="2606040" cy="301752"/>
          </a:xfrm>
          <a:prstGeom prst="rect">
            <a:avLst/>
          </a:prstGeom>
          <a:noFill/>
          <a:ln/>
        </p:spPr>
        <p:txBody>
          <a:bodyPr wrap="square" lIns="0" tIns="0" rIns="0" bIns="0" rtlCol="0" anchor="ctr">
            <a:normAutofit/>
          </a:bodyPr>
          <a:lstStyle/>
          <a:p>
            <a:pPr indent="0" marL="0">
              <a:buNone/>
            </a:pPr>
            <a:r>
              <a:rPr lang="en-US" sz="1450" b="1" dirty="0">
                <a:solidFill>
                  <a:srgbClr val="132524"/>
                </a:solidFill>
                <a:latin typeface="Aptos" pitchFamily="34" charset="0"/>
                <a:ea typeface="Aptos" pitchFamily="34" charset="-122"/>
                <a:cs typeface="Aptos" pitchFamily="34" charset="-120"/>
              </a:rPr>
              <a:t>In live operations</a:t>
            </a:r>
            <a:endParaRPr lang="en-US" sz="1450" dirty="0"/>
          </a:p>
        </p:txBody>
      </p:sp>
      <p:sp>
        <p:nvSpPr>
          <p:cNvPr id="33" name="Text 31"/>
          <p:cNvSpPr/>
          <p:nvPr/>
        </p:nvSpPr>
        <p:spPr>
          <a:xfrm>
            <a:off x="8577072" y="3639312"/>
            <a:ext cx="1115568" cy="265176"/>
          </a:xfrm>
          <a:prstGeom prst="rect">
            <a:avLst/>
          </a:prstGeom>
          <a:noFill/>
          <a:ln/>
        </p:spPr>
        <p:txBody>
          <a:bodyPr wrap="square" lIns="0" tIns="0" rIns="0" bIns="0" rtlCol="0" anchor="ctr">
            <a:normAutofit/>
          </a:bodyPr>
          <a:lstStyle/>
          <a:p>
            <a:pPr indent="0" marL="0">
              <a:buNone/>
            </a:pPr>
            <a:r>
              <a:rPr lang="en-US" sz="1250" b="1" dirty="0">
                <a:solidFill>
                  <a:srgbClr val="64757A"/>
                </a:solidFill>
                <a:latin typeface="Aptos" pitchFamily="34" charset="0"/>
                <a:ea typeface="Aptos" pitchFamily="34" charset="-122"/>
                <a:cs typeface="Aptos" pitchFamily="34" charset="-120"/>
              </a:rPr>
              <a:t>0 interviews</a:t>
            </a:r>
            <a:endParaRPr lang="en-US" sz="1250" dirty="0"/>
          </a:p>
        </p:txBody>
      </p:sp>
      <p:sp>
        <p:nvSpPr>
          <p:cNvPr id="34" name="Text 32"/>
          <p:cNvSpPr/>
          <p:nvPr/>
        </p:nvSpPr>
        <p:spPr>
          <a:xfrm>
            <a:off x="9857232" y="3648456"/>
            <a:ext cx="1344168" cy="274320"/>
          </a:xfrm>
          <a:prstGeom prst="rect">
            <a:avLst/>
          </a:prstGeom>
          <a:noFill/>
          <a:ln/>
        </p:spPr>
        <p:txBody>
          <a:bodyPr wrap="square" lIns="0" tIns="0" rIns="0" bIns="0" rtlCol="0" anchor="t">
            <a:normAutofit/>
          </a:bodyPr>
          <a:lstStyle/>
          <a:p>
            <a:pPr indent="0" marL="0">
              <a:buNone/>
            </a:pPr>
            <a:r>
              <a:rPr lang="en-US" sz="960" dirty="0">
                <a:solidFill>
                  <a:srgbClr val="132524"/>
                </a:solidFill>
                <a:latin typeface="Aptos" pitchFamily="34" charset="0"/>
                <a:ea typeface="Aptos" pitchFamily="34" charset="-122"/>
                <a:cs typeface="Aptos" pitchFamily="34" charset="-120"/>
              </a:rPr>
              <a:t>food-bank operator discovery</a:t>
            </a:r>
            <a:endParaRPr lang="en-US" sz="960" dirty="0"/>
          </a:p>
        </p:txBody>
      </p:sp>
      <p:sp>
        <p:nvSpPr>
          <p:cNvPr id="35" name="Text 33"/>
          <p:cNvSpPr/>
          <p:nvPr/>
        </p:nvSpPr>
        <p:spPr>
          <a:xfrm>
            <a:off x="8577072" y="4178808"/>
            <a:ext cx="1115568" cy="265176"/>
          </a:xfrm>
          <a:prstGeom prst="rect">
            <a:avLst/>
          </a:prstGeom>
          <a:noFill/>
          <a:ln/>
        </p:spPr>
        <p:txBody>
          <a:bodyPr wrap="square" lIns="0" tIns="0" rIns="0" bIns="0" rtlCol="0" anchor="ctr">
            <a:normAutofit/>
          </a:bodyPr>
          <a:lstStyle/>
          <a:p>
            <a:pPr indent="0" marL="0">
              <a:buNone/>
            </a:pPr>
            <a:r>
              <a:rPr lang="en-US" sz="1250" b="1" dirty="0">
                <a:solidFill>
                  <a:srgbClr val="64757A"/>
                </a:solidFill>
                <a:latin typeface="Aptos" pitchFamily="34" charset="0"/>
                <a:ea typeface="Aptos" pitchFamily="34" charset="-122"/>
                <a:cs typeface="Aptos" pitchFamily="34" charset="-120"/>
              </a:rPr>
              <a:t>No timing study</a:t>
            </a:r>
            <a:endParaRPr lang="en-US" sz="1250" dirty="0"/>
          </a:p>
        </p:txBody>
      </p:sp>
      <p:sp>
        <p:nvSpPr>
          <p:cNvPr id="36" name="Text 34"/>
          <p:cNvSpPr/>
          <p:nvPr/>
        </p:nvSpPr>
        <p:spPr>
          <a:xfrm>
            <a:off x="9857232" y="4187952"/>
            <a:ext cx="1344168" cy="274320"/>
          </a:xfrm>
          <a:prstGeom prst="rect">
            <a:avLst/>
          </a:prstGeom>
          <a:noFill/>
          <a:ln/>
        </p:spPr>
        <p:txBody>
          <a:bodyPr wrap="square" lIns="0" tIns="0" rIns="0" bIns="0" rtlCol="0" anchor="t">
            <a:normAutofit/>
          </a:bodyPr>
          <a:lstStyle/>
          <a:p>
            <a:pPr indent="0" marL="0">
              <a:buNone/>
            </a:pPr>
            <a:r>
              <a:rPr lang="en-US" sz="960" dirty="0">
                <a:solidFill>
                  <a:srgbClr val="132524"/>
                </a:solidFill>
                <a:latin typeface="Aptos" pitchFamily="34" charset="0"/>
                <a:ea typeface="Aptos" pitchFamily="34" charset="-122"/>
                <a:cs typeface="Aptos" pitchFamily="34" charset="-120"/>
              </a:rPr>
              <a:t>manual response comparator</a:t>
            </a:r>
            <a:endParaRPr lang="en-US" sz="960" dirty="0"/>
          </a:p>
        </p:txBody>
      </p:sp>
      <p:sp>
        <p:nvSpPr>
          <p:cNvPr id="37" name="Text 35"/>
          <p:cNvSpPr/>
          <p:nvPr/>
        </p:nvSpPr>
        <p:spPr>
          <a:xfrm>
            <a:off x="8577072" y="4718304"/>
            <a:ext cx="1115568" cy="265176"/>
          </a:xfrm>
          <a:prstGeom prst="rect">
            <a:avLst/>
          </a:prstGeom>
          <a:noFill/>
          <a:ln/>
        </p:spPr>
        <p:txBody>
          <a:bodyPr wrap="square" lIns="0" tIns="0" rIns="0" bIns="0" rtlCol="0" anchor="ctr">
            <a:normAutofit/>
          </a:bodyPr>
          <a:lstStyle/>
          <a:p>
            <a:pPr indent="0" marL="0">
              <a:buNone/>
            </a:pPr>
            <a:r>
              <a:rPr lang="en-US" sz="1250" b="1" dirty="0">
                <a:solidFill>
                  <a:srgbClr val="64757A"/>
                </a:solidFill>
                <a:latin typeface="Aptos" pitchFamily="34" charset="0"/>
                <a:ea typeface="Aptos" pitchFamily="34" charset="-122"/>
                <a:cs typeface="Aptos" pitchFamily="34" charset="-120"/>
              </a:rPr>
              <a:t>No client data</a:t>
            </a:r>
            <a:endParaRPr lang="en-US" sz="1250" dirty="0"/>
          </a:p>
        </p:txBody>
      </p:sp>
      <p:sp>
        <p:nvSpPr>
          <p:cNvPr id="38" name="Text 36"/>
          <p:cNvSpPr/>
          <p:nvPr/>
        </p:nvSpPr>
        <p:spPr>
          <a:xfrm>
            <a:off x="9857232" y="4727448"/>
            <a:ext cx="1344168" cy="274320"/>
          </a:xfrm>
          <a:prstGeom prst="rect">
            <a:avLst/>
          </a:prstGeom>
          <a:noFill/>
          <a:ln/>
        </p:spPr>
        <p:txBody>
          <a:bodyPr wrap="square" lIns="0" tIns="0" rIns="0" bIns="0" rtlCol="0" anchor="t">
            <a:normAutofit/>
          </a:bodyPr>
          <a:lstStyle/>
          <a:p>
            <a:pPr indent="0" marL="0">
              <a:buNone/>
            </a:pPr>
            <a:r>
              <a:rPr lang="en-US" sz="960" dirty="0">
                <a:solidFill>
                  <a:srgbClr val="132524"/>
                </a:solidFill>
                <a:latin typeface="Aptos" pitchFamily="34" charset="0"/>
                <a:ea typeface="Aptos" pitchFamily="34" charset="-122"/>
                <a:cs typeface="Aptos" pitchFamily="34" charset="-120"/>
              </a:rPr>
              <a:t>production performance</a:t>
            </a:r>
            <a:endParaRPr lang="en-US" sz="960" dirty="0"/>
          </a:p>
        </p:txBody>
      </p:sp>
      <p:sp>
        <p:nvSpPr>
          <p:cNvPr id="39" name="Text 37"/>
          <p:cNvSpPr/>
          <p:nvPr/>
        </p:nvSpPr>
        <p:spPr>
          <a:xfrm>
            <a:off x="8577072" y="5257800"/>
            <a:ext cx="1115568" cy="265176"/>
          </a:xfrm>
          <a:prstGeom prst="rect">
            <a:avLst/>
          </a:prstGeom>
          <a:noFill/>
          <a:ln/>
        </p:spPr>
        <p:txBody>
          <a:bodyPr wrap="square" lIns="0" tIns="0" rIns="0" bIns="0" rtlCol="0" anchor="ctr">
            <a:normAutofit/>
          </a:bodyPr>
          <a:lstStyle/>
          <a:p>
            <a:pPr indent="0" marL="0">
              <a:buNone/>
            </a:pPr>
            <a:r>
              <a:rPr lang="en-US" sz="1250" b="1" dirty="0">
                <a:solidFill>
                  <a:srgbClr val="64757A"/>
                </a:solidFill>
                <a:latin typeface="Aptos" pitchFamily="34" charset="0"/>
                <a:ea typeface="Aptos" pitchFamily="34" charset="-122"/>
                <a:cs typeface="Aptos" pitchFamily="34" charset="-120"/>
              </a:rPr>
              <a:t>Pilot needed</a:t>
            </a:r>
            <a:endParaRPr lang="en-US" sz="1250" dirty="0"/>
          </a:p>
        </p:txBody>
      </p:sp>
      <p:sp>
        <p:nvSpPr>
          <p:cNvPr id="40" name="Text 38"/>
          <p:cNvSpPr/>
          <p:nvPr/>
        </p:nvSpPr>
        <p:spPr>
          <a:xfrm>
            <a:off x="9857232" y="5266944"/>
            <a:ext cx="1344168" cy="274320"/>
          </a:xfrm>
          <a:prstGeom prst="rect">
            <a:avLst/>
          </a:prstGeom>
          <a:noFill/>
          <a:ln/>
        </p:spPr>
        <p:txBody>
          <a:bodyPr wrap="square" lIns="0" tIns="0" rIns="0" bIns="0" rtlCol="0" anchor="t">
            <a:normAutofit/>
          </a:bodyPr>
          <a:lstStyle/>
          <a:p>
            <a:pPr indent="0" marL="0">
              <a:buNone/>
            </a:pPr>
            <a:r>
              <a:rPr lang="en-US" sz="960" dirty="0">
                <a:solidFill>
                  <a:srgbClr val="132524"/>
                </a:solidFill>
                <a:latin typeface="Aptos" pitchFamily="34" charset="0"/>
                <a:ea typeface="Aptos" pitchFamily="34" charset="-122"/>
                <a:cs typeface="Aptos" pitchFamily="34" charset="-120"/>
              </a:rPr>
              <a:t>workflow and impact validation</a:t>
            </a:r>
            <a:endParaRPr lang="en-US" sz="960" dirty="0"/>
          </a:p>
        </p:txBody>
      </p:sp>
      <p:sp>
        <p:nvSpPr>
          <p:cNvPr id="41" name="Shape 39"/>
          <p:cNvSpPr/>
          <p:nvPr/>
        </p:nvSpPr>
        <p:spPr>
          <a:xfrm>
            <a:off x="4764024" y="5605272"/>
            <a:ext cx="2788920" cy="256032"/>
          </a:xfrm>
          <a:prstGeom prst="roundRect">
            <a:avLst/>
          </a:prstGeom>
          <a:solidFill>
            <a:srgbClr val="C88C2C"/>
          </a:solidFill>
          <a:ln w="12700">
            <a:solidFill>
              <a:srgbClr val="C88C2C"/>
            </a:solidFill>
            <a:prstDash val="solid"/>
          </a:ln>
        </p:spPr>
      </p:sp>
      <p:sp>
        <p:nvSpPr>
          <p:cNvPr id="42" name="Text 40"/>
          <p:cNvSpPr/>
          <p:nvPr/>
        </p:nvSpPr>
        <p:spPr>
          <a:xfrm>
            <a:off x="4882896" y="5632704"/>
            <a:ext cx="2551176" cy="182880"/>
          </a:xfrm>
          <a:prstGeom prst="rect">
            <a:avLst/>
          </a:prstGeom>
          <a:noFill/>
          <a:ln/>
        </p:spPr>
        <p:txBody>
          <a:bodyPr wrap="square" lIns="0" tIns="0" rIns="0" bIns="0" rtlCol="0" anchor="ctr">
            <a:normAutofit/>
          </a:bodyPr>
          <a:lstStyle/>
          <a:p>
            <a:pPr algn="ctr" indent="0" marL="0">
              <a:buNone/>
            </a:pPr>
            <a:r>
              <a:rPr lang="en-US" sz="910" b="1" dirty="0">
                <a:solidFill>
                  <a:srgbClr val="FFFFFF"/>
                </a:solidFill>
                <a:latin typeface="Aptos" pitchFamily="34" charset="0"/>
                <a:ea typeface="Aptos" pitchFamily="34" charset="-122"/>
                <a:cs typeface="Aptos" pitchFamily="34" charset="-120"/>
              </a:rPr>
              <a:t>MODEL ACCURACY / NOT CLAIMED</a:t>
            </a:r>
            <a:endParaRPr lang="en-US" sz="910" dirty="0"/>
          </a:p>
        </p:txBody>
      </p:sp>
      <p:sp>
        <p:nvSpPr>
          <p:cNvPr id="43" name="Text 41"/>
          <p:cNvSpPr/>
          <p:nvPr/>
        </p:nvSpPr>
        <p:spPr>
          <a:xfrm>
            <a:off x="658368" y="6419088"/>
            <a:ext cx="10469880" cy="210312"/>
          </a:xfrm>
          <a:prstGeom prst="rect">
            <a:avLst/>
          </a:prstGeom>
          <a:noFill/>
          <a:ln/>
        </p:spPr>
        <p:txBody>
          <a:bodyPr wrap="square" lIns="0" tIns="0" rIns="0" bIns="0" rtlCol="0" anchor="ctr">
            <a:normAutofit/>
          </a:bodyPr>
          <a:lstStyle/>
          <a:p>
            <a:pPr indent="0" marL="0">
              <a:buNone/>
            </a:pPr>
            <a:r>
              <a:rPr lang="en-US" sz="850" dirty="0">
                <a:solidFill>
                  <a:srgbClr val="61706D"/>
                </a:solidFill>
                <a:latin typeface="Aptos" pitchFamily="34" charset="0"/>
                <a:ea typeface="Aptos" pitchFamily="34" charset="-122"/>
                <a:cs typeface="Aptos" pitchFamily="34" charset="-120"/>
              </a:rPr>
              <a:t>Published evidence is a fallback for discovery, not a substitute for operator interviews.  </a:t>
            </a:r>
            <a:pPr indent="0" marL="0">
              <a:buNone/>
            </a:pPr>
            <a:r>
              <a:rPr lang="en-US" sz="850" u="sng" dirty="0">
                <a:solidFill>
                  <a:srgbClr val="1D6B62"/>
                </a:solidFill>
                <a:uFill>
                  <a:solidFill>
                    <a:srgbClr val="1D6B62"/>
                  </a:solidFill>
                </a:uFill>
                <a:latin typeface="Aptos" pitchFamily="34" charset="0"/>
                <a:ea typeface="Aptos" pitchFamily="34" charset="-122"/>
                <a:cs typeface="Aptos" pitchFamily="34" charset="-120"/>
                <a:hlinkClick r:id="rId1" invalidUrl="" action="" tgtFrame="" tooltip="Frozen gold set" history="1" highlightClick="0" endSnd="0">
                  <a:extLst>
                    <a:ext uri="{A12FA001-AC4F-418D-AE19-62706E023703}">
                      <ahyp:hlinkClr xmlns:ahyp="http://schemas.microsoft.com/office/drawing/2018/hyperlinkcolor" val="tx"/>
                    </a:ext>
                  </a:extLst>
                </a:hlinkClick>
              </a:rPr>
              <a:t>Frozen gold set</a:t>
            </a:r>
            <a:pPr indent="0" marL="0">
              <a:buNone/>
            </a:pPr>
            <a:r>
              <a:rPr lang="en-US" sz="850" dirty="0">
                <a:solidFill>
                  <a:srgbClr val="D9D2C2"/>
                </a:solidFill>
                <a:latin typeface="Aptos" pitchFamily="34" charset="0"/>
                <a:ea typeface="Aptos" pitchFamily="34" charset="-122"/>
                <a:cs typeface="Aptos" pitchFamily="34" charset="-120"/>
              </a:rPr>
              <a:t>  |  </a:t>
            </a:r>
            <a:pPr indent="0" marL="0">
              <a:buNone/>
            </a:pPr>
            <a:r>
              <a:rPr lang="en-US" sz="850" u="sng" dirty="0">
                <a:solidFill>
                  <a:srgbClr val="1D6B62"/>
                </a:solidFill>
                <a:uFill>
                  <a:solidFill>
                    <a:srgbClr val="1D6B62"/>
                  </a:solidFill>
                </a:uFill>
                <a:latin typeface="Aptos" pitchFamily="34" charset="0"/>
                <a:ea typeface="Aptos" pitchFamily="34" charset="-122"/>
                <a:cs typeface="Aptos" pitchFamily="34" charset="-120"/>
                <a:hlinkClick r:id="rId2" invalidUrl="" action="" tgtFrame="" tooltip="Evaluation runner" history="1" highlightClick="0" endSnd="0">
                  <a:extLst>
                    <a:ext uri="{A12FA001-AC4F-418D-AE19-62706E023703}">
                      <ahyp:hlinkClr xmlns:ahyp="http://schemas.microsoft.com/office/drawing/2018/hyperlinkcolor" val="tx"/>
                    </a:ext>
                  </a:extLst>
                </a:hlinkClick>
              </a:rPr>
              <a:t>Evaluation runner</a:t>
            </a:r>
            <a:pPr indent="0" marL="0">
              <a:buNone/>
            </a:pPr>
            <a:r>
              <a:rPr lang="en-US" sz="850" dirty="0">
                <a:solidFill>
                  <a:srgbClr val="D9D2C2"/>
                </a:solidFill>
                <a:latin typeface="Aptos" pitchFamily="34" charset="0"/>
                <a:ea typeface="Aptos" pitchFamily="34" charset="-122"/>
                <a:cs typeface="Aptos" pitchFamily="34" charset="-120"/>
              </a:rPr>
              <a:t>  |  </a:t>
            </a:r>
            <a:pPr indent="0" marL="0">
              <a:buNone/>
            </a:pPr>
            <a:r>
              <a:rPr lang="en-US" sz="850" u="sng" dirty="0">
                <a:solidFill>
                  <a:srgbClr val="1D6B62"/>
                </a:solidFill>
                <a:uFill>
                  <a:solidFill>
                    <a:srgbClr val="1D6B62"/>
                  </a:solidFill>
                </a:uFill>
                <a:latin typeface="Aptos" pitchFamily="34" charset="0"/>
                <a:ea typeface="Aptos" pitchFamily="34" charset="-122"/>
                <a:cs typeface="Aptos" pitchFamily="34" charset="-120"/>
                <a:hlinkClick r:id="rId3" invalidUrl="" action="" tgtFrame="" tooltip="Safety tests" history="1" highlightClick="0" endSnd="0">
                  <a:extLst>
                    <a:ext uri="{A12FA001-AC4F-418D-AE19-62706E023703}">
                      <ahyp:hlinkClr xmlns:ahyp="http://schemas.microsoft.com/office/drawing/2018/hyperlinkcolor" val="tx"/>
                    </a:ext>
                  </a:extLst>
                </a:hlinkClick>
              </a:rPr>
              <a:t>Safety tests</a:t>
            </a:r>
            <a:endParaRPr lang="en-US" sz="850" dirty="0"/>
          </a:p>
        </p:txBody>
      </p:sp>
      <p:sp>
        <p:nvSpPr>
          <p:cNvPr id="25" name="Slide Number Placeholder 0"/>
          <p:cNvSpPr>
            <a:spLocks noGrp="1"/>
          </p:cNvSpPr>
          <p:nvPr>
            <p:ph type="sldNum" sz="quarter" idx="4294967295"/>
          </p:nvPr>
        </p:nvSpPr>
        <p:spPr>
          <a:xfrm>
            <a:off x="11448288" y="6437376"/>
            <a:ext cx="219456" cy="182880"/>
          </a:xfrm>
          <a:prstGeom prst="rect">
            <a:avLst/>
          </a:prstGeom>
          <a:extLst>
            <a:ext uri="{C572A759-6A51-4108-AA02-DFA0A04FC94B}">
              <ma14:wrappingTextBoxFlag xmlns:ma14="http://schemas.microsoft.com/office/mac/drawingml/2011/main" val="0"/>
            </a:ext>
          </a:extLst>
        </p:spPr>
        <p:txBody>
          <a:bodyPr lIns="0" tIns="0" rIns="0" bIns="0"/>
          <a:lstStyle>
            <a:lvl1pPr>
              <a:defRPr sz="800">
                <a:solidFill>
                  <a:srgbClr val="61706D"/>
                </a:solidFill>
                <a:latin typeface="Aptos"/>
                <a:ea typeface="Aptos"/>
                <a:cs typeface="Aptos"/>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43B37"/>
        </a:solidFill>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B94735"/>
          </a:solidFill>
          <a:ln w="12700">
            <a:solidFill>
              <a:srgbClr val="B94735"/>
            </a:solidFill>
            <a:prstDash val="solid"/>
          </a:ln>
        </p:spPr>
      </p:sp>
      <p:sp>
        <p:nvSpPr>
          <p:cNvPr id="3" name="Shape 1"/>
          <p:cNvSpPr/>
          <p:nvPr/>
        </p:nvSpPr>
        <p:spPr>
          <a:xfrm>
            <a:off x="658368" y="530352"/>
            <a:ext cx="384048" cy="384048"/>
          </a:xfrm>
          <a:prstGeom prst="rect">
            <a:avLst/>
          </a:prstGeom>
          <a:solidFill>
            <a:srgbClr val="FFFDF8">
              <a:alpha val="0"/>
            </a:srgbClr>
          </a:solidFill>
          <a:ln w="12700">
            <a:solidFill>
              <a:srgbClr val="FFFDF8"/>
            </a:solidFill>
            <a:prstDash val="solid"/>
          </a:ln>
        </p:spPr>
      </p:sp>
      <p:sp>
        <p:nvSpPr>
          <p:cNvPr id="4" name="Text 2"/>
          <p:cNvSpPr/>
          <p:nvPr/>
        </p:nvSpPr>
        <p:spPr>
          <a:xfrm>
            <a:off x="658368" y="585216"/>
            <a:ext cx="384048" cy="228600"/>
          </a:xfrm>
          <a:prstGeom prst="rect">
            <a:avLst/>
          </a:prstGeom>
          <a:noFill/>
          <a:ln/>
        </p:spPr>
        <p:txBody>
          <a:bodyPr wrap="square" lIns="0" tIns="0" rIns="0" bIns="0" rtlCol="0" anchor="ctr">
            <a:normAutofit/>
          </a:bodyPr>
          <a:lstStyle/>
          <a:p>
            <a:pPr algn="ctr" indent="0" marL="0">
              <a:buNone/>
            </a:pPr>
            <a:r>
              <a:rPr lang="en-US" sz="950" b="1" dirty="0">
                <a:solidFill>
                  <a:srgbClr val="FFFDF8"/>
                </a:solidFill>
                <a:latin typeface="Aptos" pitchFamily="34" charset="0"/>
                <a:ea typeface="Aptos" pitchFamily="34" charset="-122"/>
                <a:cs typeface="Aptos" pitchFamily="34" charset="-120"/>
              </a:rPr>
              <a:t>FF</a:t>
            </a:r>
            <a:endParaRPr lang="en-US" sz="950" dirty="0"/>
          </a:p>
        </p:txBody>
      </p:sp>
      <p:sp>
        <p:nvSpPr>
          <p:cNvPr id="5" name="Text 3"/>
          <p:cNvSpPr/>
          <p:nvPr/>
        </p:nvSpPr>
        <p:spPr>
          <a:xfrm>
            <a:off x="1188720" y="557784"/>
            <a:ext cx="1828800" cy="274320"/>
          </a:xfrm>
          <a:prstGeom prst="rect">
            <a:avLst/>
          </a:prstGeom>
          <a:noFill/>
          <a:ln/>
        </p:spPr>
        <p:txBody>
          <a:bodyPr wrap="square" lIns="0" tIns="0" rIns="0" bIns="0" rtlCol="0" anchor="ctr">
            <a:normAutofit/>
          </a:bodyPr>
          <a:lstStyle/>
          <a:p>
            <a:pPr indent="0" marL="0">
              <a:buNone/>
            </a:pPr>
            <a:r>
              <a:rPr lang="en-US" sz="1300" b="1" dirty="0">
                <a:solidFill>
                  <a:srgbClr val="FFFDF8"/>
                </a:solidFill>
                <a:latin typeface="Aptos" pitchFamily="34" charset="0"/>
                <a:ea typeface="Aptos" pitchFamily="34" charset="-122"/>
                <a:cs typeface="Aptos" pitchFamily="34" charset="-120"/>
              </a:rPr>
              <a:t>Farms for Food</a:t>
            </a:r>
            <a:endParaRPr lang="en-US" sz="1300" dirty="0"/>
          </a:p>
        </p:txBody>
      </p:sp>
      <p:sp>
        <p:nvSpPr>
          <p:cNvPr id="6" name="Text 4"/>
          <p:cNvSpPr/>
          <p:nvPr/>
        </p:nvSpPr>
        <p:spPr>
          <a:xfrm>
            <a:off x="658368" y="1097280"/>
            <a:ext cx="5989320" cy="1234440"/>
          </a:xfrm>
          <a:prstGeom prst="rect">
            <a:avLst/>
          </a:prstGeom>
          <a:noFill/>
          <a:ln/>
        </p:spPr>
        <p:txBody>
          <a:bodyPr wrap="square" lIns="0" tIns="0" rIns="0" bIns="0" rtlCol="0" anchor="t">
            <a:normAutofit/>
          </a:bodyPr>
          <a:lstStyle/>
          <a:p>
            <a:pPr indent="0" marL="0">
              <a:buNone/>
            </a:pPr>
            <a:r>
              <a:rPr lang="en-US" sz="3900" b="1" dirty="0">
                <a:solidFill>
                  <a:srgbClr val="FFFDF8"/>
                </a:solidFill>
                <a:latin typeface="Aptos Display" pitchFamily="34" charset="0"/>
                <a:ea typeface="Aptos Display" pitchFamily="34" charset="-122"/>
                <a:cs typeface="Aptos Display" pitchFamily="34" charset="-120"/>
              </a:rPr>
              <a:t>Pilot one recall.</a:t>
            </a:r>
            <a:endParaRPr lang="en-US" sz="3900" dirty="0"/>
          </a:p>
          <a:p>
            <a:pPr indent="0" marL="0">
              <a:buNone/>
            </a:pPr>
            <a:r>
              <a:rPr lang="en-US" sz="3900" b="1" dirty="0">
                <a:solidFill>
                  <a:srgbClr val="FFFDF8"/>
                </a:solidFill>
                <a:latin typeface="Aptos Display" pitchFamily="34" charset="0"/>
                <a:ea typeface="Aptos Display" pitchFamily="34" charset="-122"/>
                <a:cs typeface="Aptos Display" pitchFamily="34" charset="-120"/>
              </a:rPr>
              <a:t>Prove the decision loop.</a:t>
            </a:r>
            <a:endParaRPr lang="en-US" sz="3900" dirty="0"/>
          </a:p>
        </p:txBody>
      </p:sp>
      <p:sp>
        <p:nvSpPr>
          <p:cNvPr id="7" name="Text 5"/>
          <p:cNvSpPr/>
          <p:nvPr/>
        </p:nvSpPr>
        <p:spPr>
          <a:xfrm>
            <a:off x="658368" y="2596896"/>
            <a:ext cx="5669280" cy="804672"/>
          </a:xfrm>
          <a:prstGeom prst="rect">
            <a:avLst/>
          </a:prstGeom>
          <a:noFill/>
          <a:ln/>
        </p:spPr>
        <p:txBody>
          <a:bodyPr wrap="square" lIns="0" tIns="0" rIns="0" bIns="0" rtlCol="0" anchor="t">
            <a:normAutofit/>
          </a:bodyPr>
          <a:lstStyle/>
          <a:p>
            <a:pPr indent="0" marL="0">
              <a:buNone/>
            </a:pPr>
            <a:r>
              <a:rPr lang="en-US" sz="1700" dirty="0">
                <a:solidFill>
                  <a:srgbClr val="D7E7E1"/>
                </a:solidFill>
                <a:latin typeface="Aptos" pitchFamily="34" charset="0"/>
                <a:ea typeface="Aptos" pitchFamily="34" charset="-122"/>
                <a:cs typeface="Aptos" pitchFamily="34" charset="-120"/>
              </a:rPr>
              <a:t>Start with one notice type, one warehouse, and one pantry network. Measure trace completeness, planning time, reviewer corrections, and service recovery.</a:t>
            </a:r>
            <a:endParaRPr lang="en-US" sz="1700" dirty="0"/>
          </a:p>
        </p:txBody>
      </p:sp>
      <p:sp>
        <p:nvSpPr>
          <p:cNvPr id="8" name="Shape 6"/>
          <p:cNvSpPr/>
          <p:nvPr/>
        </p:nvSpPr>
        <p:spPr>
          <a:xfrm>
            <a:off x="658368" y="3840480"/>
            <a:ext cx="384048" cy="384048"/>
          </a:xfrm>
          <a:prstGeom prst="ellipse">
            <a:avLst/>
          </a:prstGeom>
          <a:solidFill>
            <a:srgbClr val="1D6B62"/>
          </a:solidFill>
          <a:ln w="12700">
            <a:solidFill>
              <a:srgbClr val="1D6B62"/>
            </a:solidFill>
            <a:prstDash val="solid"/>
          </a:ln>
        </p:spPr>
      </p:sp>
      <p:sp>
        <p:nvSpPr>
          <p:cNvPr id="9" name="Text 7"/>
          <p:cNvSpPr/>
          <p:nvPr/>
        </p:nvSpPr>
        <p:spPr>
          <a:xfrm>
            <a:off x="658368" y="3913632"/>
            <a:ext cx="384048" cy="201168"/>
          </a:xfrm>
          <a:prstGeom prst="rect">
            <a:avLst/>
          </a:prstGeom>
          <a:noFill/>
          <a:ln/>
        </p:spPr>
        <p:txBody>
          <a:bodyPr wrap="square" lIns="0" tIns="0" rIns="0" bIns="0" rtlCol="0" anchor="ctr">
            <a:normAutofit/>
          </a:bodyPr>
          <a:lstStyle/>
          <a:p>
            <a:pPr algn="ctr" indent="0" marL="0">
              <a:buNone/>
            </a:pPr>
            <a:r>
              <a:rPr lang="en-US" sz="950" b="1" dirty="0">
                <a:solidFill>
                  <a:srgbClr val="FFFFFF"/>
                </a:solidFill>
                <a:latin typeface="Aptos" pitchFamily="34" charset="0"/>
                <a:ea typeface="Aptos" pitchFamily="34" charset="-122"/>
                <a:cs typeface="Aptos" pitchFamily="34" charset="-120"/>
              </a:rPr>
              <a:t>01</a:t>
            </a:r>
            <a:endParaRPr lang="en-US" sz="950" dirty="0"/>
          </a:p>
        </p:txBody>
      </p:sp>
      <p:sp>
        <p:nvSpPr>
          <p:cNvPr id="10" name="Text 8"/>
          <p:cNvSpPr/>
          <p:nvPr/>
        </p:nvSpPr>
        <p:spPr>
          <a:xfrm>
            <a:off x="1225296" y="3831336"/>
            <a:ext cx="914400" cy="228600"/>
          </a:xfrm>
          <a:prstGeom prst="rect">
            <a:avLst/>
          </a:prstGeom>
          <a:noFill/>
          <a:ln/>
        </p:spPr>
        <p:txBody>
          <a:bodyPr wrap="square" lIns="0" tIns="0" rIns="0" bIns="0" rtlCol="0" anchor="ctr">
            <a:normAutofit/>
          </a:bodyPr>
          <a:lstStyle/>
          <a:p>
            <a:pPr indent="0" marL="0">
              <a:buNone/>
            </a:pPr>
            <a:r>
              <a:rPr lang="en-US" sz="1300" b="1" dirty="0">
                <a:solidFill>
                  <a:srgbClr val="FFFDF8"/>
                </a:solidFill>
                <a:latin typeface="Aptos" pitchFamily="34" charset="0"/>
                <a:ea typeface="Aptos" pitchFamily="34" charset="-122"/>
                <a:cs typeface="Aptos" pitchFamily="34" charset="-120"/>
              </a:rPr>
              <a:t>Connect</a:t>
            </a:r>
            <a:endParaRPr lang="en-US" sz="1300" dirty="0"/>
          </a:p>
        </p:txBody>
      </p:sp>
      <p:sp>
        <p:nvSpPr>
          <p:cNvPr id="11" name="Text 9"/>
          <p:cNvSpPr/>
          <p:nvPr/>
        </p:nvSpPr>
        <p:spPr>
          <a:xfrm>
            <a:off x="2148840" y="3840480"/>
            <a:ext cx="3474720" cy="246888"/>
          </a:xfrm>
          <a:prstGeom prst="rect">
            <a:avLst/>
          </a:prstGeom>
          <a:noFill/>
          <a:ln/>
        </p:spPr>
        <p:txBody>
          <a:bodyPr wrap="square" lIns="0" tIns="0" rIns="0" bIns="0" rtlCol="0" anchor="ctr">
            <a:normAutofit/>
          </a:bodyPr>
          <a:lstStyle/>
          <a:p>
            <a:pPr indent="0" marL="0">
              <a:buNone/>
            </a:pPr>
            <a:r>
              <a:rPr lang="en-US" sz="1100" dirty="0">
                <a:solidFill>
                  <a:srgbClr val="78B7A9"/>
                </a:solidFill>
                <a:latin typeface="Aptos" pitchFamily="34" charset="0"/>
                <a:ea typeface="Aptos" pitchFamily="34" charset="-122"/>
                <a:cs typeface="Aptos" pitchFamily="34" charset="-120"/>
              </a:rPr>
              <a:t>inventory, purchase orders, allocations</a:t>
            </a:r>
            <a:endParaRPr lang="en-US" sz="1100" dirty="0"/>
          </a:p>
        </p:txBody>
      </p:sp>
      <p:sp>
        <p:nvSpPr>
          <p:cNvPr id="12" name="Shape 10"/>
          <p:cNvSpPr/>
          <p:nvPr/>
        </p:nvSpPr>
        <p:spPr>
          <a:xfrm>
            <a:off x="658368" y="4526280"/>
            <a:ext cx="384048" cy="384048"/>
          </a:xfrm>
          <a:prstGeom prst="ellipse">
            <a:avLst/>
          </a:prstGeom>
          <a:solidFill>
            <a:srgbClr val="1D6B62"/>
          </a:solidFill>
          <a:ln w="12700">
            <a:solidFill>
              <a:srgbClr val="1D6B62"/>
            </a:solidFill>
            <a:prstDash val="solid"/>
          </a:ln>
        </p:spPr>
      </p:sp>
      <p:sp>
        <p:nvSpPr>
          <p:cNvPr id="13" name="Text 11"/>
          <p:cNvSpPr/>
          <p:nvPr/>
        </p:nvSpPr>
        <p:spPr>
          <a:xfrm>
            <a:off x="658368" y="4599432"/>
            <a:ext cx="384048" cy="201168"/>
          </a:xfrm>
          <a:prstGeom prst="rect">
            <a:avLst/>
          </a:prstGeom>
          <a:noFill/>
          <a:ln/>
        </p:spPr>
        <p:txBody>
          <a:bodyPr wrap="square" lIns="0" tIns="0" rIns="0" bIns="0" rtlCol="0" anchor="ctr">
            <a:normAutofit/>
          </a:bodyPr>
          <a:lstStyle/>
          <a:p>
            <a:pPr algn="ctr" indent="0" marL="0">
              <a:buNone/>
            </a:pPr>
            <a:r>
              <a:rPr lang="en-US" sz="950" b="1" dirty="0">
                <a:solidFill>
                  <a:srgbClr val="FFFFFF"/>
                </a:solidFill>
                <a:latin typeface="Aptos" pitchFamily="34" charset="0"/>
                <a:ea typeface="Aptos" pitchFamily="34" charset="-122"/>
                <a:cs typeface="Aptos" pitchFamily="34" charset="-120"/>
              </a:rPr>
              <a:t>02</a:t>
            </a:r>
            <a:endParaRPr lang="en-US" sz="950" dirty="0"/>
          </a:p>
        </p:txBody>
      </p:sp>
      <p:sp>
        <p:nvSpPr>
          <p:cNvPr id="14" name="Text 12"/>
          <p:cNvSpPr/>
          <p:nvPr/>
        </p:nvSpPr>
        <p:spPr>
          <a:xfrm>
            <a:off x="1225296" y="4517136"/>
            <a:ext cx="914400" cy="228600"/>
          </a:xfrm>
          <a:prstGeom prst="rect">
            <a:avLst/>
          </a:prstGeom>
          <a:noFill/>
          <a:ln/>
        </p:spPr>
        <p:txBody>
          <a:bodyPr wrap="square" lIns="0" tIns="0" rIns="0" bIns="0" rtlCol="0" anchor="ctr">
            <a:normAutofit/>
          </a:bodyPr>
          <a:lstStyle/>
          <a:p>
            <a:pPr indent="0" marL="0">
              <a:buNone/>
            </a:pPr>
            <a:r>
              <a:rPr lang="en-US" sz="1300" b="1" dirty="0">
                <a:solidFill>
                  <a:srgbClr val="FFFDF8"/>
                </a:solidFill>
                <a:latin typeface="Aptos" pitchFamily="34" charset="0"/>
                <a:ea typeface="Aptos" pitchFamily="34" charset="-122"/>
                <a:cs typeface="Aptos" pitchFamily="34" charset="-120"/>
              </a:rPr>
              <a:t>Shadow</a:t>
            </a:r>
            <a:endParaRPr lang="en-US" sz="1300" dirty="0"/>
          </a:p>
        </p:txBody>
      </p:sp>
      <p:sp>
        <p:nvSpPr>
          <p:cNvPr id="15" name="Text 13"/>
          <p:cNvSpPr/>
          <p:nvPr/>
        </p:nvSpPr>
        <p:spPr>
          <a:xfrm>
            <a:off x="2148840" y="4526280"/>
            <a:ext cx="3474720" cy="246888"/>
          </a:xfrm>
          <a:prstGeom prst="rect">
            <a:avLst/>
          </a:prstGeom>
          <a:noFill/>
          <a:ln/>
        </p:spPr>
        <p:txBody>
          <a:bodyPr wrap="square" lIns="0" tIns="0" rIns="0" bIns="0" rtlCol="0" anchor="ctr">
            <a:normAutofit/>
          </a:bodyPr>
          <a:lstStyle/>
          <a:p>
            <a:pPr indent="0" marL="0">
              <a:buNone/>
            </a:pPr>
            <a:r>
              <a:rPr lang="en-US" sz="1100" dirty="0">
                <a:solidFill>
                  <a:srgbClr val="78B7A9"/>
                </a:solidFill>
                <a:latin typeface="Aptos" pitchFamily="34" charset="0"/>
                <a:ea typeface="Aptos" pitchFamily="34" charset="-122"/>
                <a:cs typeface="Aptos" pitchFamily="34" charset="-120"/>
              </a:rPr>
              <a:t>run beside the current recall process</a:t>
            </a:r>
            <a:endParaRPr lang="en-US" sz="1100" dirty="0"/>
          </a:p>
        </p:txBody>
      </p:sp>
      <p:sp>
        <p:nvSpPr>
          <p:cNvPr id="16" name="Shape 14"/>
          <p:cNvSpPr/>
          <p:nvPr/>
        </p:nvSpPr>
        <p:spPr>
          <a:xfrm>
            <a:off x="658368" y="5212080"/>
            <a:ext cx="384048" cy="384048"/>
          </a:xfrm>
          <a:prstGeom prst="ellipse">
            <a:avLst/>
          </a:prstGeom>
          <a:solidFill>
            <a:srgbClr val="1D6B62"/>
          </a:solidFill>
          <a:ln w="12700">
            <a:solidFill>
              <a:srgbClr val="1D6B62"/>
            </a:solidFill>
            <a:prstDash val="solid"/>
          </a:ln>
        </p:spPr>
      </p:sp>
      <p:sp>
        <p:nvSpPr>
          <p:cNvPr id="17" name="Text 15"/>
          <p:cNvSpPr/>
          <p:nvPr/>
        </p:nvSpPr>
        <p:spPr>
          <a:xfrm>
            <a:off x="658368" y="5285232"/>
            <a:ext cx="384048" cy="201168"/>
          </a:xfrm>
          <a:prstGeom prst="rect">
            <a:avLst/>
          </a:prstGeom>
          <a:noFill/>
          <a:ln/>
        </p:spPr>
        <p:txBody>
          <a:bodyPr wrap="square" lIns="0" tIns="0" rIns="0" bIns="0" rtlCol="0" anchor="ctr">
            <a:normAutofit/>
          </a:bodyPr>
          <a:lstStyle/>
          <a:p>
            <a:pPr algn="ctr" indent="0" marL="0">
              <a:buNone/>
            </a:pPr>
            <a:r>
              <a:rPr lang="en-US" sz="950" b="1" dirty="0">
                <a:solidFill>
                  <a:srgbClr val="FFFFFF"/>
                </a:solidFill>
                <a:latin typeface="Aptos" pitchFamily="34" charset="0"/>
                <a:ea typeface="Aptos" pitchFamily="34" charset="-122"/>
                <a:cs typeface="Aptos" pitchFamily="34" charset="-120"/>
              </a:rPr>
              <a:t>03</a:t>
            </a:r>
            <a:endParaRPr lang="en-US" sz="950" dirty="0"/>
          </a:p>
        </p:txBody>
      </p:sp>
      <p:sp>
        <p:nvSpPr>
          <p:cNvPr id="18" name="Text 16"/>
          <p:cNvSpPr/>
          <p:nvPr/>
        </p:nvSpPr>
        <p:spPr>
          <a:xfrm>
            <a:off x="1225296" y="5202936"/>
            <a:ext cx="914400" cy="228600"/>
          </a:xfrm>
          <a:prstGeom prst="rect">
            <a:avLst/>
          </a:prstGeom>
          <a:noFill/>
          <a:ln/>
        </p:spPr>
        <p:txBody>
          <a:bodyPr wrap="square" lIns="0" tIns="0" rIns="0" bIns="0" rtlCol="0" anchor="ctr">
            <a:normAutofit/>
          </a:bodyPr>
          <a:lstStyle/>
          <a:p>
            <a:pPr indent="0" marL="0">
              <a:buNone/>
            </a:pPr>
            <a:r>
              <a:rPr lang="en-US" sz="1300" b="1" dirty="0">
                <a:solidFill>
                  <a:srgbClr val="FFFDF8"/>
                </a:solidFill>
                <a:latin typeface="Aptos" pitchFamily="34" charset="0"/>
                <a:ea typeface="Aptos" pitchFamily="34" charset="-122"/>
                <a:cs typeface="Aptos" pitchFamily="34" charset="-120"/>
              </a:rPr>
              <a:t>Measure</a:t>
            </a:r>
            <a:endParaRPr lang="en-US" sz="1300" dirty="0"/>
          </a:p>
        </p:txBody>
      </p:sp>
      <p:sp>
        <p:nvSpPr>
          <p:cNvPr id="19" name="Text 17"/>
          <p:cNvSpPr/>
          <p:nvPr/>
        </p:nvSpPr>
        <p:spPr>
          <a:xfrm>
            <a:off x="2148840" y="5212080"/>
            <a:ext cx="3474720" cy="246888"/>
          </a:xfrm>
          <a:prstGeom prst="rect">
            <a:avLst/>
          </a:prstGeom>
          <a:noFill/>
          <a:ln/>
        </p:spPr>
        <p:txBody>
          <a:bodyPr wrap="square" lIns="0" tIns="0" rIns="0" bIns="0" rtlCol="0" anchor="ctr">
            <a:normAutofit/>
          </a:bodyPr>
          <a:lstStyle/>
          <a:p>
            <a:pPr indent="0" marL="0">
              <a:buNone/>
            </a:pPr>
            <a:r>
              <a:rPr lang="en-US" sz="1100" dirty="0">
                <a:solidFill>
                  <a:srgbClr val="78B7A9"/>
                </a:solidFill>
                <a:latin typeface="Aptos" pitchFamily="34" charset="0"/>
                <a:ea typeface="Aptos" pitchFamily="34" charset="-122"/>
                <a:cs typeface="Aptos" pitchFamily="34" charset="-120"/>
              </a:rPr>
              <a:t>safety, speed, reviewer confidence</a:t>
            </a:r>
            <a:endParaRPr lang="en-US" sz="1100" dirty="0"/>
          </a:p>
        </p:txBody>
      </p:sp>
      <p:sp>
        <p:nvSpPr>
          <p:cNvPr id="20" name="Shape 18"/>
          <p:cNvSpPr/>
          <p:nvPr/>
        </p:nvSpPr>
        <p:spPr>
          <a:xfrm>
            <a:off x="7315200" y="841248"/>
            <a:ext cx="4224528" cy="5358384"/>
          </a:xfrm>
          <a:prstGeom prst="roundRect">
            <a:avLst>
              <a:gd name="adj" fmla="val 1732"/>
            </a:avLst>
          </a:prstGeom>
          <a:solidFill>
            <a:srgbClr val="FFFDF8"/>
          </a:solidFill>
          <a:ln w="12700">
            <a:solidFill>
              <a:srgbClr val="FFFDF8"/>
            </a:solidFill>
            <a:prstDash val="solid"/>
          </a:ln>
        </p:spPr>
      </p:sp>
      <p:sp>
        <p:nvSpPr>
          <p:cNvPr id="21" name="Text 19"/>
          <p:cNvSpPr/>
          <p:nvPr/>
        </p:nvSpPr>
        <p:spPr>
          <a:xfrm>
            <a:off x="7726680" y="1234440"/>
            <a:ext cx="3401568" cy="338328"/>
          </a:xfrm>
          <a:prstGeom prst="rect">
            <a:avLst/>
          </a:prstGeom>
          <a:noFill/>
          <a:ln/>
        </p:spPr>
        <p:txBody>
          <a:bodyPr wrap="square" lIns="0" tIns="0" rIns="0" bIns="0" rtlCol="0" anchor="ctr">
            <a:normAutofit/>
          </a:bodyPr>
          <a:lstStyle/>
          <a:p>
            <a:pPr algn="ctr" indent="0" marL="0">
              <a:buNone/>
            </a:pPr>
            <a:r>
              <a:rPr lang="en-US" sz="1600" b="1" dirty="0">
                <a:solidFill>
                  <a:srgbClr val="132524"/>
                </a:solidFill>
                <a:latin typeface="Aptos" pitchFamily="34" charset="0"/>
                <a:ea typeface="Aptos" pitchFamily="34" charset="-122"/>
                <a:cs typeface="Aptos" pitchFamily="34" charset="-120"/>
              </a:rPr>
              <a:t>Open the live command center</a:t>
            </a:r>
            <a:endParaRPr lang="en-US" sz="1600" dirty="0"/>
          </a:p>
        </p:txBody>
      </p:sp>
      <p:pic>
        <p:nvPicPr>
          <p:cNvPr id="22" name="Image 0" descr="QR code opening the Farms for Food live demo">
            <a:hlinkClick r:id="rId2" tooltip=""/>
          </p:cNvPr>
          <p:cNvPicPr>
            <a:picLocks noChangeAspect="1"/>
          </p:cNvPicPr>
          <p:nvPr/>
        </p:nvPicPr>
        <p:blipFill>
          <a:blip r:embed="rId1"/>
          <a:stretch>
            <a:fillRect/>
          </a:stretch>
        </p:blipFill>
        <p:spPr>
          <a:xfrm>
            <a:off x="8430768" y="1810512"/>
            <a:ext cx="1993392" cy="1993392"/>
          </a:xfrm>
          <a:prstGeom prst="rect">
            <a:avLst/>
          </a:prstGeom>
        </p:spPr>
      </p:pic>
      <p:sp>
        <p:nvSpPr>
          <p:cNvPr id="23" name="Text 20">
            <a:hlinkClick r:id="rId3" tooltip=""/>
          </p:cNvPr>
          <p:cNvSpPr/>
          <p:nvPr/>
        </p:nvSpPr>
        <p:spPr>
          <a:xfrm>
            <a:off x="7726680" y="4041648"/>
            <a:ext cx="3401568" cy="310896"/>
          </a:xfrm>
          <a:prstGeom prst="rect">
            <a:avLst/>
          </a:prstGeom>
          <a:noFill/>
          <a:ln/>
        </p:spPr>
        <p:txBody>
          <a:bodyPr wrap="square" lIns="0" tIns="0" rIns="0" bIns="0" rtlCol="0" anchor="ctr">
            <a:normAutofit/>
          </a:bodyPr>
          <a:lstStyle/>
          <a:p>
            <a:pPr algn="ctr" indent="0" marL="0">
              <a:buNone/>
            </a:pPr>
            <a:r>
              <a:rPr lang="en-US" sz="1250" b="1" u="sng" dirty="0">
                <a:solidFill>
                  <a:srgbClr val="1D6B62"/>
                </a:solidFill>
                <a:latin typeface="Aptos" pitchFamily="34" charset="0"/>
                <a:ea typeface="Aptos" pitchFamily="34" charset="-122"/>
                <a:cs typeface="Aptos" pitchFamily="34" charset="-120"/>
                <a:hlinkClick r:id="rId3" invalidUrl="" action="" tgtFrame="" tooltip="" history="1" highlightClick="0" endSnd="0">
                  <a:extLst>
                    <a:ext uri="{A12FA001-AC4F-418D-AE19-62706E023703}">
                      <ahyp:hlinkClr xmlns:ahyp="http://schemas.microsoft.com/office/drawing/2018/hyperlinkcolor" val="tx"/>
                    </a:ext>
                  </a:extLst>
                </a:hlinkClick>
              </a:rPr>
              <a:t>farmsforfood.sebastianalexis.com</a:t>
            </a:r>
            <a:endParaRPr lang="en-US" sz="1250" dirty="0"/>
          </a:p>
        </p:txBody>
      </p:sp>
      <p:sp>
        <p:nvSpPr>
          <p:cNvPr id="24" name="Text 21"/>
          <p:cNvSpPr/>
          <p:nvPr/>
        </p:nvSpPr>
        <p:spPr>
          <a:xfrm>
            <a:off x="7726680" y="4681728"/>
            <a:ext cx="1097280" cy="237744"/>
          </a:xfrm>
          <a:prstGeom prst="rect">
            <a:avLst/>
          </a:prstGeom>
          <a:noFill/>
          <a:ln/>
        </p:spPr>
        <p:txBody>
          <a:bodyPr wrap="square" lIns="0" tIns="0" rIns="0" bIns="0" rtlCol="0" anchor="ctr">
            <a:normAutofit/>
          </a:bodyPr>
          <a:lstStyle/>
          <a:p>
            <a:pPr indent="0" marL="0">
              <a:buNone/>
            </a:pPr>
            <a:r>
              <a:rPr lang="en-US" sz="1000" b="1" dirty="0">
                <a:solidFill>
                  <a:srgbClr val="61706D"/>
                </a:solidFill>
                <a:latin typeface="Aptos" pitchFamily="34" charset="0"/>
                <a:ea typeface="Aptos" pitchFamily="34" charset="-122"/>
                <a:cs typeface="Aptos" pitchFamily="34" charset="-120"/>
              </a:rPr>
              <a:t>Source code</a:t>
            </a:r>
            <a:endParaRPr lang="en-US" sz="1000" dirty="0"/>
          </a:p>
        </p:txBody>
      </p:sp>
      <p:sp>
        <p:nvSpPr>
          <p:cNvPr id="25" name="Text 22">
            <a:hlinkClick r:id="rId4" tooltip=""/>
          </p:cNvPr>
          <p:cNvSpPr/>
          <p:nvPr/>
        </p:nvSpPr>
        <p:spPr>
          <a:xfrm>
            <a:off x="8759952" y="4654296"/>
            <a:ext cx="2331720" cy="475488"/>
          </a:xfrm>
          <a:prstGeom prst="rect">
            <a:avLst/>
          </a:prstGeom>
          <a:noFill/>
          <a:ln/>
        </p:spPr>
        <p:txBody>
          <a:bodyPr wrap="square" lIns="0" tIns="0" rIns="0" bIns="0" rtlCol="0" anchor="ctr">
            <a:normAutofit/>
          </a:bodyPr>
          <a:lstStyle/>
          <a:p>
            <a:pPr indent="0" marL="0">
              <a:buNone/>
            </a:pPr>
            <a:r>
              <a:rPr lang="en-US" sz="1020" u="sng" dirty="0">
                <a:solidFill>
                  <a:srgbClr val="1D6B62"/>
                </a:solidFill>
                <a:latin typeface="Aptos" pitchFamily="34" charset="0"/>
                <a:ea typeface="Aptos" pitchFamily="34" charset="-122"/>
                <a:cs typeface="Aptos" pitchFamily="34" charset="-120"/>
                <a:hlinkClick r:id="rId4" invalidUrl="" action="" tgtFrame="" tooltip="" history="1" highlightClick="0" endSnd="0">
                  <a:extLst>
                    <a:ext uri="{A12FA001-AC4F-418D-AE19-62706E023703}">
                      <ahyp:hlinkClr xmlns:ahyp="http://schemas.microsoft.com/office/drawing/2018/hyperlinkcolor" val="tx"/>
                    </a:ext>
                  </a:extLst>
                </a:hlinkClick>
              </a:rPr>
              <a:t>github.com/Sebastian-Alexis/</a:t>
            </a:r>
            <a:endParaRPr lang="en-US" sz="1020" dirty="0"/>
          </a:p>
          <a:p>
            <a:pPr indent="0" marL="0">
              <a:buNone/>
            </a:pPr>
            <a:r>
              <a:rPr lang="en-US" sz="1020" u="sng" dirty="0">
                <a:solidFill>
                  <a:srgbClr val="1D6B62"/>
                </a:solidFill>
                <a:latin typeface="Aptos" pitchFamily="34" charset="0"/>
                <a:ea typeface="Aptos" pitchFamily="34" charset="-122"/>
                <a:cs typeface="Aptos" pitchFamily="34" charset="-120"/>
                <a:hlinkClick r:id="rId4" invalidUrl="" action="" tgtFrame="" tooltip="" history="1" highlightClick="0" endSnd="0">
                  <a:extLst>
                    <a:ext uri="{A12FA001-AC4F-418D-AE19-62706E023703}">
                      <ahyp:hlinkClr xmlns:ahyp="http://schemas.microsoft.com/office/drawing/2018/hyperlinkcolor" val="tx"/>
                    </a:ext>
                  </a:extLst>
                </a:hlinkClick>
              </a:rPr>
              <a:t>ai_supplychain_foodbank</a:t>
            </a:r>
            <a:endParaRPr lang="en-US" sz="1020" dirty="0"/>
          </a:p>
        </p:txBody>
      </p:sp>
      <p:sp>
        <p:nvSpPr>
          <p:cNvPr id="26" name="Shape 23"/>
          <p:cNvSpPr/>
          <p:nvPr/>
        </p:nvSpPr>
        <p:spPr>
          <a:xfrm>
            <a:off x="7726680" y="5532120"/>
            <a:ext cx="2286000" cy="274320"/>
          </a:xfrm>
          <a:prstGeom prst="roundRect">
            <a:avLst/>
          </a:prstGeom>
          <a:solidFill>
            <a:srgbClr val="1D6B62"/>
          </a:solidFill>
          <a:ln w="12700">
            <a:solidFill>
              <a:srgbClr val="1D6B62"/>
            </a:solidFill>
            <a:prstDash val="solid"/>
          </a:ln>
        </p:spPr>
      </p:sp>
      <p:sp>
        <p:nvSpPr>
          <p:cNvPr id="27" name="Text 24"/>
          <p:cNvSpPr/>
          <p:nvPr/>
        </p:nvSpPr>
        <p:spPr>
          <a:xfrm>
            <a:off x="7799832" y="5559552"/>
            <a:ext cx="2139696" cy="210312"/>
          </a:xfrm>
          <a:prstGeom prst="rect">
            <a:avLst/>
          </a:prstGeom>
          <a:noFill/>
          <a:ln/>
        </p:spPr>
        <p:txBody>
          <a:bodyPr wrap="square" lIns="0" tIns="0" rIns="0" bIns="0" rtlCol="0" anchor="ctr">
            <a:normAutofit/>
          </a:bodyPr>
          <a:lstStyle/>
          <a:p>
            <a:pPr algn="ctr" indent="0" marL="0">
              <a:buNone/>
            </a:pPr>
            <a:r>
              <a:rPr lang="en-US" sz="900" b="1" dirty="0">
                <a:solidFill>
                  <a:srgbClr val="FFFFFF"/>
                </a:solidFill>
                <a:latin typeface="Aptos" pitchFamily="34" charset="0"/>
                <a:ea typeface="Aptos" pitchFamily="34" charset="-122"/>
                <a:cs typeface="Aptos" pitchFamily="34" charset="-120"/>
              </a:rPr>
              <a:t>LIVE FEEDS · SYNTHETIC OPS</a:t>
            </a:r>
            <a:endParaRPr lang="en-US" sz="900" dirty="0"/>
          </a:p>
        </p:txBody>
      </p:sp>
      <p:sp>
        <p:nvSpPr>
          <p:cNvPr id="28" name="Text 25"/>
          <p:cNvSpPr/>
          <p:nvPr/>
        </p:nvSpPr>
        <p:spPr>
          <a:xfrm>
            <a:off x="10168128" y="5522976"/>
            <a:ext cx="1024128" cy="283464"/>
          </a:xfrm>
          <a:prstGeom prst="rect">
            <a:avLst/>
          </a:prstGeom>
          <a:noFill/>
          <a:ln/>
        </p:spPr>
        <p:txBody>
          <a:bodyPr wrap="square" lIns="0" tIns="0" rIns="0" bIns="0" rtlCol="0" anchor="ctr">
            <a:normAutofit/>
          </a:bodyPr>
          <a:lstStyle/>
          <a:p>
            <a:pPr indent="0" marL="0">
              <a:buNone/>
            </a:pPr>
            <a:r>
              <a:rPr lang="en-US" sz="920" dirty="0">
                <a:solidFill>
                  <a:srgbClr val="61706D"/>
                </a:solidFill>
                <a:latin typeface="Aptos" pitchFamily="34" charset="0"/>
                <a:ea typeface="Aptos" pitchFamily="34" charset="-122"/>
                <a:cs typeface="Aptos" pitchFamily="34" charset="-120"/>
              </a:rPr>
              <a:t>Human gate required.</a:t>
            </a:r>
            <a:endParaRPr lang="en-US" sz="920" dirty="0"/>
          </a:p>
        </p:txBody>
      </p:sp>
      <p:sp>
        <p:nvSpPr>
          <p:cNvPr id="29" name="Text 26"/>
          <p:cNvSpPr/>
          <p:nvPr/>
        </p:nvSpPr>
        <p:spPr>
          <a:xfrm>
            <a:off x="658368" y="6345936"/>
            <a:ext cx="6080760" cy="228600"/>
          </a:xfrm>
          <a:prstGeom prst="rect">
            <a:avLst/>
          </a:prstGeom>
          <a:noFill/>
          <a:ln/>
        </p:spPr>
        <p:txBody>
          <a:bodyPr wrap="square" lIns="0" tIns="0" rIns="0" bIns="0" rtlCol="0" anchor="ctr">
            <a:normAutofit/>
          </a:bodyPr>
          <a:lstStyle/>
          <a:p>
            <a:pPr indent="0" marL="0">
              <a:buNone/>
            </a:pPr>
            <a:r>
              <a:rPr lang="en-US" sz="850" b="1" dirty="0">
                <a:solidFill>
                  <a:srgbClr val="78B7A9"/>
                </a:solidFill>
                <a:latin typeface="Aptos" pitchFamily="34" charset="0"/>
                <a:ea typeface="Aptos" pitchFamily="34" charset="-122"/>
                <a:cs typeface="Aptos" pitchFamily="34" charset="-120"/>
              </a:rPr>
              <a:t>Sources: </a:t>
            </a:r>
            <a:pPr indent="0" marL="0">
              <a:buNone/>
            </a:pPr>
            <a:r>
              <a:rPr lang="en-US" sz="850" u="sng" dirty="0">
                <a:solidFill>
                  <a:srgbClr val="FFFDF8"/>
                </a:solidFill>
                <a:latin typeface="Aptos" pitchFamily="34" charset="0"/>
                <a:ea typeface="Aptos" pitchFamily="34" charset="-122"/>
                <a:cs typeface="Aptos" pitchFamily="34" charset="-120"/>
                <a:hlinkClick r:id="rId5" invalidUrl="" action="" tgtFrame="" tooltip="" history="1" highlightClick="0" endSnd="0">
                  <a:extLst>
                    <a:ext uri="{A12FA001-AC4F-418D-AE19-62706E023703}">
                      <ahyp:hlinkClr xmlns:ahyp="http://schemas.microsoft.com/office/drawing/2018/hyperlinkcolor" val="tx"/>
                    </a:ext>
                  </a:extLst>
                </a:hlinkClick>
              </a:rPr>
              <a:t>openFDA</a:t>
            </a:r>
            <a:pPr indent="0" marL="0">
              <a:buNone/>
            </a:pPr>
            <a:r>
              <a:rPr lang="en-US" sz="850" dirty="0">
                <a:solidFill>
                  <a:srgbClr val="48635E"/>
                </a:solidFill>
                <a:latin typeface="Aptos" pitchFamily="34" charset="0"/>
                <a:ea typeface="Aptos" pitchFamily="34" charset="-122"/>
                <a:cs typeface="Aptos" pitchFamily="34" charset="-120"/>
              </a:rPr>
              <a:t>  |  </a:t>
            </a:r>
            <a:pPr indent="0" marL="0">
              <a:buNone/>
            </a:pPr>
            <a:r>
              <a:rPr lang="en-US" sz="850" u="sng" dirty="0">
                <a:solidFill>
                  <a:srgbClr val="FFFDF8"/>
                </a:solidFill>
                <a:latin typeface="Aptos" pitchFamily="34" charset="0"/>
                <a:ea typeface="Aptos" pitchFamily="34" charset="-122"/>
                <a:cs typeface="Aptos" pitchFamily="34" charset="-120"/>
                <a:hlinkClick r:id="rId6" invalidUrl="" action="" tgtFrame="" tooltip="" history="1" highlightClick="0" endSnd="0">
                  <a:extLst>
                    <a:ext uri="{A12FA001-AC4F-418D-AE19-62706E023703}">
                      <ahyp:hlinkClr xmlns:ahyp="http://schemas.microsoft.com/office/drawing/2018/hyperlinkcolor" val="tx"/>
                    </a:ext>
                  </a:extLst>
                </a:hlinkClick>
              </a:rPr>
              <a:t>FSIS</a:t>
            </a:r>
            <a:pPr indent="0" marL="0">
              <a:buNone/>
            </a:pPr>
            <a:r>
              <a:rPr lang="en-US" sz="850" dirty="0">
                <a:solidFill>
                  <a:srgbClr val="48635E"/>
                </a:solidFill>
                <a:latin typeface="Aptos" pitchFamily="34" charset="0"/>
                <a:ea typeface="Aptos" pitchFamily="34" charset="-122"/>
                <a:cs typeface="Aptos" pitchFamily="34" charset="-120"/>
              </a:rPr>
              <a:t>  |  </a:t>
            </a:r>
            <a:pPr indent="0" marL="0">
              <a:buNone/>
            </a:pPr>
            <a:r>
              <a:rPr lang="en-US" sz="850" u="sng" dirty="0">
                <a:solidFill>
                  <a:srgbClr val="FFFDF8"/>
                </a:solidFill>
                <a:latin typeface="Aptos" pitchFamily="34" charset="0"/>
                <a:ea typeface="Aptos" pitchFamily="34" charset="-122"/>
                <a:cs typeface="Aptos" pitchFamily="34" charset="-120"/>
                <a:hlinkClick r:id="rId7" invalidUrl="" action="" tgtFrame="" tooltip="" history="1" highlightClick="0" endSnd="0">
                  <a:extLst>
                    <a:ext uri="{A12FA001-AC4F-418D-AE19-62706E023703}">
                      <ahyp:hlinkClr xmlns:ahyp="http://schemas.microsoft.com/office/drawing/2018/hyperlinkcolor" val="tx"/>
                    </a:ext>
                  </a:extLst>
                </a:hlinkClick>
              </a:rPr>
              <a:t>CDC/FDA</a:t>
            </a:r>
            <a:pPr indent="0" marL="0">
              <a:buNone/>
            </a:pPr>
            <a:r>
              <a:rPr lang="en-US" sz="850" dirty="0">
                <a:solidFill>
                  <a:srgbClr val="48635E"/>
                </a:solidFill>
                <a:latin typeface="Aptos" pitchFamily="34" charset="0"/>
                <a:ea typeface="Aptos" pitchFamily="34" charset="-122"/>
                <a:cs typeface="Aptos" pitchFamily="34" charset="-120"/>
              </a:rPr>
              <a:t>  |  </a:t>
            </a:r>
            <a:pPr indent="0" marL="0">
              <a:buNone/>
            </a:pPr>
            <a:r>
              <a:rPr lang="en-US" sz="850" u="sng" dirty="0">
                <a:solidFill>
                  <a:srgbClr val="FFFDF8"/>
                </a:solidFill>
                <a:latin typeface="Aptos" pitchFamily="34" charset="0"/>
                <a:ea typeface="Aptos" pitchFamily="34" charset="-122"/>
                <a:cs typeface="Aptos" pitchFamily="34" charset="-120"/>
                <a:hlinkClick r:id="rId8" invalidUrl="" action="" tgtFrame="" tooltip="" history="1" highlightClick="0" endSnd="0">
                  <a:extLst>
                    <a:ext uri="{A12FA001-AC4F-418D-AE19-62706E023703}">
                      <ahyp:hlinkClr xmlns:ahyp="http://schemas.microsoft.com/office/drawing/2018/hyperlinkcolor" val="tx"/>
                    </a:ext>
                  </a:extLst>
                </a:hlinkClick>
              </a:rPr>
              <a:t>SF-Marin</a:t>
            </a:r>
            <a:pPr indent="0" marL="0">
              <a:buNone/>
            </a:pPr>
            <a:r>
              <a:rPr lang="en-US" sz="850" dirty="0">
                <a:solidFill>
                  <a:srgbClr val="48635E"/>
                </a:solidFill>
                <a:latin typeface="Aptos" pitchFamily="34" charset="0"/>
                <a:ea typeface="Aptos" pitchFamily="34" charset="-122"/>
                <a:cs typeface="Aptos" pitchFamily="34" charset="-120"/>
              </a:rPr>
              <a:t>  |  </a:t>
            </a:r>
            <a:pPr indent="0" marL="0">
              <a:buNone/>
            </a:pPr>
            <a:r>
              <a:rPr lang="en-US" sz="850" u="sng" dirty="0">
                <a:solidFill>
                  <a:srgbClr val="FFFDF8"/>
                </a:solidFill>
                <a:latin typeface="Aptos" pitchFamily="34" charset="0"/>
                <a:ea typeface="Aptos" pitchFamily="34" charset="-122"/>
                <a:cs typeface="Aptos" pitchFamily="34" charset="-120"/>
                <a:hlinkClick r:id="rId9" invalidUrl="" action="" tgtFrame="" tooltip="" history="1" highlightClick="0" endSnd="0">
                  <a:extLst>
                    <a:ext uri="{A12FA001-AC4F-418D-AE19-62706E023703}">
                      <ahyp:hlinkClr xmlns:ahyp="http://schemas.microsoft.com/office/drawing/2018/hyperlinkcolor" val="tx"/>
                    </a:ext>
                  </a:extLst>
                </a:hlinkClick>
              </a:rPr>
              <a:t>RI Food Bank</a:t>
            </a:r>
            <a:endParaRPr lang="en-US" sz="850" dirty="0"/>
          </a:p>
        </p:txBody>
      </p:sp>
      <p:sp>
        <p:nvSpPr>
          <p:cNvPr id="30" name="Text 27"/>
          <p:cNvSpPr/>
          <p:nvPr/>
        </p:nvSpPr>
        <p:spPr>
          <a:xfrm>
            <a:off x="11448288" y="6428232"/>
            <a:ext cx="219456" cy="182880"/>
          </a:xfrm>
          <a:prstGeom prst="rect">
            <a:avLst/>
          </a:prstGeom>
          <a:noFill/>
          <a:ln/>
        </p:spPr>
        <p:txBody>
          <a:bodyPr wrap="square" lIns="0" tIns="0" rIns="0" bIns="0" rtlCol="0" anchor="ctr">
            <a:normAutofit/>
          </a:bodyPr>
          <a:lstStyle/>
          <a:p>
            <a:pPr algn="r" indent="0" marL="0">
              <a:buNone/>
            </a:pPr>
            <a:r>
              <a:rPr lang="en-US" sz="800" dirty="0">
                <a:solidFill>
                  <a:srgbClr val="78B7A9"/>
                </a:solidFill>
                <a:latin typeface="Aptos" pitchFamily="34" charset="0"/>
                <a:ea typeface="Aptos" pitchFamily="34" charset="-122"/>
                <a:cs typeface="Aptos" pitchFamily="34" charset="-120"/>
              </a:rPr>
              <a:t>9</a:t>
            </a:r>
            <a:endParaRPr lang="en-US" sz="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vector>
  </TitlesOfParts>
  <Company>Farms for Food</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Farms for Food — recall response command center</dc:title>
  <dc:subject>Human-approved food-bank recall response and recovery planning</dc:subject>
  <dc:creator>Farms for Food</dc:creator>
  <cp:lastModifiedBy>Farms for Food</cp:lastModifiedBy>
  <cp:revision>1</cp:revision>
  <dcterms:created xsi:type="dcterms:W3CDTF">2026-07-17T14:49:00Z</dcterms:created>
  <dcterms:modified xsi:type="dcterms:W3CDTF">2026-07-17T14:49:00Z</dcterms:modified>
</cp:coreProperties>
</file>