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 nothing</c:v>
                </c:pt>
              </c:strCache>
            </c:strRef>
          </c:tx>
          <c:spPr>
            <a:solidFill>
              <a:srgbClr val="64757A"/>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Sheet1!$B$2:$B$3</c:f>
              <c:numCache>
                <c:formatCode>General</c:formatCode>
                <c:ptCount val="2"/>
                <c:pt idx="0">
                  <c:v>10922.5</c:v>
                </c:pt>
                <c:pt idx="1">
                  <c:v>1677.5</c:v>
                </c:pt>
              </c:numCache>
            </c:numRef>
          </c:val>
        </c:ser>
        <c:ser>
          <c:idx val="1"/>
          <c:order val="1"/>
          <c:tx>
            <c:strRef>
              <c:f>Sheet1!$C$1</c:f>
              <c:strCache>
                <c:ptCount val="1"/>
                <c:pt idx="0">
                  <c:v>Recommended</c:v>
                </c:pt>
              </c:strCache>
            </c:strRef>
          </c:tx>
          <c:spPr>
            <a:solidFill>
              <a:srgbClr val="1D6B62"/>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Sheet1!$C$2:$C$3</c:f>
              <c:numCache>
                <c:formatCode>General</c:formatCode>
                <c:ptCount val="2"/>
                <c:pt idx="0">
                  <c:v>11922.5</c:v>
                </c:pt>
                <c:pt idx="1">
                  <c:v>677.5</c:v>
                </c:pt>
              </c:numCache>
            </c:numRef>
          </c:val>
        </c:ser>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3000"/>
          <c:min val="0"/>
        </c:scaling>
        <c:delete val="0"/>
        <c:axPos val="l"/>
        <c:majorGridlines>
          <c:spPr>
            <a:ln w="12700" cap="flat">
              <a:solidFill>
                <a:srgbClr val="88888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250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Farms for Food is a decision-support command center for food-bank recall response. Current openFDA and USDA FSIS incidents enter through official APIs, while inventory, purchase orders, demand, and recovery offers remain synthetic. Live records expose two explicit modes: a visibly prefixed SYN-LIVE trace sample for inspecting matches, or the untouched seed network for an honest zero-exposure check. Every action still stops at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public-record counts are evidence of volume, not a claim about food-bank-specific incident frequency. The network scale comes from the SF-Marin Food Bank annual report and illustrates why perishable inventory and distributed pantry demand complicate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is not summarization. It is a relational join across notice fields and operational records, followed by constrained recovery planning. Farms for Food makes each join inspectable.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boundary is deliberate. Each authority feed fails independently. Structured API fields are verified against the retained normalized source snapshot, and malformed fields cannot become operational facts. Language-model output cannot mutate inventory or approve a plan; approval revalidates identity, payload integrity, and hard constraints inside the state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source-evidence pairs come from the public deterministic positive-exposure replay and are enlarged so the provenance contract is inspectable in the room. Current openFDA and USDA FSIS records retain the same field-level provenance, authority warning, retrieval time, and source link. The default SYN-LIVE trace sample copies only source-supported identifiers into visibly synthetic records; switching it off checks the untouched seed network and presents an explicit no-exposure result when nothing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recommended plan adds 1,000 pounds served, cuts unmet demand by the same amount, raises the worst pantry fill rate by 15.5 percentage points, and cuts disrupted boxes from 168 to 68 for 550 dollars. The runtime is a measured software run; the manual-time comparator remains hypothetical and is intentionally excluded from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is idempotent, rejects unknown or stale plans, revalidates plan lines and payload integrity, and re-checks hard constraints. Any mismatch rejects the transaction before side effects. Communications are scoped to implicated lot IDs instead of broadcasting generic recall language to unaffected recipients.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source adapters retrieve current openFDA and USDA FSIS records, but an authority record is not evidence that the synthetic network is exposed. The deck does not report extraction accuracy because the committed live-model evaluation has not been run with an isolated credential. The gold set and scorer are committed for a reproducible future run. Operational outcomes remain synthetic and are not operator-validated.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next step is a bounded shadow pilot. The public command center already accepts current openFDA and USDA FSIS incidents while keeping food-bank operations synthetic. The goal of a pilot is to connect real operational records and validate the evidence loop with operators before making impact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ARMS_FOR_FOOD">
    <p:bg>
      <p:bgPr>
        <a:solidFill>
          <a:srgbClr val="F4F0E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Text 1"/>
          <p:cNvSpPr/>
          <p:nvPr/>
        </p:nvSpPr>
        <p:spPr>
          <a:xfrm>
            <a:off x="621792" y="256032"/>
            <a:ext cx="347472" cy="274320"/>
          </a:xfrm>
          <a:prstGeom prst="rect">
            <a:avLst/>
          </a:prstGeom>
          <a:solidFill>
            <a:srgbClr val="143B37"/>
          </a:solidFill>
          <a:ln/>
        </p:spPr>
        <p:txBody>
          <a:bodyPr wrap="square" lIns="0" tIns="0" rIns="0" bIns="0" rtlCol="0" anchor="ctr"/>
          <a:lstStyle/>
          <a:p>
            <a:pPr algn="ctr" indent="0" marL="0">
              <a:buNone/>
            </a:pPr>
            <a:r>
              <a:rPr lang="en-US" sz="850" b="1" dirty="0">
                <a:solidFill>
                  <a:srgbClr val="FFFDF8"/>
                </a:solidFill>
                <a:latin typeface="Aptos" pitchFamily="34" charset="0"/>
                <a:ea typeface="Aptos" pitchFamily="34" charset="-122"/>
                <a:cs typeface="Aptos" pitchFamily="34" charset="-120"/>
              </a:rPr>
              <a:t>FFF</a:t>
            </a:r>
            <a:endParaRPr lang="en-US" sz="850" dirty="0"/>
          </a:p>
        </p:txBody>
      </p:sp>
      <p:sp>
        <p:nvSpPr>
          <p:cNvPr id="4" name="Text 2"/>
          <p:cNvSpPr/>
          <p:nvPr/>
        </p:nvSpPr>
        <p:spPr>
          <a:xfrm>
            <a:off x="1033272" y="237744"/>
            <a:ext cx="1417320" cy="292608"/>
          </a:xfrm>
          <a:prstGeom prst="rect">
            <a:avLst/>
          </a:prstGeom>
          <a:noFill/>
          <a:ln/>
        </p:spPr>
        <p:txBody>
          <a:bodyPr wrap="square" lIns="0" tIns="0" rIns="0" bIns="0" rtlCol="0" anchor="ctr"/>
          <a:lstStyle/>
          <a:p>
            <a:pPr indent="0" marL="0">
              <a:buNone/>
            </a:pPr>
            <a:r>
              <a:rPr lang="en-US" sz="1100" b="1" dirty="0">
                <a:solidFill>
                  <a:srgbClr val="143B37"/>
                </a:solidFill>
                <a:latin typeface="Aptos" pitchFamily="34" charset="0"/>
                <a:ea typeface="Aptos" pitchFamily="34" charset="-122"/>
                <a:cs typeface="Aptos" pitchFamily="34" charset="-120"/>
              </a:rPr>
              <a:t>Farms for Food</a:t>
            </a:r>
            <a:endParaRPr lang="en-US" sz="11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pi.fda.gov/food/enforcement.json?search=recall_initiation_date:%5B20240101%2BTO%2B20241231%5D&amp;count=event_id&amp;limit=1000" TargetMode="External"/><Relationship Id="rId2" Type="http://schemas.openxmlformats.org/officeDocument/2006/relationships/hyperlink" Target="https://www.fsis.usda.gov/fsis/api/recall/v/1" TargetMode="External"/><Relationship Id="rId3" Type="http://schemas.openxmlformats.org/officeDocument/2006/relationships/hyperlink" Target="https://www.cdc.gov/ecoli/outbreaks/e-coli-O157.html" TargetMode="External"/><Relationship Id="rId4" Type="http://schemas.openxmlformats.org/officeDocument/2006/relationships/hyperlink" Target="https://www.sfmfoodbank.org/annual-report-2023-2024/" TargetMode="Externa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rifoodbank.org/wp-content/uploads/2023/06/Food-Safety-Recall-Process-doc.pdf" TargetMode="External"/><Relationship Id="rId2" Type="http://schemas.openxmlformats.org/officeDocument/2006/relationships/hyperlink" Target="https://mannafoodbank.org/agency-access-and-information/product-recalls/" TargetMode="External"/><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Sebastian-Alexis/ai_supplychain_foodbank/blob/main/PLAN.md#7-technical-architecture" TargetMode="External"/><Relationship Id="rId2" Type="http://schemas.openxmlformats.org/officeDocument/2006/relationships/hyperlink" Target="https://github.com/Sebastian-Alexis/ai_supplychain_foodbank/blob/main/foodshock/incident_sources.py" TargetMode="External"/><Relationship Id="rId3" Type="http://schemas.openxmlformats.org/officeDocument/2006/relationships/hyperlink" Target="https://github.com/Sebastian-Alexis/ai_supplychain_foodbank/blob/main/foodshock/engine.py" TargetMode="External"/><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hyperlink" Target="https://github.com/Sebastian-Alexis/ai_supplychain_foodbank/blob/main/foodshock/extraction.py" TargetMode="Externa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Sebastian-Alexis/ai_supplychain_foodbank/blob/main/foodshock/demo.py" TargetMode="External"/><Relationship Id="rId3" Type="http://schemas.openxmlformats.org/officeDocument/2006/relationships/hyperlink" Target="https://github.com/Sebastian-Alexis/ai_supplychain_foodbank/tree/main/data" TargetMode="External"/><Relationship Id="rId1" Type="http://schemas.openxmlformats.org/officeDocument/2006/relationships/chart" Target="/ppt/charts/chart1.xml"/><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hyperlink" Target="https://github.com/Sebastian-Alexis/ai_supplychain_foodbank/blob/main/tests/test_agent.py" TargetMode="Externa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Sebastian-Alexis/ai_supplychain_foodbank/blob/main/data/eval/gold.json" TargetMode="External"/><Relationship Id="rId2" Type="http://schemas.openxmlformats.org/officeDocument/2006/relationships/hyperlink" Target="https://github.com/Sebastian-Alexis/ai_supplychain_foodbank/blob/main/foodshock/eval_extraction.py" TargetMode="External"/><Relationship Id="rId3" Type="http://schemas.openxmlformats.org/officeDocument/2006/relationships/hyperlink" Target="https://github.com/Sebastian-Alexis/ai_supplychain_foodbank/tree/main/tests" TargetMode="External"/><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farmsforfood.sebastianalexis.com" TargetMode="External"/><Relationship Id="rId3" Type="http://schemas.openxmlformats.org/officeDocument/2006/relationships/hyperlink" Target="https://farmsforfood.sebastianalexis.com" TargetMode="External"/><Relationship Id="rId4" Type="http://schemas.openxmlformats.org/officeDocument/2006/relationships/hyperlink" Target="https://github.com/Sebastian-Alexis/ai_supplychain_foodbank" TargetMode="External"/><Relationship Id="rId5" Type="http://schemas.openxmlformats.org/officeDocument/2006/relationships/hyperlink" Target="https://api.fda.gov/food/enforcement.json" TargetMode="External"/><Relationship Id="rId6" Type="http://schemas.openxmlformats.org/officeDocument/2006/relationships/hyperlink" Target="https://www.fsis.usda.gov/recalls" TargetMode="External"/><Relationship Id="rId7" Type="http://schemas.openxmlformats.org/officeDocument/2006/relationships/hyperlink" Target="https://www.cdc.gov/ecoli/outbreaks/e-coli-O157.html" TargetMode="External"/><Relationship Id="rId8" Type="http://schemas.openxmlformats.org/officeDocument/2006/relationships/hyperlink" Target="https://www.sfmfoodbank.org/annual-report-2023-2024/" TargetMode="External"/><Relationship Id="rId9" Type="http://schemas.openxmlformats.org/officeDocument/2006/relationships/hyperlink" Target="https://rifoodbank.org/wp-content/uploads/2023/06/Food-Safety-Recall-Process-doc.pdf" TargetMode="External"/><Relationship Id="rId1" Type="http://schemas.openxmlformats.org/officeDocument/2006/relationships/image" Target="../media/image-9-1.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7269480" y="0"/>
            <a:ext cx="4919472" cy="6858000"/>
          </a:xfrm>
          <a:prstGeom prst="rect">
            <a:avLst/>
          </a:prstGeom>
          <a:solidFill>
            <a:srgbClr val="0E302D"/>
          </a:solidFill>
          <a:ln w="12700">
            <a:solidFill>
              <a:srgbClr val="0E302D"/>
            </a:solidFill>
            <a:prstDash val="solid"/>
          </a:ln>
        </p:spPr>
      </p:sp>
      <p:sp>
        <p:nvSpPr>
          <p:cNvPr id="4" name="Shape 2"/>
          <p:cNvSpPr/>
          <p:nvPr/>
        </p:nvSpPr>
        <p:spPr>
          <a:xfrm>
            <a:off x="658368" y="548640"/>
            <a:ext cx="438912" cy="438912"/>
          </a:xfrm>
          <a:prstGeom prst="rect">
            <a:avLst/>
          </a:prstGeom>
          <a:solidFill>
            <a:srgbClr val="FFFDF8">
              <a:alpha val="0"/>
            </a:srgbClr>
          </a:solidFill>
          <a:ln w="12700">
            <a:solidFill>
              <a:srgbClr val="FFFDF8"/>
            </a:solidFill>
            <a:prstDash val="solid"/>
          </a:ln>
        </p:spPr>
      </p:sp>
      <p:sp>
        <p:nvSpPr>
          <p:cNvPr id="5" name="Text 3"/>
          <p:cNvSpPr/>
          <p:nvPr/>
        </p:nvSpPr>
        <p:spPr>
          <a:xfrm>
            <a:off x="658368" y="594360"/>
            <a:ext cx="438912" cy="292608"/>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FFF</a:t>
            </a:r>
            <a:endParaRPr lang="en-US" sz="1000" dirty="0"/>
          </a:p>
        </p:txBody>
      </p:sp>
      <p:sp>
        <p:nvSpPr>
          <p:cNvPr id="6" name="Text 4"/>
          <p:cNvSpPr/>
          <p:nvPr/>
        </p:nvSpPr>
        <p:spPr>
          <a:xfrm>
            <a:off x="1261872" y="576072"/>
            <a:ext cx="2011680" cy="329184"/>
          </a:xfrm>
          <a:prstGeom prst="rect">
            <a:avLst/>
          </a:prstGeom>
          <a:noFill/>
          <a:ln/>
        </p:spPr>
        <p:txBody>
          <a:bodyPr wrap="square" lIns="0" tIns="0" rIns="0" bIns="0" rtlCol="0" anchor="ctr">
            <a:normAutofit/>
          </a:bodyPr>
          <a:lstStyle/>
          <a:p>
            <a:pPr indent="0" marL="0">
              <a:buNone/>
            </a:pPr>
            <a:r>
              <a:rPr lang="en-US" sz="1500" b="1" dirty="0">
                <a:solidFill>
                  <a:srgbClr val="FFFDF8"/>
                </a:solidFill>
                <a:latin typeface="Aptos" pitchFamily="34" charset="0"/>
                <a:ea typeface="Aptos" pitchFamily="34" charset="-122"/>
                <a:cs typeface="Aptos" pitchFamily="34" charset="-120"/>
              </a:rPr>
              <a:t>Farms for Food</a:t>
            </a:r>
            <a:endParaRPr lang="en-US" sz="1500" dirty="0"/>
          </a:p>
        </p:txBody>
      </p:sp>
      <p:sp>
        <p:nvSpPr>
          <p:cNvPr id="7" name="Text 5"/>
          <p:cNvSpPr/>
          <p:nvPr/>
        </p:nvSpPr>
        <p:spPr>
          <a:xfrm>
            <a:off x="658368" y="1417320"/>
            <a:ext cx="5303520" cy="274320"/>
          </a:xfrm>
          <a:prstGeom prst="rect">
            <a:avLst/>
          </a:prstGeom>
          <a:noFill/>
          <a:ln/>
        </p:spPr>
        <p:txBody>
          <a:bodyPr wrap="square" lIns="0" tIns="0" rIns="0" bIns="0" rtlCol="0" anchor="ctr">
            <a:normAutofit/>
          </a:bodyPr>
          <a:lstStyle/>
          <a:p>
            <a:pPr indent="0" marL="0">
              <a:buNone/>
            </a:pPr>
            <a:r>
              <a:rPr lang="en-US" sz="1050" b="1" spc="150" kern="0" dirty="0">
                <a:solidFill>
                  <a:srgbClr val="78B7A9"/>
                </a:solidFill>
                <a:latin typeface="Aptos" pitchFamily="34" charset="0"/>
                <a:ea typeface="Aptos" pitchFamily="34" charset="-122"/>
                <a:cs typeface="Aptos" pitchFamily="34" charset="-120"/>
              </a:rPr>
              <a:t>RECALL RESPONSE COMMAND CENTER</a:t>
            </a:r>
            <a:endParaRPr lang="en-US" sz="1050" dirty="0"/>
          </a:p>
        </p:txBody>
      </p:sp>
      <p:sp>
        <p:nvSpPr>
          <p:cNvPr id="8" name="Text 6"/>
          <p:cNvSpPr/>
          <p:nvPr/>
        </p:nvSpPr>
        <p:spPr>
          <a:xfrm>
            <a:off x="658368" y="1783080"/>
            <a:ext cx="6400800" cy="1298448"/>
          </a:xfrm>
          <a:prstGeom prst="rect">
            <a:avLst/>
          </a:prstGeom>
          <a:noFill/>
          <a:ln/>
        </p:spPr>
        <p:txBody>
          <a:bodyPr wrap="square" lIns="0" tIns="0" rIns="0" bIns="0" rtlCol="0" anchor="t">
            <a:normAutofit/>
          </a:bodyPr>
          <a:lstStyle/>
          <a:p>
            <a:pPr indent="0" marL="0">
              <a:buNone/>
            </a:pPr>
            <a:r>
              <a:rPr lang="en-US" sz="3700" b="1" dirty="0">
                <a:solidFill>
                  <a:srgbClr val="FFFDF8"/>
                </a:solidFill>
                <a:latin typeface="Aptos Display" pitchFamily="34" charset="0"/>
                <a:ea typeface="Aptos Display" pitchFamily="34" charset="-122"/>
                <a:cs typeface="Aptos Display" pitchFamily="34" charset="-120"/>
              </a:rPr>
              <a:t>From recall notice to</a:t>
            </a:r>
            <a:endParaRPr lang="en-US" sz="3700" dirty="0"/>
          </a:p>
          <a:p>
            <a:pPr indent="0" marL="0">
              <a:buNone/>
            </a:pPr>
            <a:r>
              <a:rPr lang="en-US" sz="3700" b="1" dirty="0">
                <a:solidFill>
                  <a:srgbClr val="FFFDF8"/>
                </a:solidFill>
                <a:latin typeface="Aptos Display" pitchFamily="34" charset="0"/>
                <a:ea typeface="Aptos Display" pitchFamily="34" charset="-122"/>
                <a:cs typeface="Aptos Display" pitchFamily="34" charset="-120"/>
              </a:rPr>
              <a:t>human-approved recovery plan.</a:t>
            </a:r>
            <a:endParaRPr lang="en-US" sz="3700" dirty="0"/>
          </a:p>
        </p:txBody>
      </p:sp>
      <p:sp>
        <p:nvSpPr>
          <p:cNvPr id="9" name="Text 7"/>
          <p:cNvSpPr/>
          <p:nvPr/>
        </p:nvSpPr>
        <p:spPr>
          <a:xfrm>
            <a:off x="658368" y="3456432"/>
            <a:ext cx="6309360" cy="914400"/>
          </a:xfrm>
          <a:prstGeom prst="rect">
            <a:avLst/>
          </a:prstGeom>
          <a:noFill/>
          <a:ln/>
        </p:spPr>
        <p:txBody>
          <a:bodyPr wrap="square" lIns="0" tIns="0" rIns="0" bIns="0" rtlCol="0" anchor="t">
            <a:normAutofit/>
          </a:bodyPr>
          <a:lstStyle/>
          <a:p>
            <a:pPr indent="0" marL="0">
              <a:buNone/>
            </a:pPr>
            <a:r>
              <a:rPr lang="en-US" sz="1800" dirty="0">
                <a:solidFill>
                  <a:srgbClr val="D7E7E1"/>
                </a:solidFill>
                <a:latin typeface="Aptos" pitchFamily="34" charset="0"/>
                <a:ea typeface="Aptos" pitchFamily="34" charset="-122"/>
                <a:cs typeface="Aptos" pitchFamily="34" charset="-120"/>
              </a:rPr>
              <a:t>Trace implicated lots and inbound orders, quantify 7-day supply risk, then optimize a feasible response before anything executes.</a:t>
            </a:r>
            <a:endParaRPr lang="en-US" sz="1800" dirty="0"/>
          </a:p>
        </p:txBody>
      </p:sp>
      <p:sp>
        <p:nvSpPr>
          <p:cNvPr id="10" name="Shape 8"/>
          <p:cNvSpPr/>
          <p:nvPr/>
        </p:nvSpPr>
        <p:spPr>
          <a:xfrm>
            <a:off x="7726680" y="1344168"/>
            <a:ext cx="621792" cy="621792"/>
          </a:xfrm>
          <a:prstGeom prst="ellipse">
            <a:avLst/>
          </a:prstGeom>
          <a:solidFill>
            <a:srgbClr val="1D6B62"/>
          </a:solidFill>
          <a:ln w="12700">
            <a:solidFill>
              <a:srgbClr val="FFFDF8">
                <a:alpha val="55000"/>
              </a:srgbClr>
            </a:solidFill>
            <a:prstDash val="solid"/>
          </a:ln>
        </p:spPr>
      </p:sp>
      <p:sp>
        <p:nvSpPr>
          <p:cNvPr id="11" name="Text 9"/>
          <p:cNvSpPr/>
          <p:nvPr/>
        </p:nvSpPr>
        <p:spPr>
          <a:xfrm>
            <a:off x="772668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2" name="Text 10"/>
          <p:cNvSpPr/>
          <p:nvPr/>
        </p:nvSpPr>
        <p:spPr>
          <a:xfrm>
            <a:off x="755294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NOTICE</a:t>
            </a:r>
            <a:endParaRPr lang="en-US" sz="1000" dirty="0"/>
          </a:p>
        </p:txBody>
      </p:sp>
      <p:sp>
        <p:nvSpPr>
          <p:cNvPr id="13" name="Text 11"/>
          <p:cNvSpPr/>
          <p:nvPr/>
        </p:nvSpPr>
        <p:spPr>
          <a:xfrm>
            <a:off x="7498080" y="2340864"/>
            <a:ext cx="1078992" cy="219456"/>
          </a:xfrm>
          <a:prstGeom prst="rect">
            <a:avLst/>
          </a:prstGeom>
          <a:noFill/>
          <a:ln/>
        </p:spPr>
        <p:txBody>
          <a:bodyPr wrap="square" lIns="0" tIns="0" rIns="0" bIns="0" rtlCol="0" anchor="ctr">
            <a:normAutofit/>
          </a:bodyPr>
          <a:lstStyle/>
          <a:p>
            <a:pPr algn="ctr" indent="0" marL="0">
              <a:buNone/>
            </a:pPr>
            <a:r>
              <a:rPr lang="en-US" sz="900" dirty="0">
                <a:solidFill>
                  <a:srgbClr val="D7E7E1"/>
                </a:solidFill>
                <a:latin typeface="Aptos" pitchFamily="34" charset="0"/>
                <a:ea typeface="Aptos" pitchFamily="34" charset="-122"/>
                <a:cs typeface="Aptos" pitchFamily="34" charset="-120"/>
              </a:rPr>
              <a:t>live authority</a:t>
            </a:r>
            <a:endParaRPr lang="en-US" sz="900" dirty="0"/>
          </a:p>
        </p:txBody>
      </p:sp>
      <p:sp>
        <p:nvSpPr>
          <p:cNvPr id="14" name="Shape 12"/>
          <p:cNvSpPr/>
          <p:nvPr/>
        </p:nvSpPr>
        <p:spPr>
          <a:xfrm>
            <a:off x="8385048" y="1655064"/>
            <a:ext cx="310896" cy="0"/>
          </a:xfrm>
          <a:prstGeom prst="line">
            <a:avLst/>
          </a:prstGeom>
          <a:noFill/>
          <a:ln w="16510">
            <a:solidFill>
              <a:srgbClr val="78B7A9"/>
            </a:solidFill>
            <a:prstDash val="solid"/>
            <a:headEnd type="none"/>
            <a:tailEnd type="triangle"/>
          </a:ln>
        </p:spPr>
      </p:sp>
      <p:sp>
        <p:nvSpPr>
          <p:cNvPr id="15" name="Shape 13"/>
          <p:cNvSpPr/>
          <p:nvPr/>
        </p:nvSpPr>
        <p:spPr>
          <a:xfrm>
            <a:off x="8732520" y="1344168"/>
            <a:ext cx="621792" cy="621792"/>
          </a:xfrm>
          <a:prstGeom prst="ellipse">
            <a:avLst/>
          </a:prstGeom>
          <a:solidFill>
            <a:srgbClr val="1D6B62"/>
          </a:solidFill>
          <a:ln w="12700">
            <a:solidFill>
              <a:srgbClr val="FFFDF8">
                <a:alpha val="55000"/>
              </a:srgbClr>
            </a:solidFill>
            <a:prstDash val="solid"/>
          </a:ln>
        </p:spPr>
      </p:sp>
      <p:sp>
        <p:nvSpPr>
          <p:cNvPr id="16" name="Text 14"/>
          <p:cNvSpPr/>
          <p:nvPr/>
        </p:nvSpPr>
        <p:spPr>
          <a:xfrm>
            <a:off x="873252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7" name="Text 15"/>
          <p:cNvSpPr/>
          <p:nvPr/>
        </p:nvSpPr>
        <p:spPr>
          <a:xfrm>
            <a:off x="855878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TRACE</a:t>
            </a:r>
            <a:endParaRPr lang="en-US" sz="1000" dirty="0"/>
          </a:p>
        </p:txBody>
      </p:sp>
      <p:sp>
        <p:nvSpPr>
          <p:cNvPr id="18" name="Text 16"/>
          <p:cNvSpPr/>
          <p:nvPr/>
        </p:nvSpPr>
        <p:spPr>
          <a:xfrm>
            <a:off x="8503920" y="2340864"/>
            <a:ext cx="1078992" cy="219456"/>
          </a:xfrm>
          <a:prstGeom prst="rect">
            <a:avLst/>
          </a:prstGeom>
          <a:noFill/>
          <a:ln/>
        </p:spPr>
        <p:txBody>
          <a:bodyPr wrap="square" lIns="0" tIns="0" rIns="0" bIns="0" rtlCol="0" anchor="ctr">
            <a:normAutofit/>
          </a:bodyPr>
          <a:lstStyle/>
          <a:p>
            <a:pPr algn="ctr" indent="0" marL="0">
              <a:buNone/>
            </a:pPr>
            <a:r>
              <a:rPr lang="en-US" sz="900" dirty="0">
                <a:solidFill>
                  <a:srgbClr val="D7E7E1"/>
                </a:solidFill>
                <a:latin typeface="Aptos" pitchFamily="34" charset="0"/>
                <a:ea typeface="Aptos" pitchFamily="34" charset="-122"/>
                <a:cs typeface="Aptos" pitchFamily="34" charset="-120"/>
              </a:rPr>
              <a:t>lots + POs</a:t>
            </a:r>
            <a:endParaRPr lang="en-US" sz="900" dirty="0"/>
          </a:p>
        </p:txBody>
      </p:sp>
      <p:sp>
        <p:nvSpPr>
          <p:cNvPr id="19" name="Shape 17"/>
          <p:cNvSpPr/>
          <p:nvPr/>
        </p:nvSpPr>
        <p:spPr>
          <a:xfrm>
            <a:off x="9390888" y="1655064"/>
            <a:ext cx="310896" cy="0"/>
          </a:xfrm>
          <a:prstGeom prst="line">
            <a:avLst/>
          </a:prstGeom>
          <a:noFill/>
          <a:ln w="16510">
            <a:solidFill>
              <a:srgbClr val="78B7A9"/>
            </a:solidFill>
            <a:prstDash val="solid"/>
            <a:headEnd type="none"/>
            <a:tailEnd type="triangle"/>
          </a:ln>
        </p:spPr>
      </p:sp>
      <p:sp>
        <p:nvSpPr>
          <p:cNvPr id="20" name="Shape 18"/>
          <p:cNvSpPr/>
          <p:nvPr/>
        </p:nvSpPr>
        <p:spPr>
          <a:xfrm>
            <a:off x="9738360" y="1344168"/>
            <a:ext cx="621792" cy="621792"/>
          </a:xfrm>
          <a:prstGeom prst="ellipse">
            <a:avLst/>
          </a:prstGeom>
          <a:solidFill>
            <a:srgbClr val="1D6B62"/>
          </a:solidFill>
          <a:ln w="12700">
            <a:solidFill>
              <a:srgbClr val="FFFDF8">
                <a:alpha val="55000"/>
              </a:srgbClr>
            </a:solidFill>
            <a:prstDash val="solid"/>
          </a:ln>
        </p:spPr>
      </p:sp>
      <p:sp>
        <p:nvSpPr>
          <p:cNvPr id="21" name="Text 19"/>
          <p:cNvSpPr/>
          <p:nvPr/>
        </p:nvSpPr>
        <p:spPr>
          <a:xfrm>
            <a:off x="973836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2" name="Text 20"/>
          <p:cNvSpPr/>
          <p:nvPr/>
        </p:nvSpPr>
        <p:spPr>
          <a:xfrm>
            <a:off x="956462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REPLAN</a:t>
            </a:r>
            <a:endParaRPr lang="en-US" sz="1000" dirty="0"/>
          </a:p>
        </p:txBody>
      </p:sp>
      <p:sp>
        <p:nvSpPr>
          <p:cNvPr id="23" name="Text 21"/>
          <p:cNvSpPr/>
          <p:nvPr/>
        </p:nvSpPr>
        <p:spPr>
          <a:xfrm>
            <a:off x="9509760" y="2340864"/>
            <a:ext cx="1078992" cy="219456"/>
          </a:xfrm>
          <a:prstGeom prst="rect">
            <a:avLst/>
          </a:prstGeom>
          <a:noFill/>
          <a:ln/>
        </p:spPr>
        <p:txBody>
          <a:bodyPr wrap="square" lIns="0" tIns="0" rIns="0" bIns="0" rtlCol="0" anchor="ctr">
            <a:normAutofit/>
          </a:bodyPr>
          <a:lstStyle/>
          <a:p>
            <a:pPr algn="ctr" indent="0" marL="0">
              <a:buNone/>
            </a:pPr>
            <a:r>
              <a:rPr lang="en-US" sz="900" dirty="0">
                <a:solidFill>
                  <a:srgbClr val="D7E7E1"/>
                </a:solidFill>
                <a:latin typeface="Aptos" pitchFamily="34" charset="0"/>
                <a:ea typeface="Aptos" pitchFamily="34" charset="-122"/>
                <a:cs typeface="Aptos" pitchFamily="34" charset="-120"/>
              </a:rPr>
              <a:t>LP + FEFO</a:t>
            </a:r>
            <a:endParaRPr lang="en-US" sz="900" dirty="0"/>
          </a:p>
        </p:txBody>
      </p:sp>
      <p:sp>
        <p:nvSpPr>
          <p:cNvPr id="24" name="Shape 22"/>
          <p:cNvSpPr/>
          <p:nvPr/>
        </p:nvSpPr>
        <p:spPr>
          <a:xfrm>
            <a:off x="10396728" y="1655064"/>
            <a:ext cx="310896" cy="0"/>
          </a:xfrm>
          <a:prstGeom prst="line">
            <a:avLst/>
          </a:prstGeom>
          <a:noFill/>
          <a:ln w="16510">
            <a:solidFill>
              <a:srgbClr val="78B7A9"/>
            </a:solidFill>
            <a:prstDash val="solid"/>
            <a:headEnd type="none"/>
            <a:tailEnd type="triangle"/>
          </a:ln>
        </p:spPr>
      </p:sp>
      <p:sp>
        <p:nvSpPr>
          <p:cNvPr id="25" name="Shape 23"/>
          <p:cNvSpPr/>
          <p:nvPr/>
        </p:nvSpPr>
        <p:spPr>
          <a:xfrm>
            <a:off x="10744200" y="1344168"/>
            <a:ext cx="621792" cy="621792"/>
          </a:xfrm>
          <a:prstGeom prst="ellipse">
            <a:avLst/>
          </a:prstGeom>
          <a:solidFill>
            <a:srgbClr val="B94735"/>
          </a:solidFill>
          <a:ln w="12700">
            <a:solidFill>
              <a:srgbClr val="FFFDF8">
                <a:alpha val="55000"/>
              </a:srgbClr>
            </a:solidFill>
            <a:prstDash val="solid"/>
          </a:ln>
        </p:spPr>
      </p:sp>
      <p:sp>
        <p:nvSpPr>
          <p:cNvPr id="26" name="Text 24"/>
          <p:cNvSpPr/>
          <p:nvPr/>
        </p:nvSpPr>
        <p:spPr>
          <a:xfrm>
            <a:off x="1074420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1057046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APPROVE</a:t>
            </a:r>
            <a:endParaRPr lang="en-US" sz="1000" dirty="0"/>
          </a:p>
        </p:txBody>
      </p:sp>
      <p:sp>
        <p:nvSpPr>
          <p:cNvPr id="28" name="Text 26"/>
          <p:cNvSpPr/>
          <p:nvPr/>
        </p:nvSpPr>
        <p:spPr>
          <a:xfrm>
            <a:off x="10515600" y="2340864"/>
            <a:ext cx="1078992" cy="219456"/>
          </a:xfrm>
          <a:prstGeom prst="rect">
            <a:avLst/>
          </a:prstGeom>
          <a:noFill/>
          <a:ln/>
        </p:spPr>
        <p:txBody>
          <a:bodyPr wrap="square" lIns="0" tIns="0" rIns="0" bIns="0" rtlCol="0" anchor="ctr">
            <a:normAutofit/>
          </a:bodyPr>
          <a:lstStyle/>
          <a:p>
            <a:pPr algn="ctr" indent="0" marL="0">
              <a:buNone/>
            </a:pPr>
            <a:r>
              <a:rPr lang="en-US" sz="900" dirty="0">
                <a:solidFill>
                  <a:srgbClr val="D7E7E1"/>
                </a:solidFill>
                <a:latin typeface="Aptos" pitchFamily="34" charset="0"/>
                <a:ea typeface="Aptos" pitchFamily="34" charset="-122"/>
                <a:cs typeface="Aptos" pitchFamily="34" charset="-120"/>
              </a:rPr>
              <a:t>human gate</a:t>
            </a:r>
            <a:endParaRPr lang="en-US" sz="900" dirty="0"/>
          </a:p>
        </p:txBody>
      </p:sp>
      <p:sp>
        <p:nvSpPr>
          <p:cNvPr id="29" name="Shape 27"/>
          <p:cNvSpPr/>
          <p:nvPr/>
        </p:nvSpPr>
        <p:spPr>
          <a:xfrm>
            <a:off x="7726680" y="3246120"/>
            <a:ext cx="1188720" cy="1325880"/>
          </a:xfrm>
          <a:prstGeom prst="roundRect">
            <a:avLst>
              <a:gd name="adj" fmla="val 6154"/>
            </a:avLst>
          </a:prstGeom>
          <a:solidFill>
            <a:srgbClr val="FFFDF8"/>
          </a:solidFill>
          <a:ln w="12700">
            <a:solidFill>
              <a:srgbClr val="D9D2C2"/>
            </a:solidFill>
            <a:prstDash val="solid"/>
          </a:ln>
        </p:spPr>
      </p:sp>
      <p:sp>
        <p:nvSpPr>
          <p:cNvPr id="30" name="Shape 28"/>
          <p:cNvSpPr/>
          <p:nvPr/>
        </p:nvSpPr>
        <p:spPr>
          <a:xfrm>
            <a:off x="7726680" y="3246120"/>
            <a:ext cx="73152" cy="1325880"/>
          </a:xfrm>
          <a:prstGeom prst="rect">
            <a:avLst/>
          </a:prstGeom>
          <a:solidFill>
            <a:srgbClr val="78B7A9"/>
          </a:solidFill>
          <a:ln w="12700">
            <a:solidFill>
              <a:srgbClr val="78B7A9"/>
            </a:solidFill>
            <a:prstDash val="solid"/>
          </a:ln>
        </p:spPr>
      </p:sp>
      <p:sp>
        <p:nvSpPr>
          <p:cNvPr id="31" name="Text 29"/>
          <p:cNvSpPr/>
          <p:nvPr/>
        </p:nvSpPr>
        <p:spPr>
          <a:xfrm>
            <a:off x="79095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0.10s</a:t>
            </a:r>
            <a:endParaRPr lang="en-US" sz="2500" dirty="0"/>
          </a:p>
        </p:txBody>
      </p:sp>
      <p:sp>
        <p:nvSpPr>
          <p:cNvPr id="32" name="Text 30"/>
          <p:cNvSpPr/>
          <p:nvPr/>
        </p:nvSpPr>
        <p:spPr>
          <a:xfrm>
            <a:off x="79095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3" name="Text 31"/>
          <p:cNvSpPr/>
          <p:nvPr/>
        </p:nvSpPr>
        <p:spPr>
          <a:xfrm>
            <a:off x="79095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deployed seeded run</a:t>
            </a:r>
            <a:endParaRPr lang="en-US" sz="850" dirty="0"/>
          </a:p>
        </p:txBody>
      </p:sp>
      <p:sp>
        <p:nvSpPr>
          <p:cNvPr id="34" name="Shape 32"/>
          <p:cNvSpPr/>
          <p:nvPr/>
        </p:nvSpPr>
        <p:spPr>
          <a:xfrm>
            <a:off x="9098280" y="3246120"/>
            <a:ext cx="1188720" cy="1325880"/>
          </a:xfrm>
          <a:prstGeom prst="roundRect">
            <a:avLst>
              <a:gd name="adj" fmla="val 6154"/>
            </a:avLst>
          </a:prstGeom>
          <a:solidFill>
            <a:srgbClr val="FFFDF8"/>
          </a:solidFill>
          <a:ln w="12700">
            <a:solidFill>
              <a:srgbClr val="D9D2C2"/>
            </a:solidFill>
            <a:prstDash val="solid"/>
          </a:ln>
        </p:spPr>
      </p:sp>
      <p:sp>
        <p:nvSpPr>
          <p:cNvPr id="35" name="Shape 33"/>
          <p:cNvSpPr/>
          <p:nvPr/>
        </p:nvSpPr>
        <p:spPr>
          <a:xfrm>
            <a:off x="9098280" y="3246120"/>
            <a:ext cx="73152" cy="1325880"/>
          </a:xfrm>
          <a:prstGeom prst="rect">
            <a:avLst/>
          </a:prstGeom>
          <a:solidFill>
            <a:srgbClr val="B94735"/>
          </a:solidFill>
          <a:ln w="12700">
            <a:solidFill>
              <a:srgbClr val="B94735"/>
            </a:solidFill>
            <a:prstDash val="solid"/>
          </a:ln>
        </p:spPr>
      </p:sp>
      <p:sp>
        <p:nvSpPr>
          <p:cNvPr id="36" name="Text 34"/>
          <p:cNvSpPr/>
          <p:nvPr/>
        </p:nvSpPr>
        <p:spPr>
          <a:xfrm>
            <a:off x="92811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+1,000</a:t>
            </a:r>
            <a:endParaRPr lang="en-US" sz="2500" dirty="0"/>
          </a:p>
        </p:txBody>
      </p:sp>
      <p:sp>
        <p:nvSpPr>
          <p:cNvPr id="37" name="Text 35"/>
          <p:cNvSpPr/>
          <p:nvPr/>
        </p:nvSpPr>
        <p:spPr>
          <a:xfrm>
            <a:off x="92811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lb served</a:t>
            </a:r>
            <a:endParaRPr lang="en-US" sz="1050" dirty="0"/>
          </a:p>
        </p:txBody>
      </p:sp>
      <p:sp>
        <p:nvSpPr>
          <p:cNvPr id="38" name="Text 36"/>
          <p:cNvSpPr/>
          <p:nvPr/>
        </p:nvSpPr>
        <p:spPr>
          <a:xfrm>
            <a:off x="92811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vs baseline</a:t>
            </a:r>
            <a:endParaRPr lang="en-US" sz="850" dirty="0"/>
          </a:p>
        </p:txBody>
      </p:sp>
      <p:sp>
        <p:nvSpPr>
          <p:cNvPr id="39" name="Shape 37"/>
          <p:cNvSpPr/>
          <p:nvPr/>
        </p:nvSpPr>
        <p:spPr>
          <a:xfrm>
            <a:off x="10469880" y="3246120"/>
            <a:ext cx="1188720" cy="1325880"/>
          </a:xfrm>
          <a:prstGeom prst="roundRect">
            <a:avLst>
              <a:gd name="adj" fmla="val 6154"/>
            </a:avLst>
          </a:prstGeom>
          <a:solidFill>
            <a:srgbClr val="FFFDF8"/>
          </a:solidFill>
          <a:ln w="12700">
            <a:solidFill>
              <a:srgbClr val="D9D2C2"/>
            </a:solidFill>
            <a:prstDash val="solid"/>
          </a:ln>
        </p:spPr>
      </p:sp>
      <p:sp>
        <p:nvSpPr>
          <p:cNvPr id="40" name="Shape 38"/>
          <p:cNvSpPr/>
          <p:nvPr/>
        </p:nvSpPr>
        <p:spPr>
          <a:xfrm>
            <a:off x="10469880" y="3246120"/>
            <a:ext cx="73152" cy="1325880"/>
          </a:xfrm>
          <a:prstGeom prst="rect">
            <a:avLst/>
          </a:prstGeom>
          <a:solidFill>
            <a:srgbClr val="78B7A9"/>
          </a:solidFill>
          <a:ln w="12700">
            <a:solidFill>
              <a:srgbClr val="78B7A9"/>
            </a:solidFill>
            <a:prstDash val="solid"/>
          </a:ln>
        </p:spPr>
      </p:sp>
      <p:sp>
        <p:nvSpPr>
          <p:cNvPr id="41" name="Text 39"/>
          <p:cNvSpPr/>
          <p:nvPr/>
        </p:nvSpPr>
        <p:spPr>
          <a:xfrm>
            <a:off x="106527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42" name="Text 40"/>
          <p:cNvSpPr/>
          <p:nvPr/>
        </p:nvSpPr>
        <p:spPr>
          <a:xfrm>
            <a:off x="106527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violations</a:t>
            </a:r>
            <a:endParaRPr lang="en-US" sz="1050" dirty="0"/>
          </a:p>
        </p:txBody>
      </p:sp>
      <p:sp>
        <p:nvSpPr>
          <p:cNvPr id="43" name="Text 41"/>
          <p:cNvSpPr/>
          <p:nvPr/>
        </p:nvSpPr>
        <p:spPr>
          <a:xfrm>
            <a:off x="106527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hard constraints</a:t>
            </a:r>
            <a:endParaRPr lang="en-US" sz="850" dirty="0"/>
          </a:p>
        </p:txBody>
      </p:sp>
      <p:sp>
        <p:nvSpPr>
          <p:cNvPr id="44" name="Shape 42"/>
          <p:cNvSpPr/>
          <p:nvPr/>
        </p:nvSpPr>
        <p:spPr>
          <a:xfrm>
            <a:off x="7726680" y="5074920"/>
            <a:ext cx="1005840" cy="274320"/>
          </a:xfrm>
          <a:prstGeom prst="roundRect">
            <a:avLst/>
          </a:prstGeom>
          <a:solidFill>
            <a:srgbClr val="B94735"/>
          </a:solidFill>
          <a:ln w="12700">
            <a:solidFill>
              <a:srgbClr val="B94735"/>
            </a:solidFill>
            <a:prstDash val="solid"/>
          </a:ln>
        </p:spPr>
      </p:sp>
      <p:sp>
        <p:nvSpPr>
          <p:cNvPr id="45" name="Text 43"/>
          <p:cNvSpPr/>
          <p:nvPr/>
        </p:nvSpPr>
        <p:spPr>
          <a:xfrm>
            <a:off x="7799832" y="5102352"/>
            <a:ext cx="85953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DEMO</a:t>
            </a:r>
            <a:endParaRPr lang="en-US" sz="900" dirty="0"/>
          </a:p>
        </p:txBody>
      </p:sp>
      <p:sp>
        <p:nvSpPr>
          <p:cNvPr id="46" name="Text 44">
            <a:hlinkClick r:id="rId1" tooltip=""/>
          </p:cNvPr>
          <p:cNvSpPr/>
          <p:nvPr/>
        </p:nvSpPr>
        <p:spPr>
          <a:xfrm>
            <a:off x="8887968" y="5056632"/>
            <a:ext cx="2761488" cy="320040"/>
          </a:xfrm>
          <a:prstGeom prst="rect">
            <a:avLst/>
          </a:prstGeom>
          <a:noFill/>
          <a:ln/>
        </p:spPr>
        <p:txBody>
          <a:bodyPr wrap="square" lIns="0" tIns="0" rIns="0" bIns="0" rtlCol="0" anchor="ctr">
            <a:normAutofit/>
          </a:bodyPr>
          <a:lstStyle/>
          <a:p>
            <a:pPr indent="0" marL="0">
              <a:buNone/>
            </a:pPr>
            <a:r>
              <a:rPr lang="en-US" sz="1050" b="1" u="sng" dirty="0">
                <a:solidFill>
                  <a:srgbClr val="FFFDF8"/>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farmsforfood.sebastianalexis.com</a:t>
            </a:r>
            <a:endParaRPr lang="en-US" sz="1050" dirty="0"/>
          </a:p>
        </p:txBody>
      </p:sp>
      <p:sp>
        <p:nvSpPr>
          <p:cNvPr id="47" name="Text 45"/>
          <p:cNvSpPr/>
          <p:nvPr/>
        </p:nvSpPr>
        <p:spPr>
          <a:xfrm>
            <a:off x="658368" y="6327648"/>
            <a:ext cx="6766560" cy="228600"/>
          </a:xfrm>
          <a:prstGeom prst="rect">
            <a:avLst/>
          </a:prstGeom>
          <a:noFill/>
          <a:ln/>
        </p:spPr>
        <p:txBody>
          <a:bodyPr wrap="square" lIns="0" tIns="0" rIns="0" bIns="0" rtlCol="0" anchor="ctr">
            <a:normAutofit/>
          </a:bodyPr>
          <a:lstStyle/>
          <a:p>
            <a:pPr indent="0" marL="0">
              <a:buNone/>
            </a:pPr>
            <a:r>
              <a:rPr lang="en-US" sz="950" dirty="0">
                <a:solidFill>
                  <a:srgbClr val="D7E7E1"/>
                </a:solidFill>
                <a:latin typeface="Aptos" pitchFamily="34" charset="0"/>
                <a:ea typeface="Aptos" pitchFamily="34" charset="-122"/>
                <a:cs typeface="Aptos" pitchFamily="34" charset="-120"/>
              </a:rPr>
              <a:t>Live FDA/USDA incidents. Synthetic food-bank operations. No client PII.</a:t>
            </a:r>
            <a:endParaRPr lang="en-US" sz="950" dirty="0"/>
          </a:p>
        </p:txBody>
      </p:sp>
      <p:sp>
        <p:nvSpPr>
          <p:cNvPr id="48" name="Text 46"/>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WHY NOW</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Recall volume is high; consequences are operational.</a:t>
            </a:r>
            <a:endParaRPr lang="en-US" sz="3600" dirty="0"/>
          </a:p>
        </p:txBody>
      </p:sp>
      <p:sp>
        <p:nvSpPr>
          <p:cNvPr id="4" name="Text 2"/>
          <p:cNvSpPr/>
          <p:nvPr/>
        </p:nvSpPr>
        <p:spPr>
          <a:xfrm>
            <a:off x="658368" y="1572768"/>
            <a:ext cx="10789920" cy="530352"/>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Public 2024 records show the scale. A single contaminated ingredient can intersect a perishable, high-throughput food bank network.</a:t>
            </a:r>
            <a:endParaRPr lang="en-US" sz="1600" dirty="0"/>
          </a:p>
        </p:txBody>
      </p:sp>
      <p:sp>
        <p:nvSpPr>
          <p:cNvPr id="5" name="Shape 3"/>
          <p:cNvSpPr/>
          <p:nvPr/>
        </p:nvSpPr>
        <p:spPr>
          <a:xfrm>
            <a:off x="658368" y="2331720"/>
            <a:ext cx="2057400" cy="1444752"/>
          </a:xfrm>
          <a:prstGeom prst="roundRect">
            <a:avLst>
              <a:gd name="adj" fmla="val 5063"/>
            </a:avLst>
          </a:prstGeom>
          <a:solidFill>
            <a:srgbClr val="FFFDF8"/>
          </a:solidFill>
          <a:ln w="12700">
            <a:solidFill>
              <a:srgbClr val="D9D2C2"/>
            </a:solidFill>
            <a:prstDash val="solid"/>
          </a:ln>
        </p:spPr>
      </p:sp>
      <p:sp>
        <p:nvSpPr>
          <p:cNvPr id="6" name="Shape 4"/>
          <p:cNvSpPr/>
          <p:nvPr/>
        </p:nvSpPr>
        <p:spPr>
          <a:xfrm>
            <a:off x="658368" y="2331720"/>
            <a:ext cx="73152" cy="1444752"/>
          </a:xfrm>
          <a:prstGeom prst="rect">
            <a:avLst/>
          </a:prstGeom>
          <a:solidFill>
            <a:srgbClr val="B94735"/>
          </a:solidFill>
          <a:ln w="12700">
            <a:solidFill>
              <a:srgbClr val="B94735"/>
            </a:solidFill>
            <a:prstDash val="solid"/>
          </a:ln>
        </p:spPr>
      </p:sp>
      <p:sp>
        <p:nvSpPr>
          <p:cNvPr id="7" name="Text 5"/>
          <p:cNvSpPr/>
          <p:nvPr/>
        </p:nvSpPr>
        <p:spPr>
          <a:xfrm>
            <a:off x="841248"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482</a:t>
            </a:r>
            <a:endParaRPr lang="en-US" sz="2500" dirty="0"/>
          </a:p>
        </p:txBody>
      </p:sp>
      <p:sp>
        <p:nvSpPr>
          <p:cNvPr id="8" name="Text 6"/>
          <p:cNvSpPr/>
          <p:nvPr/>
        </p:nvSpPr>
        <p:spPr>
          <a:xfrm>
            <a:off x="841248"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distinct FDA event IDs</a:t>
            </a:r>
            <a:endParaRPr lang="en-US" sz="1050" dirty="0"/>
          </a:p>
        </p:txBody>
      </p:sp>
      <p:sp>
        <p:nvSpPr>
          <p:cNvPr id="9" name="Text 7"/>
          <p:cNvSpPr/>
          <p:nvPr/>
        </p:nvSpPr>
        <p:spPr>
          <a:xfrm>
            <a:off x="841248"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1,387 product records initiated in 2024</a:t>
            </a:r>
            <a:endParaRPr lang="en-US" sz="850" dirty="0"/>
          </a:p>
        </p:txBody>
      </p:sp>
      <p:sp>
        <p:nvSpPr>
          <p:cNvPr id="10" name="Shape 8"/>
          <p:cNvSpPr/>
          <p:nvPr/>
        </p:nvSpPr>
        <p:spPr>
          <a:xfrm>
            <a:off x="2926080" y="2331720"/>
            <a:ext cx="2057400" cy="1444752"/>
          </a:xfrm>
          <a:prstGeom prst="roundRect">
            <a:avLst>
              <a:gd name="adj" fmla="val 5063"/>
            </a:avLst>
          </a:prstGeom>
          <a:solidFill>
            <a:srgbClr val="FFFDF8"/>
          </a:solidFill>
          <a:ln w="12700">
            <a:solidFill>
              <a:srgbClr val="D9D2C2"/>
            </a:solidFill>
            <a:prstDash val="solid"/>
          </a:ln>
        </p:spPr>
      </p:sp>
      <p:sp>
        <p:nvSpPr>
          <p:cNvPr id="11" name="Shape 9"/>
          <p:cNvSpPr/>
          <p:nvPr/>
        </p:nvSpPr>
        <p:spPr>
          <a:xfrm>
            <a:off x="2926080" y="2331720"/>
            <a:ext cx="73152" cy="1444752"/>
          </a:xfrm>
          <a:prstGeom prst="rect">
            <a:avLst/>
          </a:prstGeom>
          <a:solidFill>
            <a:srgbClr val="1D6B62"/>
          </a:solidFill>
          <a:ln w="12700">
            <a:solidFill>
              <a:srgbClr val="1D6B62"/>
            </a:solidFill>
            <a:prstDash val="solid"/>
          </a:ln>
        </p:spPr>
      </p:sp>
      <p:sp>
        <p:nvSpPr>
          <p:cNvPr id="12" name="Text 10"/>
          <p:cNvSpPr/>
          <p:nvPr/>
        </p:nvSpPr>
        <p:spPr>
          <a:xfrm>
            <a:off x="3108960"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34 + 19</a:t>
            </a:r>
            <a:endParaRPr lang="en-US" sz="2500" dirty="0"/>
          </a:p>
        </p:txBody>
      </p:sp>
      <p:sp>
        <p:nvSpPr>
          <p:cNvPr id="13" name="Text 11"/>
          <p:cNvSpPr/>
          <p:nvPr/>
        </p:nvSpPr>
        <p:spPr>
          <a:xfrm>
            <a:off x="3108960"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FSIS recalls + PHAs</a:t>
            </a:r>
            <a:endParaRPr lang="en-US" sz="1050" dirty="0"/>
          </a:p>
        </p:txBody>
      </p:sp>
      <p:sp>
        <p:nvSpPr>
          <p:cNvPr id="14" name="Text 12"/>
          <p:cNvSpPr/>
          <p:nvPr/>
        </p:nvSpPr>
        <p:spPr>
          <a:xfrm>
            <a:off x="3108960"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numbered recalls and public-health alerts</a:t>
            </a:r>
            <a:endParaRPr lang="en-US" sz="850" dirty="0"/>
          </a:p>
        </p:txBody>
      </p:sp>
      <p:sp>
        <p:nvSpPr>
          <p:cNvPr id="15" name="Shape 13"/>
          <p:cNvSpPr/>
          <p:nvPr/>
        </p:nvSpPr>
        <p:spPr>
          <a:xfrm>
            <a:off x="5193792" y="2331720"/>
            <a:ext cx="2057400" cy="1444752"/>
          </a:xfrm>
          <a:prstGeom prst="roundRect">
            <a:avLst>
              <a:gd name="adj" fmla="val 5063"/>
            </a:avLst>
          </a:prstGeom>
          <a:solidFill>
            <a:srgbClr val="FFFDF8"/>
          </a:solidFill>
          <a:ln w="12700">
            <a:solidFill>
              <a:srgbClr val="D9D2C2"/>
            </a:solidFill>
            <a:prstDash val="solid"/>
          </a:ln>
        </p:spPr>
      </p:sp>
      <p:sp>
        <p:nvSpPr>
          <p:cNvPr id="16" name="Shape 14"/>
          <p:cNvSpPr/>
          <p:nvPr/>
        </p:nvSpPr>
        <p:spPr>
          <a:xfrm>
            <a:off x="5193792" y="2331720"/>
            <a:ext cx="73152" cy="1444752"/>
          </a:xfrm>
          <a:prstGeom prst="rect">
            <a:avLst/>
          </a:prstGeom>
          <a:solidFill>
            <a:srgbClr val="B94735"/>
          </a:solidFill>
          <a:ln w="12700">
            <a:solidFill>
              <a:srgbClr val="B94735"/>
            </a:solidFill>
            <a:prstDash val="solid"/>
          </a:ln>
        </p:spPr>
      </p:sp>
      <p:sp>
        <p:nvSpPr>
          <p:cNvPr id="17" name="Text 15"/>
          <p:cNvSpPr/>
          <p:nvPr/>
        </p:nvSpPr>
        <p:spPr>
          <a:xfrm>
            <a:off x="5376672"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104</a:t>
            </a:r>
            <a:endParaRPr lang="en-US" sz="2500" dirty="0"/>
          </a:p>
        </p:txBody>
      </p:sp>
      <p:sp>
        <p:nvSpPr>
          <p:cNvPr id="18" name="Text 16"/>
          <p:cNvSpPr/>
          <p:nvPr/>
        </p:nvSpPr>
        <p:spPr>
          <a:xfrm>
            <a:off x="5376672"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onion-outbreak cases</a:t>
            </a:r>
            <a:endParaRPr lang="en-US" sz="1050" dirty="0"/>
          </a:p>
        </p:txBody>
      </p:sp>
      <p:sp>
        <p:nvSpPr>
          <p:cNvPr id="19" name="Text 17"/>
          <p:cNvSpPr/>
          <p:nvPr/>
        </p:nvSpPr>
        <p:spPr>
          <a:xfrm>
            <a:off x="5376672"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34 hospitalized, 1 death, 14 states</a:t>
            </a:r>
            <a:endParaRPr lang="en-US" sz="850" dirty="0"/>
          </a:p>
        </p:txBody>
      </p:sp>
      <p:sp>
        <p:nvSpPr>
          <p:cNvPr id="20" name="Shape 18"/>
          <p:cNvSpPr/>
          <p:nvPr/>
        </p:nvSpPr>
        <p:spPr>
          <a:xfrm>
            <a:off x="7635240" y="2331720"/>
            <a:ext cx="3913632" cy="3429000"/>
          </a:xfrm>
          <a:prstGeom prst="roundRect">
            <a:avLst>
              <a:gd name="adj" fmla="val 2133"/>
            </a:avLst>
          </a:prstGeom>
          <a:solidFill>
            <a:srgbClr val="143B37"/>
          </a:solidFill>
          <a:ln w="12700">
            <a:solidFill>
              <a:srgbClr val="143B37"/>
            </a:solidFill>
            <a:prstDash val="solid"/>
          </a:ln>
        </p:spPr>
      </p:sp>
      <p:sp>
        <p:nvSpPr>
          <p:cNvPr id="21" name="Text 19"/>
          <p:cNvSpPr/>
          <p:nvPr/>
        </p:nvSpPr>
        <p:spPr>
          <a:xfrm>
            <a:off x="8028432" y="2651760"/>
            <a:ext cx="3108960" cy="310896"/>
          </a:xfrm>
          <a:prstGeom prst="rect">
            <a:avLst/>
          </a:prstGeom>
          <a:noFill/>
          <a:ln/>
        </p:spPr>
        <p:txBody>
          <a:bodyPr wrap="square" lIns="0" tIns="0" rIns="0" bIns="0" rtlCol="0" anchor="ctr">
            <a:normAutofit/>
          </a:bodyPr>
          <a:lstStyle/>
          <a:p>
            <a:pPr indent="0" marL="0">
              <a:buNone/>
            </a:pPr>
            <a:r>
              <a:rPr lang="en-US" sz="1400" b="1" dirty="0">
                <a:solidFill>
                  <a:srgbClr val="FFFDF8"/>
                </a:solidFill>
                <a:latin typeface="Aptos" pitchFamily="34" charset="0"/>
                <a:ea typeface="Aptos" pitchFamily="34" charset="-122"/>
                <a:cs typeface="Aptos" pitchFamily="34" charset="-120"/>
              </a:rPr>
              <a:t>A reference food-bank network</a:t>
            </a:r>
            <a:endParaRPr lang="en-US" sz="1400" dirty="0"/>
          </a:p>
        </p:txBody>
      </p:sp>
      <p:sp>
        <p:nvSpPr>
          <p:cNvPr id="22" name="Text 20"/>
          <p:cNvSpPr/>
          <p:nvPr/>
        </p:nvSpPr>
        <p:spPr>
          <a:xfrm>
            <a:off x="8028432" y="3154680"/>
            <a:ext cx="1828800" cy="475488"/>
          </a:xfrm>
          <a:prstGeom prst="rect">
            <a:avLst/>
          </a:prstGeom>
          <a:noFill/>
          <a:ln/>
        </p:spPr>
        <p:txBody>
          <a:bodyPr wrap="square" lIns="0" tIns="0" rIns="0" bIns="0" rtlCol="0" anchor="ctr">
            <a:normAutofit/>
          </a:bodyPr>
          <a:lstStyle/>
          <a:p>
            <a:pPr indent="0" marL="0">
              <a:buNone/>
            </a:pPr>
            <a:r>
              <a:rPr lang="en-US" sz="3100" b="1" dirty="0">
                <a:solidFill>
                  <a:srgbClr val="FFFDF8"/>
                </a:solidFill>
                <a:latin typeface="Aptos Display" pitchFamily="34" charset="0"/>
                <a:ea typeface="Aptos Display" pitchFamily="34" charset="-122"/>
                <a:cs typeface="Aptos Display" pitchFamily="34" charset="-120"/>
              </a:rPr>
              <a:t>67M lb</a:t>
            </a:r>
            <a:endParaRPr lang="en-US" sz="3100" dirty="0"/>
          </a:p>
        </p:txBody>
      </p:sp>
      <p:sp>
        <p:nvSpPr>
          <p:cNvPr id="23" name="Text 21"/>
          <p:cNvSpPr/>
          <p:nvPr/>
        </p:nvSpPr>
        <p:spPr>
          <a:xfrm>
            <a:off x="9720072" y="3255264"/>
            <a:ext cx="1298448" cy="274320"/>
          </a:xfrm>
          <a:prstGeom prst="rect">
            <a:avLst/>
          </a:prstGeom>
          <a:noFill/>
          <a:ln/>
        </p:spPr>
        <p:txBody>
          <a:bodyPr wrap="square" lIns="0" tIns="0" rIns="0" bIns="0" rtlCol="0" anchor="ctr">
            <a:normAutofit/>
          </a:bodyPr>
          <a:lstStyle/>
          <a:p>
            <a:pPr indent="0" marL="0">
              <a:buNone/>
            </a:pPr>
            <a:r>
              <a:rPr lang="en-US" sz="1050" dirty="0">
                <a:solidFill>
                  <a:srgbClr val="78B7A9"/>
                </a:solidFill>
                <a:latin typeface="Aptos" pitchFamily="34" charset="0"/>
                <a:ea typeface="Aptos" pitchFamily="34" charset="-122"/>
                <a:cs typeface="Aptos" pitchFamily="34" charset="-120"/>
              </a:rPr>
              <a:t>distributed in FY2024</a:t>
            </a:r>
            <a:endParaRPr lang="en-US" sz="1050" dirty="0"/>
          </a:p>
        </p:txBody>
      </p:sp>
      <p:sp>
        <p:nvSpPr>
          <p:cNvPr id="24" name="Text 22"/>
          <p:cNvSpPr/>
          <p:nvPr/>
        </p:nvSpPr>
        <p:spPr>
          <a:xfrm>
            <a:off x="8028432" y="3895344"/>
            <a:ext cx="2194560" cy="228600"/>
          </a:xfrm>
          <a:prstGeom prst="rect">
            <a:avLst/>
          </a:prstGeom>
          <a:noFill/>
          <a:ln/>
        </p:spPr>
        <p:txBody>
          <a:bodyPr wrap="square" lIns="0" tIns="0" rIns="0" bIns="0" rtlCol="0" anchor="ctr">
            <a:normAutofit/>
          </a:bodyPr>
          <a:lstStyle/>
          <a:p>
            <a:pPr indent="0" marL="0">
              <a:buNone/>
            </a:pPr>
            <a:r>
              <a:rPr lang="en-US" sz="1050" b="1" dirty="0">
                <a:solidFill>
                  <a:srgbClr val="FFFDF8"/>
                </a:solidFill>
                <a:latin typeface="Aptos" pitchFamily="34" charset="0"/>
                <a:ea typeface="Aptos" pitchFamily="34" charset="-122"/>
                <a:cs typeface="Aptos" pitchFamily="34" charset="-120"/>
              </a:rPr>
              <a:t>Fresh product share</a:t>
            </a:r>
            <a:endParaRPr lang="en-US" sz="1050" dirty="0"/>
          </a:p>
        </p:txBody>
      </p:sp>
      <p:sp>
        <p:nvSpPr>
          <p:cNvPr id="25" name="Shape 23"/>
          <p:cNvSpPr/>
          <p:nvPr/>
        </p:nvSpPr>
        <p:spPr>
          <a:xfrm>
            <a:off x="8028432" y="4224528"/>
            <a:ext cx="3063240" cy="320040"/>
          </a:xfrm>
          <a:prstGeom prst="roundRect">
            <a:avLst/>
          </a:prstGeom>
          <a:solidFill>
            <a:srgbClr val="48635E"/>
          </a:solidFill>
          <a:ln w="12700">
            <a:solidFill>
              <a:srgbClr val="48635E"/>
            </a:solidFill>
            <a:prstDash val="solid"/>
          </a:ln>
        </p:spPr>
      </p:sp>
      <p:sp>
        <p:nvSpPr>
          <p:cNvPr id="26" name="Shape 24"/>
          <p:cNvSpPr/>
          <p:nvPr/>
        </p:nvSpPr>
        <p:spPr>
          <a:xfrm>
            <a:off x="8028432" y="4224528"/>
            <a:ext cx="2148840" cy="320040"/>
          </a:xfrm>
          <a:prstGeom prst="roundRect">
            <a:avLst/>
          </a:prstGeom>
          <a:solidFill>
            <a:srgbClr val="B94735"/>
          </a:solidFill>
          <a:ln w="12700">
            <a:solidFill>
              <a:srgbClr val="B94735"/>
            </a:solidFill>
            <a:prstDash val="solid"/>
          </a:ln>
        </p:spPr>
      </p:sp>
      <p:sp>
        <p:nvSpPr>
          <p:cNvPr id="27" name="Text 25"/>
          <p:cNvSpPr/>
          <p:nvPr/>
        </p:nvSpPr>
        <p:spPr>
          <a:xfrm>
            <a:off x="9400032" y="4215384"/>
            <a:ext cx="658368" cy="265176"/>
          </a:xfrm>
          <a:prstGeom prst="rect">
            <a:avLst/>
          </a:prstGeom>
          <a:noFill/>
          <a:ln/>
        </p:spPr>
        <p:txBody>
          <a:bodyPr wrap="square" lIns="0" tIns="0" rIns="0" bIns="0" rtlCol="0" anchor="ctr">
            <a:normAutofit/>
          </a:bodyPr>
          <a:lstStyle/>
          <a:p>
            <a:pPr algn="r" indent="0" marL="0">
              <a:buNone/>
            </a:pPr>
            <a:r>
              <a:rPr lang="en-US" sz="1200" b="1" dirty="0">
                <a:solidFill>
                  <a:srgbClr val="FFFDF8"/>
                </a:solidFill>
                <a:latin typeface="Aptos" pitchFamily="34" charset="0"/>
                <a:ea typeface="Aptos" pitchFamily="34" charset="-122"/>
                <a:cs typeface="Aptos" pitchFamily="34" charset="-120"/>
              </a:rPr>
              <a:t>~70%</a:t>
            </a:r>
            <a:endParaRPr lang="en-US" sz="1200" dirty="0"/>
          </a:p>
        </p:txBody>
      </p:sp>
      <p:sp>
        <p:nvSpPr>
          <p:cNvPr id="28" name="Text 26"/>
          <p:cNvSpPr/>
          <p:nvPr/>
        </p:nvSpPr>
        <p:spPr>
          <a:xfrm>
            <a:off x="8028432" y="4828032"/>
            <a:ext cx="10058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53k</a:t>
            </a:r>
            <a:endParaRPr lang="en-US" sz="2300" dirty="0"/>
          </a:p>
        </p:txBody>
      </p:sp>
      <p:sp>
        <p:nvSpPr>
          <p:cNvPr id="29" name="Text 27"/>
          <p:cNvSpPr/>
          <p:nvPr/>
        </p:nvSpPr>
        <p:spPr>
          <a:xfrm>
            <a:off x="8028432" y="5230368"/>
            <a:ext cx="141732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households / week</a:t>
            </a:r>
            <a:endParaRPr lang="en-US" sz="930" dirty="0"/>
          </a:p>
        </p:txBody>
      </p:sp>
      <p:sp>
        <p:nvSpPr>
          <p:cNvPr id="30" name="Text 28"/>
          <p:cNvSpPr/>
          <p:nvPr/>
        </p:nvSpPr>
        <p:spPr>
          <a:xfrm>
            <a:off x="10012680" y="4828032"/>
            <a:ext cx="7772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215</a:t>
            </a:r>
            <a:endParaRPr lang="en-US" sz="2300" dirty="0"/>
          </a:p>
        </p:txBody>
      </p:sp>
      <p:sp>
        <p:nvSpPr>
          <p:cNvPr id="31" name="Text 29"/>
          <p:cNvSpPr/>
          <p:nvPr/>
        </p:nvSpPr>
        <p:spPr>
          <a:xfrm>
            <a:off x="10012680" y="5230368"/>
            <a:ext cx="82296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pantries</a:t>
            </a:r>
            <a:endParaRPr lang="en-US" sz="930" dirty="0"/>
          </a:p>
        </p:txBody>
      </p:sp>
      <p:sp>
        <p:nvSpPr>
          <p:cNvPr id="32" name="Text 30"/>
          <p:cNvSpPr/>
          <p:nvPr/>
        </p:nvSpPr>
        <p:spPr>
          <a:xfrm>
            <a:off x="658368" y="4572000"/>
            <a:ext cx="6583680" cy="777240"/>
          </a:xfrm>
          <a:prstGeom prst="rect">
            <a:avLst/>
          </a:prstGeom>
          <a:noFill/>
          <a:ln/>
        </p:spPr>
        <p:txBody>
          <a:bodyPr wrap="square" lIns="0" tIns="0" rIns="0" bIns="0" rtlCol="0" anchor="t">
            <a:normAutofit/>
          </a:bodyPr>
          <a:lstStyle/>
          <a:p>
            <a:pPr indent="0" marL="0">
              <a:buNone/>
            </a:pPr>
            <a:r>
              <a:rPr lang="en-US" sz="2200" b="1" dirty="0">
                <a:solidFill>
                  <a:srgbClr val="132524"/>
                </a:solidFill>
                <a:latin typeface="Aptos Display" pitchFamily="34" charset="0"/>
                <a:ea typeface="Aptos Display" pitchFamily="34" charset="-122"/>
                <a:cs typeface="Aptos Display" pitchFamily="34" charset="-120"/>
              </a:rPr>
              <a:t>The constraint is not only finding recalled product. It is restoring service without reintroducing risk.</a:t>
            </a:r>
            <a:endParaRPr lang="en-US" sz="2200" dirty="0"/>
          </a:p>
        </p:txBody>
      </p:sp>
      <p:sp>
        <p:nvSpPr>
          <p:cNvPr id="33" name="Shape 31"/>
          <p:cNvSpPr/>
          <p:nvPr/>
        </p:nvSpPr>
        <p:spPr>
          <a:xfrm>
            <a:off x="658368" y="5623560"/>
            <a:ext cx="841248" cy="274320"/>
          </a:xfrm>
          <a:prstGeom prst="roundRect">
            <a:avLst/>
          </a:prstGeom>
          <a:solidFill>
            <a:srgbClr val="B94735"/>
          </a:solidFill>
          <a:ln w="12700">
            <a:solidFill>
              <a:srgbClr val="B94735"/>
            </a:solidFill>
            <a:prstDash val="solid"/>
          </a:ln>
        </p:spPr>
      </p:sp>
      <p:sp>
        <p:nvSpPr>
          <p:cNvPr id="34" name="Text 32"/>
          <p:cNvSpPr/>
          <p:nvPr/>
        </p:nvSpPr>
        <p:spPr>
          <a:xfrm>
            <a:off x="731520" y="5650992"/>
            <a:ext cx="6949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SAFETY</a:t>
            </a:r>
            <a:endParaRPr lang="en-US" sz="900" dirty="0"/>
          </a:p>
        </p:txBody>
      </p:sp>
      <p:sp>
        <p:nvSpPr>
          <p:cNvPr id="35" name="Text 33"/>
          <p:cNvSpPr/>
          <p:nvPr/>
        </p:nvSpPr>
        <p:spPr>
          <a:xfrm>
            <a:off x="1664208" y="5586984"/>
            <a:ext cx="5577840" cy="384048"/>
          </a:xfrm>
          <a:prstGeom prst="rect">
            <a:avLst/>
          </a:prstGeom>
          <a:noFill/>
          <a:ln/>
        </p:spPr>
        <p:txBody>
          <a:bodyPr wrap="square" lIns="0" tIns="0" rIns="0" bIns="0" rtlCol="0" anchor="ctr">
            <a:normAutofit/>
          </a:bodyPr>
          <a:lstStyle/>
          <a:p>
            <a:pPr indent="0" marL="0">
              <a:buNone/>
            </a:pPr>
            <a:r>
              <a:rPr lang="en-US" sz="1350" dirty="0">
                <a:solidFill>
                  <a:srgbClr val="61706D"/>
                </a:solidFill>
                <a:latin typeface="Aptos" pitchFamily="34" charset="0"/>
                <a:ea typeface="Aptos" pitchFamily="34" charset="-122"/>
                <a:cs typeface="Aptos" pitchFamily="34" charset="-120"/>
              </a:rPr>
              <a:t>Quarantine, cancellation, and lot-state exclusions must survive every scenario and plan.</a:t>
            </a:r>
            <a:endParaRPr lang="en-US" sz="1350" dirty="0"/>
          </a:p>
        </p:txBody>
      </p:sp>
      <p:sp>
        <p:nvSpPr>
          <p:cNvPr id="36" name="Text 34"/>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Counts retrieved for calendar year 2024; event/product distinction preserved.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openFDA enforcement API" history="1" highlightClick="0" endSnd="0">
                  <a:extLst>
                    <a:ext uri="{A12FA001-AC4F-418D-AE19-62706E023703}">
                      <ahyp:hlinkClr xmlns:ahyp="http://schemas.microsoft.com/office/drawing/2018/hyperlinkcolor" val="tx"/>
                    </a:ext>
                  </a:extLst>
                </a:hlinkClick>
              </a:rPr>
              <a:t>openFDA enforcement API</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FSIS recalls API" history="1" highlightClick="0" endSnd="0">
                  <a:extLst>
                    <a:ext uri="{A12FA001-AC4F-418D-AE19-62706E023703}">
                      <ahyp:hlinkClr xmlns:ahyp="http://schemas.microsoft.com/office/drawing/2018/hyperlinkcolor" val="tx"/>
                    </a:ext>
                  </a:extLst>
                </a:hlinkClick>
              </a:rPr>
              <a:t>FSIS recalls API</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CDC/FDA onion outbreak" history="1" highlightClick="0" endSnd="0">
                  <a:extLst>
                    <a:ext uri="{A12FA001-AC4F-418D-AE19-62706E023703}">
                      <ahyp:hlinkClr xmlns:ahyp="http://schemas.microsoft.com/office/drawing/2018/hyperlinkcolor" val="tx"/>
                    </a:ext>
                  </a:extLst>
                </a:hlinkClick>
              </a:rPr>
              <a:t>CDC/FDA onion outbreak</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4" invalidUrl="" action="" tgtFrame="" tooltip="SF-Marin Food Bank FY2024" history="1" highlightClick="0" endSnd="0">
                  <a:extLst>
                    <a:ext uri="{A12FA001-AC4F-418D-AE19-62706E023703}">
                      <ahyp:hlinkClr xmlns:ahyp="http://schemas.microsoft.com/office/drawing/2018/hyperlinkcolor" val="tx"/>
                    </a:ext>
                  </a:extLst>
                </a:hlinkClick>
              </a:rPr>
              <a:t>SF-Marin Food Bank FY2024</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PROBLEM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operational blind spot is the join.</a:t>
            </a:r>
            <a:endParaRPr lang="en-US" sz="3600" dirty="0"/>
          </a:p>
        </p:txBody>
      </p:sp>
      <p:sp>
        <p:nvSpPr>
          <p:cNvPr id="4" name="Text 2"/>
          <p:cNvSpPr/>
          <p:nvPr/>
        </p:nvSpPr>
        <p:spPr>
          <a:xfrm>
            <a:off x="658368" y="1572768"/>
            <a:ext cx="10698480" cy="566928"/>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Recall notices describe risk in prose. Response teams must connect that prose to exact inventory, inbound purchase orders, pantry commitments, and feasible replacements.</a:t>
            </a:r>
            <a:endParaRPr lang="en-US" sz="1600" dirty="0"/>
          </a:p>
        </p:txBody>
      </p:sp>
      <p:sp>
        <p:nvSpPr>
          <p:cNvPr id="5" name="Shape 3"/>
          <p:cNvSpPr/>
          <p:nvPr/>
        </p:nvSpPr>
        <p:spPr>
          <a:xfrm>
            <a:off x="658368" y="2331720"/>
            <a:ext cx="2743200" cy="3310128"/>
          </a:xfrm>
          <a:prstGeom prst="roundRect">
            <a:avLst>
              <a:gd name="adj" fmla="val 2667"/>
            </a:avLst>
          </a:prstGeom>
          <a:solidFill>
            <a:srgbClr val="FFFDF8"/>
          </a:solidFill>
          <a:ln w="12700">
            <a:solidFill>
              <a:srgbClr val="D9D2C2"/>
            </a:solidFill>
            <a:prstDash val="solid"/>
          </a:ln>
        </p:spPr>
      </p:sp>
      <p:sp>
        <p:nvSpPr>
          <p:cNvPr id="6" name="Shape 4"/>
          <p:cNvSpPr/>
          <p:nvPr/>
        </p:nvSpPr>
        <p:spPr>
          <a:xfrm>
            <a:off x="932688" y="2606040"/>
            <a:ext cx="1298448" cy="274320"/>
          </a:xfrm>
          <a:prstGeom prst="roundRect">
            <a:avLst/>
          </a:prstGeom>
          <a:solidFill>
            <a:srgbClr val="B94735"/>
          </a:solidFill>
          <a:ln w="12700">
            <a:solidFill>
              <a:srgbClr val="B94735"/>
            </a:solidFill>
            <a:prstDash val="solid"/>
          </a:ln>
        </p:spPr>
      </p:sp>
      <p:sp>
        <p:nvSpPr>
          <p:cNvPr id="7" name="Text 5"/>
          <p:cNvSpPr/>
          <p:nvPr/>
        </p:nvSpPr>
        <p:spPr>
          <a:xfrm>
            <a:off x="1005840" y="2633472"/>
            <a:ext cx="11521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NARRATIVE NOTICE</a:t>
            </a:r>
            <a:endParaRPr lang="en-US" sz="900" dirty="0"/>
          </a:p>
        </p:txBody>
      </p:sp>
      <p:sp>
        <p:nvSpPr>
          <p:cNvPr id="8" name="Text 6"/>
          <p:cNvSpPr/>
          <p:nvPr/>
        </p:nvSpPr>
        <p:spPr>
          <a:xfrm>
            <a:off x="932688" y="3127248"/>
            <a:ext cx="2176272" cy="1508760"/>
          </a:xfrm>
          <a:prstGeom prst="rect">
            <a:avLst/>
          </a:prstGeom>
          <a:noFill/>
          <a:ln/>
        </p:spPr>
        <p:txBody>
          <a:bodyPr wrap="square" lIns="0" tIns="0" rIns="0" bIns="0" rtlCol="0" anchor="t">
            <a:normAutofit/>
          </a:bodyPr>
          <a:lstStyle/>
          <a:p>
            <a:pPr indent="0" marL="0">
              <a:buNone/>
            </a:pPr>
            <a:r>
              <a:rPr lang="en-US" sz="1600" i="1" dirty="0">
                <a:solidFill>
                  <a:srgbClr val="132524"/>
                </a:solidFill>
                <a:latin typeface="Aptos" pitchFamily="34" charset="0"/>
                <a:ea typeface="Aptos" pitchFamily="34" charset="-122"/>
                <a:cs typeface="Aptos" pitchFamily="34" charset="-120"/>
              </a:rPr>
              <a:t>“Fresh yellow onions … lot codes GVP-8842 and GVP-8843 … packed between June 20 and July 2 … distributed in California and Nevada.”</a:t>
            </a:r>
            <a:endParaRPr lang="en-US" sz="1600" dirty="0"/>
          </a:p>
        </p:txBody>
      </p:sp>
      <p:sp>
        <p:nvSpPr>
          <p:cNvPr id="9" name="Text 7"/>
          <p:cNvSpPr/>
          <p:nvPr/>
        </p:nvSpPr>
        <p:spPr>
          <a:xfrm>
            <a:off x="932688" y="4892040"/>
            <a:ext cx="2148840" cy="438912"/>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Supplier, lot, date, region, and action are embedded—not normalized.</a:t>
            </a:r>
            <a:endParaRPr lang="en-US" sz="1050" dirty="0"/>
          </a:p>
        </p:txBody>
      </p:sp>
      <p:sp>
        <p:nvSpPr>
          <p:cNvPr id="10" name="Shape 8"/>
          <p:cNvSpPr/>
          <p:nvPr/>
        </p:nvSpPr>
        <p:spPr>
          <a:xfrm>
            <a:off x="3584448" y="3886200"/>
            <a:ext cx="667512" cy="0"/>
          </a:xfrm>
          <a:prstGeom prst="line">
            <a:avLst/>
          </a:prstGeom>
          <a:noFill/>
          <a:ln w="27940">
            <a:solidFill>
              <a:srgbClr val="B94735"/>
            </a:solidFill>
            <a:prstDash val="solid"/>
            <a:headEnd type="none"/>
            <a:tailEnd type="triangle"/>
          </a:ln>
        </p:spPr>
      </p:sp>
      <p:sp>
        <p:nvSpPr>
          <p:cNvPr id="11" name="Text 9"/>
          <p:cNvSpPr/>
          <p:nvPr/>
        </p:nvSpPr>
        <p:spPr>
          <a:xfrm>
            <a:off x="3657600" y="3502152"/>
            <a:ext cx="530352" cy="219456"/>
          </a:xfrm>
          <a:prstGeom prst="rect">
            <a:avLst/>
          </a:prstGeom>
          <a:noFill/>
          <a:ln/>
        </p:spPr>
        <p:txBody>
          <a:bodyPr wrap="square" lIns="0" tIns="0" rIns="0" bIns="0" rtlCol="0" anchor="ctr">
            <a:normAutofit/>
          </a:bodyPr>
          <a:lstStyle/>
          <a:p>
            <a:pPr algn="ctr" indent="0" marL="0">
              <a:buNone/>
            </a:pPr>
            <a:r>
              <a:rPr lang="en-US" sz="950" b="1" dirty="0">
                <a:solidFill>
                  <a:srgbClr val="B94735"/>
                </a:solidFill>
                <a:latin typeface="Aptos" pitchFamily="34" charset="0"/>
                <a:ea typeface="Aptos" pitchFamily="34" charset="-122"/>
                <a:cs typeface="Aptos" pitchFamily="34" charset="-120"/>
              </a:rPr>
              <a:t>JOIN</a:t>
            </a:r>
            <a:endParaRPr lang="en-US" sz="950" dirty="0"/>
          </a:p>
        </p:txBody>
      </p:sp>
      <p:sp>
        <p:nvSpPr>
          <p:cNvPr id="12" name="Shape 10"/>
          <p:cNvSpPr/>
          <p:nvPr/>
        </p:nvSpPr>
        <p:spPr>
          <a:xfrm>
            <a:off x="4407408" y="2331720"/>
            <a:ext cx="7132320" cy="3310128"/>
          </a:xfrm>
          <a:prstGeom prst="roundRect">
            <a:avLst>
              <a:gd name="adj" fmla="val 2210"/>
            </a:avLst>
          </a:prstGeom>
          <a:solidFill>
            <a:srgbClr val="143B37"/>
          </a:solidFill>
          <a:ln w="12700">
            <a:solidFill>
              <a:srgbClr val="143B37"/>
            </a:solidFill>
            <a:prstDash val="solid"/>
          </a:ln>
        </p:spPr>
      </p:sp>
      <p:sp>
        <p:nvSpPr>
          <p:cNvPr id="13" name="Shape 11"/>
          <p:cNvSpPr/>
          <p:nvPr/>
        </p:nvSpPr>
        <p:spPr>
          <a:xfrm>
            <a:off x="5696712" y="3273552"/>
            <a:ext cx="283464" cy="0"/>
          </a:xfrm>
          <a:prstGeom prst="line">
            <a:avLst/>
          </a:prstGeom>
          <a:noFill/>
          <a:ln w="17780">
            <a:solidFill>
              <a:srgbClr val="78B7A9"/>
            </a:solidFill>
            <a:prstDash val="solid"/>
            <a:headEnd type="none"/>
            <a:tailEnd type="triangle"/>
          </a:ln>
        </p:spPr>
      </p:sp>
      <p:sp>
        <p:nvSpPr>
          <p:cNvPr id="14" name="Shape 12"/>
          <p:cNvSpPr/>
          <p:nvPr/>
        </p:nvSpPr>
        <p:spPr>
          <a:xfrm>
            <a:off x="4736592" y="2880360"/>
            <a:ext cx="768096" cy="768096"/>
          </a:xfrm>
          <a:prstGeom prst="ellipse">
            <a:avLst/>
          </a:prstGeom>
          <a:solidFill>
            <a:srgbClr val="1D6B62"/>
          </a:solidFill>
          <a:ln w="12700">
            <a:solidFill>
              <a:srgbClr val="FFFDF8">
                <a:alpha val="45000"/>
              </a:srgbClr>
            </a:solidFill>
            <a:prstDash val="solid"/>
          </a:ln>
        </p:spPr>
      </p:sp>
      <p:sp>
        <p:nvSpPr>
          <p:cNvPr id="15" name="Text 13"/>
          <p:cNvSpPr/>
          <p:nvPr/>
        </p:nvSpPr>
        <p:spPr>
          <a:xfrm>
            <a:off x="4736592"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01</a:t>
            </a:r>
            <a:endParaRPr lang="en-US" sz="1200" dirty="0"/>
          </a:p>
        </p:txBody>
      </p:sp>
      <p:sp>
        <p:nvSpPr>
          <p:cNvPr id="16" name="Text 14"/>
          <p:cNvSpPr/>
          <p:nvPr/>
        </p:nvSpPr>
        <p:spPr>
          <a:xfrm>
            <a:off x="4590288"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Product</a:t>
            </a:r>
            <a:endParaRPr lang="en-US" sz="1100" dirty="0"/>
          </a:p>
        </p:txBody>
      </p:sp>
      <p:sp>
        <p:nvSpPr>
          <p:cNvPr id="17" name="Text 15"/>
          <p:cNvSpPr/>
          <p:nvPr/>
        </p:nvSpPr>
        <p:spPr>
          <a:xfrm>
            <a:off x="4480560"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fresh yellow onions</a:t>
            </a:r>
            <a:endParaRPr lang="en-US" sz="930" dirty="0"/>
          </a:p>
        </p:txBody>
      </p:sp>
      <p:sp>
        <p:nvSpPr>
          <p:cNvPr id="18" name="Shape 16"/>
          <p:cNvSpPr/>
          <p:nvPr/>
        </p:nvSpPr>
        <p:spPr>
          <a:xfrm>
            <a:off x="7013448" y="3273552"/>
            <a:ext cx="283464" cy="0"/>
          </a:xfrm>
          <a:prstGeom prst="line">
            <a:avLst/>
          </a:prstGeom>
          <a:noFill/>
          <a:ln w="17780">
            <a:solidFill>
              <a:srgbClr val="78B7A9"/>
            </a:solidFill>
            <a:prstDash val="solid"/>
            <a:headEnd type="none"/>
            <a:tailEnd type="triangle"/>
          </a:ln>
        </p:spPr>
      </p:sp>
      <p:sp>
        <p:nvSpPr>
          <p:cNvPr id="19" name="Shape 17"/>
          <p:cNvSpPr/>
          <p:nvPr/>
        </p:nvSpPr>
        <p:spPr>
          <a:xfrm>
            <a:off x="6053328" y="2880360"/>
            <a:ext cx="768096" cy="768096"/>
          </a:xfrm>
          <a:prstGeom prst="ellipse">
            <a:avLst/>
          </a:prstGeom>
          <a:solidFill>
            <a:srgbClr val="1D6B62"/>
          </a:solidFill>
          <a:ln w="12700">
            <a:solidFill>
              <a:srgbClr val="FFFDF8">
                <a:alpha val="45000"/>
              </a:srgbClr>
            </a:solidFill>
            <a:prstDash val="solid"/>
          </a:ln>
        </p:spPr>
      </p:sp>
      <p:sp>
        <p:nvSpPr>
          <p:cNvPr id="20" name="Text 18"/>
          <p:cNvSpPr/>
          <p:nvPr/>
        </p:nvSpPr>
        <p:spPr>
          <a:xfrm>
            <a:off x="6053328"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02</a:t>
            </a:r>
            <a:endParaRPr lang="en-US" sz="1200" dirty="0"/>
          </a:p>
        </p:txBody>
      </p:sp>
      <p:sp>
        <p:nvSpPr>
          <p:cNvPr id="21" name="Text 19"/>
          <p:cNvSpPr/>
          <p:nvPr/>
        </p:nvSpPr>
        <p:spPr>
          <a:xfrm>
            <a:off x="5907024"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Lot / PO</a:t>
            </a:r>
            <a:endParaRPr lang="en-US" sz="1100" dirty="0"/>
          </a:p>
        </p:txBody>
      </p:sp>
      <p:sp>
        <p:nvSpPr>
          <p:cNvPr id="22" name="Text 20"/>
          <p:cNvSpPr/>
          <p:nvPr/>
        </p:nvSpPr>
        <p:spPr>
          <a:xfrm>
            <a:off x="5797296"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GVP-8842, PO-1002</a:t>
            </a:r>
            <a:endParaRPr lang="en-US" sz="930" dirty="0"/>
          </a:p>
        </p:txBody>
      </p:sp>
      <p:sp>
        <p:nvSpPr>
          <p:cNvPr id="23" name="Shape 21"/>
          <p:cNvSpPr/>
          <p:nvPr/>
        </p:nvSpPr>
        <p:spPr>
          <a:xfrm>
            <a:off x="8330184" y="3273552"/>
            <a:ext cx="283464" cy="0"/>
          </a:xfrm>
          <a:prstGeom prst="line">
            <a:avLst/>
          </a:prstGeom>
          <a:noFill/>
          <a:ln w="17780">
            <a:solidFill>
              <a:srgbClr val="78B7A9"/>
            </a:solidFill>
            <a:prstDash val="solid"/>
            <a:headEnd type="none"/>
            <a:tailEnd type="triangle"/>
          </a:ln>
        </p:spPr>
      </p:sp>
      <p:sp>
        <p:nvSpPr>
          <p:cNvPr id="24" name="Shape 22"/>
          <p:cNvSpPr/>
          <p:nvPr/>
        </p:nvSpPr>
        <p:spPr>
          <a:xfrm>
            <a:off x="7370064" y="2880360"/>
            <a:ext cx="768096" cy="768096"/>
          </a:xfrm>
          <a:prstGeom prst="ellipse">
            <a:avLst/>
          </a:prstGeom>
          <a:solidFill>
            <a:srgbClr val="1D6B62"/>
          </a:solidFill>
          <a:ln w="12700">
            <a:solidFill>
              <a:srgbClr val="FFFDF8">
                <a:alpha val="45000"/>
              </a:srgbClr>
            </a:solidFill>
            <a:prstDash val="solid"/>
          </a:ln>
        </p:spPr>
      </p:sp>
      <p:sp>
        <p:nvSpPr>
          <p:cNvPr id="25" name="Text 23"/>
          <p:cNvSpPr/>
          <p:nvPr/>
        </p:nvSpPr>
        <p:spPr>
          <a:xfrm>
            <a:off x="7370064"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03</a:t>
            </a:r>
            <a:endParaRPr lang="en-US" sz="1200" dirty="0"/>
          </a:p>
        </p:txBody>
      </p:sp>
      <p:sp>
        <p:nvSpPr>
          <p:cNvPr id="26" name="Text 24"/>
          <p:cNvSpPr/>
          <p:nvPr/>
        </p:nvSpPr>
        <p:spPr>
          <a:xfrm>
            <a:off x="7223760"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Warehouse</a:t>
            </a:r>
            <a:endParaRPr lang="en-US" sz="1100" dirty="0"/>
          </a:p>
        </p:txBody>
      </p:sp>
      <p:sp>
        <p:nvSpPr>
          <p:cNvPr id="27" name="Text 25"/>
          <p:cNvSpPr/>
          <p:nvPr/>
        </p:nvSpPr>
        <p:spPr>
          <a:xfrm>
            <a:off x="7114032"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Oakland DC</a:t>
            </a:r>
            <a:endParaRPr lang="en-US" sz="930" dirty="0"/>
          </a:p>
        </p:txBody>
      </p:sp>
      <p:sp>
        <p:nvSpPr>
          <p:cNvPr id="28" name="Shape 26"/>
          <p:cNvSpPr/>
          <p:nvPr/>
        </p:nvSpPr>
        <p:spPr>
          <a:xfrm>
            <a:off x="9646920" y="3273552"/>
            <a:ext cx="283464" cy="0"/>
          </a:xfrm>
          <a:prstGeom prst="line">
            <a:avLst/>
          </a:prstGeom>
          <a:noFill/>
          <a:ln w="17780">
            <a:solidFill>
              <a:srgbClr val="78B7A9"/>
            </a:solidFill>
            <a:prstDash val="solid"/>
            <a:headEnd type="none"/>
            <a:tailEnd type="triangle"/>
          </a:ln>
        </p:spPr>
      </p:sp>
      <p:sp>
        <p:nvSpPr>
          <p:cNvPr id="29" name="Shape 27"/>
          <p:cNvSpPr/>
          <p:nvPr/>
        </p:nvSpPr>
        <p:spPr>
          <a:xfrm>
            <a:off x="8686800" y="2880360"/>
            <a:ext cx="768096" cy="768096"/>
          </a:xfrm>
          <a:prstGeom prst="ellipse">
            <a:avLst/>
          </a:prstGeom>
          <a:solidFill>
            <a:srgbClr val="1D6B62"/>
          </a:solidFill>
          <a:ln w="12700">
            <a:solidFill>
              <a:srgbClr val="FFFDF8">
                <a:alpha val="45000"/>
              </a:srgbClr>
            </a:solidFill>
            <a:prstDash val="solid"/>
          </a:ln>
        </p:spPr>
      </p:sp>
      <p:sp>
        <p:nvSpPr>
          <p:cNvPr id="30" name="Text 28"/>
          <p:cNvSpPr/>
          <p:nvPr/>
        </p:nvSpPr>
        <p:spPr>
          <a:xfrm>
            <a:off x="8686800"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04</a:t>
            </a:r>
            <a:endParaRPr lang="en-US" sz="1200" dirty="0"/>
          </a:p>
        </p:txBody>
      </p:sp>
      <p:sp>
        <p:nvSpPr>
          <p:cNvPr id="31" name="Text 29"/>
          <p:cNvSpPr/>
          <p:nvPr/>
        </p:nvSpPr>
        <p:spPr>
          <a:xfrm>
            <a:off x="8540496"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Pantry</a:t>
            </a:r>
            <a:endParaRPr lang="en-US" sz="1100" dirty="0"/>
          </a:p>
        </p:txBody>
      </p:sp>
      <p:sp>
        <p:nvSpPr>
          <p:cNvPr id="32" name="Text 30"/>
          <p:cNvSpPr/>
          <p:nvPr/>
        </p:nvSpPr>
        <p:spPr>
          <a:xfrm>
            <a:off x="8430768"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28 lines infeasible</a:t>
            </a:r>
            <a:endParaRPr lang="en-US" sz="930" dirty="0"/>
          </a:p>
        </p:txBody>
      </p:sp>
      <p:sp>
        <p:nvSpPr>
          <p:cNvPr id="33" name="Shape 31"/>
          <p:cNvSpPr/>
          <p:nvPr/>
        </p:nvSpPr>
        <p:spPr>
          <a:xfrm>
            <a:off x="10003536" y="2880360"/>
            <a:ext cx="768096" cy="768096"/>
          </a:xfrm>
          <a:prstGeom prst="ellipse">
            <a:avLst/>
          </a:prstGeom>
          <a:solidFill>
            <a:srgbClr val="B94735"/>
          </a:solidFill>
          <a:ln w="12700">
            <a:solidFill>
              <a:srgbClr val="FFFDF8">
                <a:alpha val="45000"/>
              </a:srgbClr>
            </a:solidFill>
            <a:prstDash val="solid"/>
          </a:ln>
        </p:spPr>
      </p:sp>
      <p:sp>
        <p:nvSpPr>
          <p:cNvPr id="34" name="Text 32"/>
          <p:cNvSpPr/>
          <p:nvPr/>
        </p:nvSpPr>
        <p:spPr>
          <a:xfrm>
            <a:off x="10003536"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05</a:t>
            </a:r>
            <a:endParaRPr lang="en-US" sz="1200" dirty="0"/>
          </a:p>
        </p:txBody>
      </p:sp>
      <p:sp>
        <p:nvSpPr>
          <p:cNvPr id="35" name="Text 33"/>
          <p:cNvSpPr/>
          <p:nvPr/>
        </p:nvSpPr>
        <p:spPr>
          <a:xfrm>
            <a:off x="9857232"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Recovery</a:t>
            </a:r>
            <a:endParaRPr lang="en-US" sz="1100" dirty="0"/>
          </a:p>
        </p:txBody>
      </p:sp>
      <p:sp>
        <p:nvSpPr>
          <p:cNvPr id="36" name="Text 34"/>
          <p:cNvSpPr/>
          <p:nvPr/>
        </p:nvSpPr>
        <p:spPr>
          <a:xfrm>
            <a:off x="9747504"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substitute + buy</a:t>
            </a:r>
            <a:endParaRPr lang="en-US" sz="930" dirty="0"/>
          </a:p>
        </p:txBody>
      </p:sp>
      <p:sp>
        <p:nvSpPr>
          <p:cNvPr id="37" name="Text 35"/>
          <p:cNvSpPr/>
          <p:nvPr/>
        </p:nvSpPr>
        <p:spPr>
          <a:xfrm>
            <a:off x="4736592" y="4919472"/>
            <a:ext cx="3108960" cy="274320"/>
          </a:xfrm>
          <a:prstGeom prst="rect">
            <a:avLst/>
          </a:prstGeom>
          <a:noFill/>
          <a:ln/>
        </p:spPr>
        <p:txBody>
          <a:bodyPr wrap="square" lIns="0" tIns="0" rIns="0" bIns="0" rtlCol="0" anchor="ctr">
            <a:normAutofit/>
          </a:bodyPr>
          <a:lstStyle/>
          <a:p>
            <a:pPr indent="0" marL="0">
              <a:buNone/>
            </a:pPr>
            <a:r>
              <a:rPr lang="en-US" sz="1200" b="1" dirty="0">
                <a:solidFill>
                  <a:srgbClr val="FFFDF8"/>
                </a:solidFill>
                <a:latin typeface="Aptos" pitchFamily="34" charset="0"/>
                <a:ea typeface="Aptos" pitchFamily="34" charset="-122"/>
                <a:cs typeface="Aptos" pitchFamily="34" charset="-120"/>
              </a:rPr>
              <a:t>Missing joins create three failure modes</a:t>
            </a:r>
            <a:endParaRPr lang="en-US" sz="1200" dirty="0"/>
          </a:p>
        </p:txBody>
      </p:sp>
      <p:sp>
        <p:nvSpPr>
          <p:cNvPr id="38" name="Shape 36"/>
          <p:cNvSpPr/>
          <p:nvPr/>
        </p:nvSpPr>
        <p:spPr>
          <a:xfrm>
            <a:off x="4736592" y="5239512"/>
            <a:ext cx="1417320" cy="274320"/>
          </a:xfrm>
          <a:prstGeom prst="roundRect">
            <a:avLst/>
          </a:prstGeom>
          <a:solidFill>
            <a:srgbClr val="1D6B62"/>
          </a:solidFill>
          <a:ln w="12700">
            <a:solidFill>
              <a:srgbClr val="1D6B62"/>
            </a:solidFill>
            <a:prstDash val="solid"/>
          </a:ln>
        </p:spPr>
      </p:sp>
      <p:sp>
        <p:nvSpPr>
          <p:cNvPr id="39" name="Text 37"/>
          <p:cNvSpPr/>
          <p:nvPr/>
        </p:nvSpPr>
        <p:spPr>
          <a:xfrm>
            <a:off x="4809744" y="5266944"/>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DELAYED QUARANTINE</a:t>
            </a:r>
            <a:endParaRPr lang="en-US" sz="900" dirty="0"/>
          </a:p>
        </p:txBody>
      </p:sp>
      <p:sp>
        <p:nvSpPr>
          <p:cNvPr id="40" name="Shape 38"/>
          <p:cNvSpPr/>
          <p:nvPr/>
        </p:nvSpPr>
        <p:spPr>
          <a:xfrm>
            <a:off x="6336792" y="5239512"/>
            <a:ext cx="1627632" cy="274320"/>
          </a:xfrm>
          <a:prstGeom prst="roundRect">
            <a:avLst/>
          </a:prstGeom>
          <a:solidFill>
            <a:srgbClr val="1D6B62"/>
          </a:solidFill>
          <a:ln w="12700">
            <a:solidFill>
              <a:srgbClr val="1D6B62"/>
            </a:solidFill>
            <a:prstDash val="solid"/>
          </a:ln>
        </p:spPr>
      </p:sp>
      <p:sp>
        <p:nvSpPr>
          <p:cNvPr id="41" name="Text 39"/>
          <p:cNvSpPr/>
          <p:nvPr/>
        </p:nvSpPr>
        <p:spPr>
          <a:xfrm>
            <a:off x="6409944" y="5266944"/>
            <a:ext cx="1481328"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INFEASIBLE ALLOCATIONS</a:t>
            </a:r>
            <a:endParaRPr lang="en-US" sz="900" dirty="0"/>
          </a:p>
        </p:txBody>
      </p:sp>
      <p:sp>
        <p:nvSpPr>
          <p:cNvPr id="42" name="Shape 40"/>
          <p:cNvSpPr/>
          <p:nvPr/>
        </p:nvSpPr>
        <p:spPr>
          <a:xfrm>
            <a:off x="8147304" y="5239512"/>
            <a:ext cx="1335024" cy="274320"/>
          </a:xfrm>
          <a:prstGeom prst="roundRect">
            <a:avLst/>
          </a:prstGeom>
          <a:solidFill>
            <a:srgbClr val="B94735"/>
          </a:solidFill>
          <a:ln w="12700">
            <a:solidFill>
              <a:srgbClr val="B94735"/>
            </a:solidFill>
            <a:prstDash val="solid"/>
          </a:ln>
        </p:spPr>
      </p:sp>
      <p:sp>
        <p:nvSpPr>
          <p:cNvPr id="43" name="Text 41"/>
          <p:cNvSpPr/>
          <p:nvPr/>
        </p:nvSpPr>
        <p:spPr>
          <a:xfrm>
            <a:off x="8220456" y="5266944"/>
            <a:ext cx="1188720"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SILENT SHORTAGES</a:t>
            </a:r>
            <a:endParaRPr lang="en-US" sz="90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Workflow sources show notice intake, inventory isolation, agency notification, and disposition tasks.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Rhode Island Community Food Bank recall process" history="1" highlightClick="0" endSnd="0">
                  <a:extLst>
                    <a:ext uri="{A12FA001-AC4F-418D-AE19-62706E023703}">
                      <ahyp:hlinkClr xmlns:ahyp="http://schemas.microsoft.com/office/drawing/2018/hyperlinkcolor" val="tx"/>
                    </a:ext>
                  </a:extLst>
                </a:hlinkClick>
              </a:rPr>
              <a:t>Rhode Island Community Food Bank recall process</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MANNA FoodBank recall workflow" history="1" highlightClick="0" endSnd="0">
                  <a:extLst>
                    <a:ext uri="{A12FA001-AC4F-418D-AE19-62706E023703}">
                      <ahyp:hlinkClr xmlns:ahyp="http://schemas.microsoft.com/office/drawing/2018/hyperlinkcolor" val="tx"/>
                    </a:ext>
                  </a:extLst>
                </a:hlinkClick>
              </a:rPr>
              <a:t>MANNA FoodBank recall workflow</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SYSTEM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Agentic analysis. Deterministic execution boundary.</a:t>
            </a:r>
            <a:endParaRPr lang="en-US" sz="3600" dirty="0"/>
          </a:p>
        </p:txBody>
      </p:sp>
      <p:sp>
        <p:nvSpPr>
          <p:cNvPr id="4" name="Text 2"/>
          <p:cNvSpPr/>
          <p:nvPr/>
        </p:nvSpPr>
        <p:spPr>
          <a:xfrm>
            <a:off x="658368" y="1572768"/>
            <a:ext cx="10698480" cy="603504"/>
          </a:xfrm>
          <a:prstGeom prst="rect">
            <a:avLst/>
          </a:prstGeom>
          <a:noFill/>
          <a:ln/>
        </p:spPr>
        <p:txBody>
          <a:bodyPr wrap="square" lIns="0" tIns="0" rIns="0" bIns="0" rtlCol="0" anchor="t">
            <a:normAutofit/>
          </a:bodyPr>
          <a:lstStyle/>
          <a:p>
            <a:pPr indent="0" marL="0">
              <a:buNone/>
            </a:pPr>
            <a:r>
              <a:rPr lang="en-US" sz="1500" dirty="0">
                <a:solidFill>
                  <a:srgbClr val="61706D"/>
                </a:solidFill>
                <a:latin typeface="Aptos" pitchFamily="34" charset="0"/>
                <a:ea typeface="Aptos" pitchFamily="34" charset="-122"/>
                <a:cs typeface="Aptos" pitchFamily="34" charset="-120"/>
              </a:rPr>
              <a:t>Official incidents cross a provenance-verified source boundary. A disclosed SYN-LIVE trace sample demonstrates matching; untouched-network mode preserves the honest zero-exposure path.</a:t>
            </a:r>
            <a:endParaRPr lang="en-US" sz="1500" dirty="0"/>
          </a:p>
        </p:txBody>
      </p:sp>
      <p:sp>
        <p:nvSpPr>
          <p:cNvPr id="5" name="Text 3"/>
          <p:cNvSpPr/>
          <p:nvPr/>
        </p:nvSpPr>
        <p:spPr>
          <a:xfrm>
            <a:off x="658368" y="2331720"/>
            <a:ext cx="1170432" cy="228600"/>
          </a:xfrm>
          <a:prstGeom prst="rect">
            <a:avLst/>
          </a:prstGeom>
          <a:noFill/>
          <a:ln/>
        </p:spPr>
        <p:txBody>
          <a:bodyPr wrap="square" lIns="0" tIns="0" rIns="0" bIns="0" rtlCol="0" anchor="ctr">
            <a:normAutofit/>
          </a:bodyPr>
          <a:lstStyle/>
          <a:p>
            <a:pPr indent="0" marL="0">
              <a:buNone/>
            </a:pPr>
            <a:r>
              <a:rPr lang="en-US" sz="1000" b="1" spc="110" kern="0" dirty="0">
                <a:solidFill>
                  <a:srgbClr val="B94735"/>
                </a:solidFill>
                <a:latin typeface="Aptos" pitchFamily="34" charset="0"/>
                <a:ea typeface="Aptos" pitchFamily="34" charset="-122"/>
                <a:cs typeface="Aptos" pitchFamily="34" charset="-120"/>
              </a:rPr>
              <a:t>AGENT LOOP</a:t>
            </a:r>
            <a:endParaRPr lang="en-US" sz="1000" dirty="0"/>
          </a:p>
        </p:txBody>
      </p:sp>
      <p:sp>
        <p:nvSpPr>
          <p:cNvPr id="6" name="Shape 4"/>
          <p:cNvSpPr/>
          <p:nvPr/>
        </p:nvSpPr>
        <p:spPr>
          <a:xfrm>
            <a:off x="658368" y="2697480"/>
            <a:ext cx="1152144" cy="914400"/>
          </a:xfrm>
          <a:prstGeom prst="roundRect">
            <a:avLst>
              <a:gd name="adj" fmla="val 8000"/>
            </a:avLst>
          </a:prstGeom>
          <a:solidFill>
            <a:srgbClr val="FFFDF8"/>
          </a:solidFill>
          <a:ln w="12700">
            <a:solidFill>
              <a:srgbClr val="D9D2C2"/>
            </a:solidFill>
            <a:prstDash val="solid"/>
          </a:ln>
        </p:spPr>
      </p:sp>
      <p:sp>
        <p:nvSpPr>
          <p:cNvPr id="7" name="Text 5"/>
          <p:cNvSpPr/>
          <p:nvPr/>
        </p:nvSpPr>
        <p:spPr>
          <a:xfrm>
            <a:off x="73152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Observe</a:t>
            </a:r>
            <a:endParaRPr lang="en-US" sz="1120" dirty="0"/>
          </a:p>
        </p:txBody>
      </p:sp>
      <p:sp>
        <p:nvSpPr>
          <p:cNvPr id="8" name="Text 6"/>
          <p:cNvSpPr/>
          <p:nvPr/>
        </p:nvSpPr>
        <p:spPr>
          <a:xfrm>
            <a:off x="72237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official feed + state</a:t>
            </a:r>
            <a:endParaRPr lang="en-US" sz="880" dirty="0"/>
          </a:p>
        </p:txBody>
      </p:sp>
      <p:sp>
        <p:nvSpPr>
          <p:cNvPr id="9" name="Shape 7"/>
          <p:cNvSpPr/>
          <p:nvPr/>
        </p:nvSpPr>
        <p:spPr>
          <a:xfrm>
            <a:off x="1828800" y="3154680"/>
            <a:ext cx="155448" cy="0"/>
          </a:xfrm>
          <a:prstGeom prst="line">
            <a:avLst/>
          </a:prstGeom>
          <a:noFill/>
          <a:ln w="16510">
            <a:solidFill>
              <a:srgbClr val="1D6B62"/>
            </a:solidFill>
            <a:prstDash val="solid"/>
            <a:headEnd type="none"/>
            <a:tailEnd type="triangle"/>
          </a:ln>
        </p:spPr>
      </p:sp>
      <p:sp>
        <p:nvSpPr>
          <p:cNvPr id="10" name="Shape 8"/>
          <p:cNvSpPr/>
          <p:nvPr/>
        </p:nvSpPr>
        <p:spPr>
          <a:xfrm>
            <a:off x="2011680" y="2697480"/>
            <a:ext cx="1152144" cy="914400"/>
          </a:xfrm>
          <a:prstGeom prst="roundRect">
            <a:avLst>
              <a:gd name="adj" fmla="val 8000"/>
            </a:avLst>
          </a:prstGeom>
          <a:solidFill>
            <a:srgbClr val="FFFDF8"/>
          </a:solidFill>
          <a:ln w="12700">
            <a:solidFill>
              <a:srgbClr val="D9D2C2"/>
            </a:solidFill>
            <a:prstDash val="solid"/>
          </a:ln>
        </p:spPr>
      </p:sp>
      <p:sp>
        <p:nvSpPr>
          <p:cNvPr id="11" name="Text 9"/>
          <p:cNvSpPr/>
          <p:nvPr/>
        </p:nvSpPr>
        <p:spPr>
          <a:xfrm>
            <a:off x="2084832"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Extract</a:t>
            </a:r>
            <a:endParaRPr lang="en-US" sz="1120" dirty="0"/>
          </a:p>
        </p:txBody>
      </p:sp>
      <p:sp>
        <p:nvSpPr>
          <p:cNvPr id="12" name="Text 10"/>
          <p:cNvSpPr/>
          <p:nvPr/>
        </p:nvSpPr>
        <p:spPr>
          <a:xfrm>
            <a:off x="2075688"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typed fields</a:t>
            </a:r>
            <a:endParaRPr lang="en-US" sz="880" dirty="0"/>
          </a:p>
        </p:txBody>
      </p:sp>
      <p:sp>
        <p:nvSpPr>
          <p:cNvPr id="13" name="Shape 11"/>
          <p:cNvSpPr/>
          <p:nvPr/>
        </p:nvSpPr>
        <p:spPr>
          <a:xfrm>
            <a:off x="3182112" y="3154680"/>
            <a:ext cx="155448" cy="0"/>
          </a:xfrm>
          <a:prstGeom prst="line">
            <a:avLst/>
          </a:prstGeom>
          <a:noFill/>
          <a:ln w="16510">
            <a:solidFill>
              <a:srgbClr val="1D6B62"/>
            </a:solidFill>
            <a:prstDash val="solid"/>
            <a:headEnd type="none"/>
            <a:tailEnd type="triangle"/>
          </a:ln>
        </p:spPr>
      </p:sp>
      <p:sp>
        <p:nvSpPr>
          <p:cNvPr id="14" name="Shape 12"/>
          <p:cNvSpPr/>
          <p:nvPr/>
        </p:nvSpPr>
        <p:spPr>
          <a:xfrm>
            <a:off x="3364992" y="2697480"/>
            <a:ext cx="1152144" cy="914400"/>
          </a:xfrm>
          <a:prstGeom prst="roundRect">
            <a:avLst>
              <a:gd name="adj" fmla="val 8000"/>
            </a:avLst>
          </a:prstGeom>
          <a:solidFill>
            <a:srgbClr val="FFFDF8"/>
          </a:solidFill>
          <a:ln w="12700">
            <a:solidFill>
              <a:srgbClr val="D9D2C2"/>
            </a:solidFill>
            <a:prstDash val="solid"/>
          </a:ln>
        </p:spPr>
      </p:sp>
      <p:sp>
        <p:nvSpPr>
          <p:cNvPr id="15" name="Text 13"/>
          <p:cNvSpPr/>
          <p:nvPr/>
        </p:nvSpPr>
        <p:spPr>
          <a:xfrm>
            <a:off x="3438144"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Trace</a:t>
            </a:r>
            <a:endParaRPr lang="en-US" sz="1120" dirty="0"/>
          </a:p>
        </p:txBody>
      </p:sp>
      <p:sp>
        <p:nvSpPr>
          <p:cNvPr id="16" name="Text 14"/>
          <p:cNvSpPr/>
          <p:nvPr/>
        </p:nvSpPr>
        <p:spPr>
          <a:xfrm>
            <a:off x="3429000"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graph joins</a:t>
            </a:r>
            <a:endParaRPr lang="en-US" sz="880" dirty="0"/>
          </a:p>
        </p:txBody>
      </p:sp>
      <p:sp>
        <p:nvSpPr>
          <p:cNvPr id="17" name="Shape 15"/>
          <p:cNvSpPr/>
          <p:nvPr/>
        </p:nvSpPr>
        <p:spPr>
          <a:xfrm>
            <a:off x="4535424" y="3154680"/>
            <a:ext cx="155448" cy="0"/>
          </a:xfrm>
          <a:prstGeom prst="line">
            <a:avLst/>
          </a:prstGeom>
          <a:noFill/>
          <a:ln w="16510">
            <a:solidFill>
              <a:srgbClr val="1D6B62"/>
            </a:solidFill>
            <a:prstDash val="solid"/>
            <a:headEnd type="none"/>
            <a:tailEnd type="triangle"/>
          </a:ln>
        </p:spPr>
      </p:sp>
      <p:sp>
        <p:nvSpPr>
          <p:cNvPr id="18" name="Shape 16"/>
          <p:cNvSpPr/>
          <p:nvPr/>
        </p:nvSpPr>
        <p:spPr>
          <a:xfrm>
            <a:off x="4718304" y="2697480"/>
            <a:ext cx="1152144" cy="914400"/>
          </a:xfrm>
          <a:prstGeom prst="roundRect">
            <a:avLst>
              <a:gd name="adj" fmla="val 8000"/>
            </a:avLst>
          </a:prstGeom>
          <a:solidFill>
            <a:srgbClr val="FFFDF8"/>
          </a:solidFill>
          <a:ln w="12700">
            <a:solidFill>
              <a:srgbClr val="D9D2C2"/>
            </a:solidFill>
            <a:prstDash val="solid"/>
          </a:ln>
        </p:spPr>
      </p:sp>
      <p:sp>
        <p:nvSpPr>
          <p:cNvPr id="19" name="Text 17"/>
          <p:cNvSpPr/>
          <p:nvPr/>
        </p:nvSpPr>
        <p:spPr>
          <a:xfrm>
            <a:off x="4791456"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Project</a:t>
            </a:r>
            <a:endParaRPr lang="en-US" sz="1120" dirty="0"/>
          </a:p>
        </p:txBody>
      </p:sp>
      <p:sp>
        <p:nvSpPr>
          <p:cNvPr id="20" name="Text 18"/>
          <p:cNvSpPr/>
          <p:nvPr/>
        </p:nvSpPr>
        <p:spPr>
          <a:xfrm>
            <a:off x="4782312"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7-day service</a:t>
            </a:r>
            <a:endParaRPr lang="en-US" sz="880" dirty="0"/>
          </a:p>
        </p:txBody>
      </p:sp>
      <p:sp>
        <p:nvSpPr>
          <p:cNvPr id="21" name="Shape 19"/>
          <p:cNvSpPr/>
          <p:nvPr/>
        </p:nvSpPr>
        <p:spPr>
          <a:xfrm>
            <a:off x="5888736" y="3154680"/>
            <a:ext cx="155448" cy="0"/>
          </a:xfrm>
          <a:prstGeom prst="line">
            <a:avLst/>
          </a:prstGeom>
          <a:noFill/>
          <a:ln w="16510">
            <a:solidFill>
              <a:srgbClr val="1D6B62"/>
            </a:solidFill>
            <a:prstDash val="solid"/>
            <a:headEnd type="none"/>
            <a:tailEnd type="triangle"/>
          </a:ln>
        </p:spPr>
      </p:sp>
      <p:sp>
        <p:nvSpPr>
          <p:cNvPr id="22" name="Shape 20"/>
          <p:cNvSpPr/>
          <p:nvPr/>
        </p:nvSpPr>
        <p:spPr>
          <a:xfrm>
            <a:off x="6071616" y="2697480"/>
            <a:ext cx="1152144" cy="914400"/>
          </a:xfrm>
          <a:prstGeom prst="roundRect">
            <a:avLst>
              <a:gd name="adj" fmla="val 8000"/>
            </a:avLst>
          </a:prstGeom>
          <a:solidFill>
            <a:srgbClr val="FFFDF8"/>
          </a:solidFill>
          <a:ln w="12700">
            <a:solidFill>
              <a:srgbClr val="D9D2C2"/>
            </a:solidFill>
            <a:prstDash val="solid"/>
          </a:ln>
        </p:spPr>
      </p:sp>
      <p:sp>
        <p:nvSpPr>
          <p:cNvPr id="23" name="Text 21"/>
          <p:cNvSpPr/>
          <p:nvPr/>
        </p:nvSpPr>
        <p:spPr>
          <a:xfrm>
            <a:off x="6144768"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Optimize</a:t>
            </a:r>
            <a:endParaRPr lang="en-US" sz="1120" dirty="0"/>
          </a:p>
        </p:txBody>
      </p:sp>
      <p:sp>
        <p:nvSpPr>
          <p:cNvPr id="24" name="Text 22"/>
          <p:cNvSpPr/>
          <p:nvPr/>
        </p:nvSpPr>
        <p:spPr>
          <a:xfrm>
            <a:off x="6135624"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LP recovery</a:t>
            </a:r>
            <a:endParaRPr lang="en-US" sz="880" dirty="0"/>
          </a:p>
        </p:txBody>
      </p:sp>
      <p:sp>
        <p:nvSpPr>
          <p:cNvPr id="25" name="Shape 23"/>
          <p:cNvSpPr/>
          <p:nvPr/>
        </p:nvSpPr>
        <p:spPr>
          <a:xfrm>
            <a:off x="7242048" y="3154680"/>
            <a:ext cx="155448" cy="0"/>
          </a:xfrm>
          <a:prstGeom prst="line">
            <a:avLst/>
          </a:prstGeom>
          <a:noFill/>
          <a:ln w="16510">
            <a:solidFill>
              <a:srgbClr val="1D6B62"/>
            </a:solidFill>
            <a:prstDash val="solid"/>
            <a:headEnd type="none"/>
            <a:tailEnd type="triangle"/>
          </a:ln>
        </p:spPr>
      </p:sp>
      <p:sp>
        <p:nvSpPr>
          <p:cNvPr id="26" name="Shape 24"/>
          <p:cNvSpPr/>
          <p:nvPr/>
        </p:nvSpPr>
        <p:spPr>
          <a:xfrm>
            <a:off x="7424928" y="2697480"/>
            <a:ext cx="1152144" cy="914400"/>
          </a:xfrm>
          <a:prstGeom prst="roundRect">
            <a:avLst>
              <a:gd name="adj" fmla="val 8000"/>
            </a:avLst>
          </a:prstGeom>
          <a:solidFill>
            <a:srgbClr val="F1D5CC"/>
          </a:solidFill>
          <a:ln w="12700">
            <a:solidFill>
              <a:srgbClr val="B94735"/>
            </a:solidFill>
            <a:prstDash val="solid"/>
          </a:ln>
        </p:spPr>
      </p:sp>
      <p:sp>
        <p:nvSpPr>
          <p:cNvPr id="27" name="Text 25"/>
          <p:cNvSpPr/>
          <p:nvPr/>
        </p:nvSpPr>
        <p:spPr>
          <a:xfrm>
            <a:off x="749808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8F3327"/>
                </a:solidFill>
                <a:latin typeface="Aptos" pitchFamily="34" charset="0"/>
                <a:ea typeface="Aptos" pitchFamily="34" charset="-122"/>
                <a:cs typeface="Aptos" pitchFamily="34" charset="-120"/>
              </a:rPr>
              <a:t>Explain</a:t>
            </a:r>
            <a:endParaRPr lang="en-US" sz="1120" dirty="0"/>
          </a:p>
        </p:txBody>
      </p:sp>
      <p:sp>
        <p:nvSpPr>
          <p:cNvPr id="28" name="Text 26"/>
          <p:cNvSpPr/>
          <p:nvPr/>
        </p:nvSpPr>
        <p:spPr>
          <a:xfrm>
            <a:off x="748893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draft + comms</a:t>
            </a:r>
            <a:endParaRPr lang="en-US" sz="880" dirty="0"/>
          </a:p>
        </p:txBody>
      </p:sp>
      <p:sp>
        <p:nvSpPr>
          <p:cNvPr id="29" name="Shape 27"/>
          <p:cNvSpPr/>
          <p:nvPr/>
        </p:nvSpPr>
        <p:spPr>
          <a:xfrm>
            <a:off x="658368" y="4078224"/>
            <a:ext cx="8156448" cy="1554480"/>
          </a:xfrm>
          <a:prstGeom prst="roundRect">
            <a:avLst>
              <a:gd name="adj" fmla="val 4706"/>
            </a:avLst>
          </a:prstGeom>
          <a:solidFill>
            <a:srgbClr val="143B37"/>
          </a:solidFill>
          <a:ln w="12700">
            <a:solidFill>
              <a:srgbClr val="143B37"/>
            </a:solidFill>
            <a:prstDash val="solid"/>
          </a:ln>
        </p:spPr>
      </p:sp>
      <p:sp>
        <p:nvSpPr>
          <p:cNvPr id="30" name="Text 28"/>
          <p:cNvSpPr/>
          <p:nvPr/>
        </p:nvSpPr>
        <p:spPr>
          <a:xfrm>
            <a:off x="941832" y="4343400"/>
            <a:ext cx="2880360" cy="228600"/>
          </a:xfrm>
          <a:prstGeom prst="rect">
            <a:avLst/>
          </a:prstGeom>
          <a:noFill/>
          <a:ln/>
        </p:spPr>
        <p:txBody>
          <a:bodyPr wrap="square" lIns="0" tIns="0" rIns="0" bIns="0" rtlCol="0" anchor="ctr">
            <a:normAutofit/>
          </a:bodyPr>
          <a:lstStyle/>
          <a:p>
            <a:pPr indent="0" marL="0">
              <a:buNone/>
            </a:pPr>
            <a:r>
              <a:rPr lang="en-US" sz="1000" b="1" spc="110" kern="0" dirty="0">
                <a:solidFill>
                  <a:srgbClr val="78B7A9"/>
                </a:solidFill>
                <a:latin typeface="Aptos" pitchFamily="34" charset="0"/>
                <a:ea typeface="Aptos" pitchFamily="34" charset="-122"/>
                <a:cs typeface="Aptos" pitchFamily="34" charset="-120"/>
              </a:rPr>
              <a:t>DETERMINISTIC GUARDRAIL LANE</a:t>
            </a:r>
            <a:endParaRPr lang="en-US" sz="1000" dirty="0"/>
          </a:p>
        </p:txBody>
      </p:sp>
      <p:sp>
        <p:nvSpPr>
          <p:cNvPr id="31" name="Shape 29"/>
          <p:cNvSpPr/>
          <p:nvPr/>
        </p:nvSpPr>
        <p:spPr>
          <a:xfrm>
            <a:off x="941832" y="4754880"/>
            <a:ext cx="237744" cy="237744"/>
          </a:xfrm>
          <a:prstGeom prst="ellipse">
            <a:avLst/>
          </a:prstGeom>
          <a:solidFill>
            <a:srgbClr val="78B7A9"/>
          </a:solidFill>
          <a:ln w="12700">
            <a:solidFill>
              <a:srgbClr val="78B7A9"/>
            </a:solidFill>
            <a:prstDash val="solid"/>
          </a:ln>
        </p:spPr>
      </p:sp>
      <p:sp>
        <p:nvSpPr>
          <p:cNvPr id="32" name="Text 30"/>
          <p:cNvSpPr/>
          <p:nvPr/>
        </p:nvSpPr>
        <p:spPr>
          <a:xfrm>
            <a:off x="1289304"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Provenance</a:t>
            </a:r>
            <a:endParaRPr lang="en-US" sz="1000" dirty="0"/>
          </a:p>
        </p:txBody>
      </p:sp>
      <p:sp>
        <p:nvSpPr>
          <p:cNvPr id="33" name="Text 31"/>
          <p:cNvSpPr/>
          <p:nvPr/>
        </p:nvSpPr>
        <p:spPr>
          <a:xfrm>
            <a:off x="1289304" y="4965192"/>
            <a:ext cx="1060704" cy="457200"/>
          </a:xfrm>
          <a:prstGeom prst="rect">
            <a:avLst/>
          </a:prstGeom>
          <a:noFill/>
          <a:ln/>
        </p:spPr>
        <p:txBody>
          <a:bodyPr wrap="square" lIns="0" tIns="0" rIns="0" bIns="0" rtlCol="0" anchor="t">
            <a:normAutofit/>
          </a:bodyPr>
          <a:lstStyle/>
          <a:p>
            <a:pPr indent="0" marL="0">
              <a:buNone/>
            </a:pPr>
            <a:r>
              <a:rPr lang="en-US" sz="900" dirty="0">
                <a:solidFill>
                  <a:srgbClr val="D7E7E1"/>
                </a:solidFill>
                <a:latin typeface="Aptos" pitchFamily="34" charset="0"/>
                <a:ea typeface="Aptos" pitchFamily="34" charset="-122"/>
                <a:cs typeface="Aptos" pitchFamily="34" charset="-120"/>
              </a:rPr>
              <a:t>unsupported fields dropped</a:t>
            </a:r>
            <a:endParaRPr lang="en-US" sz="900" dirty="0"/>
          </a:p>
        </p:txBody>
      </p:sp>
      <p:sp>
        <p:nvSpPr>
          <p:cNvPr id="34" name="Shape 32"/>
          <p:cNvSpPr/>
          <p:nvPr/>
        </p:nvSpPr>
        <p:spPr>
          <a:xfrm>
            <a:off x="2441448" y="4754880"/>
            <a:ext cx="237744" cy="237744"/>
          </a:xfrm>
          <a:prstGeom prst="ellipse">
            <a:avLst/>
          </a:prstGeom>
          <a:solidFill>
            <a:srgbClr val="78B7A9"/>
          </a:solidFill>
          <a:ln w="12700">
            <a:solidFill>
              <a:srgbClr val="78B7A9"/>
            </a:solidFill>
            <a:prstDash val="solid"/>
          </a:ln>
        </p:spPr>
      </p:sp>
      <p:sp>
        <p:nvSpPr>
          <p:cNvPr id="35" name="Text 33"/>
          <p:cNvSpPr/>
          <p:nvPr/>
        </p:nvSpPr>
        <p:spPr>
          <a:xfrm>
            <a:off x="2788920"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Recall state</a:t>
            </a:r>
            <a:endParaRPr lang="en-US" sz="1000" dirty="0"/>
          </a:p>
        </p:txBody>
      </p:sp>
      <p:sp>
        <p:nvSpPr>
          <p:cNvPr id="36" name="Text 34"/>
          <p:cNvSpPr/>
          <p:nvPr/>
        </p:nvSpPr>
        <p:spPr>
          <a:xfrm>
            <a:off x="2788920" y="4965192"/>
            <a:ext cx="1060704" cy="457200"/>
          </a:xfrm>
          <a:prstGeom prst="rect">
            <a:avLst/>
          </a:prstGeom>
          <a:noFill/>
          <a:ln/>
        </p:spPr>
        <p:txBody>
          <a:bodyPr wrap="square" lIns="0" tIns="0" rIns="0" bIns="0" rtlCol="0" anchor="t">
            <a:normAutofit/>
          </a:bodyPr>
          <a:lstStyle/>
          <a:p>
            <a:pPr indent="0" marL="0">
              <a:buNone/>
            </a:pPr>
            <a:r>
              <a:rPr lang="en-US" sz="900" dirty="0">
                <a:solidFill>
                  <a:srgbClr val="D7E7E1"/>
                </a:solidFill>
                <a:latin typeface="Aptos" pitchFamily="34" charset="0"/>
                <a:ea typeface="Aptos" pitchFamily="34" charset="-122"/>
                <a:cs typeface="Aptos" pitchFamily="34" charset="-120"/>
              </a:rPr>
              <a:t>confirmed inventory never returns</a:t>
            </a:r>
            <a:endParaRPr lang="en-US" sz="900" dirty="0"/>
          </a:p>
        </p:txBody>
      </p:sp>
      <p:sp>
        <p:nvSpPr>
          <p:cNvPr id="37" name="Shape 35"/>
          <p:cNvSpPr/>
          <p:nvPr/>
        </p:nvSpPr>
        <p:spPr>
          <a:xfrm>
            <a:off x="3941064" y="4754880"/>
            <a:ext cx="237744" cy="237744"/>
          </a:xfrm>
          <a:prstGeom prst="ellipse">
            <a:avLst/>
          </a:prstGeom>
          <a:solidFill>
            <a:srgbClr val="78B7A9"/>
          </a:solidFill>
          <a:ln w="12700">
            <a:solidFill>
              <a:srgbClr val="78B7A9"/>
            </a:solidFill>
            <a:prstDash val="solid"/>
          </a:ln>
        </p:spPr>
      </p:sp>
      <p:sp>
        <p:nvSpPr>
          <p:cNvPr id="38" name="Text 36"/>
          <p:cNvSpPr/>
          <p:nvPr/>
        </p:nvSpPr>
        <p:spPr>
          <a:xfrm>
            <a:off x="4288536"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Projection</a:t>
            </a:r>
            <a:endParaRPr lang="en-US" sz="1000" dirty="0"/>
          </a:p>
        </p:txBody>
      </p:sp>
      <p:sp>
        <p:nvSpPr>
          <p:cNvPr id="39" name="Text 37"/>
          <p:cNvSpPr/>
          <p:nvPr/>
        </p:nvSpPr>
        <p:spPr>
          <a:xfrm>
            <a:off x="4288536" y="4965192"/>
            <a:ext cx="1060704" cy="457200"/>
          </a:xfrm>
          <a:prstGeom prst="rect">
            <a:avLst/>
          </a:prstGeom>
          <a:noFill/>
          <a:ln/>
        </p:spPr>
        <p:txBody>
          <a:bodyPr wrap="square" lIns="0" tIns="0" rIns="0" bIns="0" rtlCol="0" anchor="t">
            <a:normAutofit/>
          </a:bodyPr>
          <a:lstStyle/>
          <a:p>
            <a:pPr indent="0" marL="0">
              <a:buNone/>
            </a:pPr>
            <a:r>
              <a:rPr lang="en-US" sz="900" dirty="0">
                <a:solidFill>
                  <a:srgbClr val="D7E7E1"/>
                </a:solidFill>
                <a:latin typeface="Aptos" pitchFamily="34" charset="0"/>
                <a:ea typeface="Aptos" pitchFamily="34" charset="-122"/>
                <a:cs typeface="Aptos" pitchFamily="34" charset="-120"/>
              </a:rPr>
              <a:t>warehouse FEFO + PO ETA</a:t>
            </a:r>
            <a:endParaRPr lang="en-US" sz="900" dirty="0"/>
          </a:p>
        </p:txBody>
      </p:sp>
      <p:sp>
        <p:nvSpPr>
          <p:cNvPr id="40" name="Shape 38"/>
          <p:cNvSpPr/>
          <p:nvPr/>
        </p:nvSpPr>
        <p:spPr>
          <a:xfrm>
            <a:off x="5440680" y="4754880"/>
            <a:ext cx="237744" cy="237744"/>
          </a:xfrm>
          <a:prstGeom prst="ellipse">
            <a:avLst/>
          </a:prstGeom>
          <a:solidFill>
            <a:srgbClr val="78B7A9"/>
          </a:solidFill>
          <a:ln w="12700">
            <a:solidFill>
              <a:srgbClr val="78B7A9"/>
            </a:solidFill>
            <a:prstDash val="solid"/>
          </a:ln>
        </p:spPr>
      </p:sp>
      <p:sp>
        <p:nvSpPr>
          <p:cNvPr id="41" name="Text 39"/>
          <p:cNvSpPr/>
          <p:nvPr/>
        </p:nvSpPr>
        <p:spPr>
          <a:xfrm>
            <a:off x="5788152"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Optimization</a:t>
            </a:r>
            <a:endParaRPr lang="en-US" sz="1000" dirty="0"/>
          </a:p>
        </p:txBody>
      </p:sp>
      <p:sp>
        <p:nvSpPr>
          <p:cNvPr id="42" name="Text 40"/>
          <p:cNvSpPr/>
          <p:nvPr/>
        </p:nvSpPr>
        <p:spPr>
          <a:xfrm>
            <a:off x="5788152" y="4965192"/>
            <a:ext cx="1060704" cy="457200"/>
          </a:xfrm>
          <a:prstGeom prst="rect">
            <a:avLst/>
          </a:prstGeom>
          <a:noFill/>
          <a:ln/>
        </p:spPr>
        <p:txBody>
          <a:bodyPr wrap="square" lIns="0" tIns="0" rIns="0" bIns="0" rtlCol="0" anchor="t">
            <a:normAutofit/>
          </a:bodyPr>
          <a:lstStyle/>
          <a:p>
            <a:pPr indent="0" marL="0">
              <a:buNone/>
            </a:pPr>
            <a:r>
              <a:rPr lang="en-US" sz="900" dirty="0">
                <a:solidFill>
                  <a:srgbClr val="D7E7E1"/>
                </a:solidFill>
                <a:latin typeface="Aptos" pitchFamily="34" charset="0"/>
                <a:ea typeface="Aptos" pitchFamily="34" charset="-122"/>
                <a:cs typeface="Aptos" pitchFamily="34" charset="-120"/>
              </a:rPr>
              <a:t>capacity, demand, expiry, cost</a:t>
            </a:r>
            <a:endParaRPr lang="en-US" sz="900" dirty="0"/>
          </a:p>
        </p:txBody>
      </p:sp>
      <p:sp>
        <p:nvSpPr>
          <p:cNvPr id="43" name="Shape 41"/>
          <p:cNvSpPr/>
          <p:nvPr/>
        </p:nvSpPr>
        <p:spPr>
          <a:xfrm>
            <a:off x="6940296" y="4754880"/>
            <a:ext cx="237744" cy="237744"/>
          </a:xfrm>
          <a:prstGeom prst="ellipse">
            <a:avLst/>
          </a:prstGeom>
          <a:solidFill>
            <a:srgbClr val="B94735"/>
          </a:solidFill>
          <a:ln w="12700">
            <a:solidFill>
              <a:srgbClr val="B94735"/>
            </a:solidFill>
            <a:prstDash val="solid"/>
          </a:ln>
        </p:spPr>
      </p:sp>
      <p:sp>
        <p:nvSpPr>
          <p:cNvPr id="44" name="Text 42"/>
          <p:cNvSpPr/>
          <p:nvPr/>
        </p:nvSpPr>
        <p:spPr>
          <a:xfrm>
            <a:off x="7287768"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Approval</a:t>
            </a:r>
            <a:endParaRPr lang="en-US" sz="1000" dirty="0"/>
          </a:p>
        </p:txBody>
      </p:sp>
      <p:sp>
        <p:nvSpPr>
          <p:cNvPr id="45" name="Text 43"/>
          <p:cNvSpPr/>
          <p:nvPr/>
        </p:nvSpPr>
        <p:spPr>
          <a:xfrm>
            <a:off x="7287768" y="4965192"/>
            <a:ext cx="1060704" cy="457200"/>
          </a:xfrm>
          <a:prstGeom prst="rect">
            <a:avLst/>
          </a:prstGeom>
          <a:noFill/>
          <a:ln/>
        </p:spPr>
        <p:txBody>
          <a:bodyPr wrap="square" lIns="0" tIns="0" rIns="0" bIns="0" rtlCol="0" anchor="t">
            <a:normAutofit/>
          </a:bodyPr>
          <a:lstStyle/>
          <a:p>
            <a:pPr indent="0" marL="0">
              <a:buNone/>
            </a:pPr>
            <a:r>
              <a:rPr lang="en-US" sz="900" dirty="0">
                <a:solidFill>
                  <a:srgbClr val="D7E7E1"/>
                </a:solidFill>
                <a:latin typeface="Aptos" pitchFamily="34" charset="0"/>
                <a:ea typeface="Aptos" pitchFamily="34" charset="-122"/>
                <a:cs typeface="Aptos" pitchFamily="34" charset="-120"/>
              </a:rPr>
              <a:t>latest, intact, feasible, idempotent</a:t>
            </a:r>
            <a:endParaRPr lang="en-US" sz="900" dirty="0"/>
          </a:p>
        </p:txBody>
      </p:sp>
      <p:sp>
        <p:nvSpPr>
          <p:cNvPr id="46" name="Shape 44"/>
          <p:cNvSpPr/>
          <p:nvPr/>
        </p:nvSpPr>
        <p:spPr>
          <a:xfrm>
            <a:off x="9125712" y="2331720"/>
            <a:ext cx="2423160" cy="3300984"/>
          </a:xfrm>
          <a:prstGeom prst="roundRect">
            <a:avLst>
              <a:gd name="adj" fmla="val 3019"/>
            </a:avLst>
          </a:prstGeom>
          <a:solidFill>
            <a:srgbClr val="E8EEE9"/>
          </a:solidFill>
          <a:ln w="12700">
            <a:solidFill>
              <a:srgbClr val="D9D2C2"/>
            </a:solidFill>
            <a:prstDash val="solid"/>
          </a:ln>
        </p:spPr>
      </p:sp>
      <p:sp>
        <p:nvSpPr>
          <p:cNvPr id="47" name="Text 45"/>
          <p:cNvSpPr/>
          <p:nvPr/>
        </p:nvSpPr>
        <p:spPr>
          <a:xfrm>
            <a:off x="9400032" y="2624328"/>
            <a:ext cx="1874520" cy="292608"/>
          </a:xfrm>
          <a:prstGeom prst="rect">
            <a:avLst/>
          </a:prstGeom>
          <a:noFill/>
          <a:ln/>
        </p:spPr>
        <p:txBody>
          <a:bodyPr wrap="square" lIns="0" tIns="0" rIns="0" bIns="0" rtlCol="0" anchor="ctr">
            <a:normAutofit/>
          </a:bodyPr>
          <a:lstStyle/>
          <a:p>
            <a:pPr indent="0" marL="0">
              <a:buNone/>
            </a:pPr>
            <a:r>
              <a:rPr lang="en-US" sz="1350" b="1" dirty="0">
                <a:solidFill>
                  <a:srgbClr val="132524"/>
                </a:solidFill>
                <a:latin typeface="Aptos" pitchFamily="34" charset="0"/>
                <a:ea typeface="Aptos" pitchFamily="34" charset="-122"/>
                <a:cs typeface="Aptos" pitchFamily="34" charset="-120"/>
              </a:rPr>
              <a:t>Boring stack, on purpose</a:t>
            </a:r>
            <a:endParaRPr lang="en-US" sz="1350" dirty="0"/>
          </a:p>
        </p:txBody>
      </p:sp>
      <p:sp>
        <p:nvSpPr>
          <p:cNvPr id="48" name="Shape 46"/>
          <p:cNvSpPr/>
          <p:nvPr/>
        </p:nvSpPr>
        <p:spPr>
          <a:xfrm>
            <a:off x="9400032" y="3163824"/>
            <a:ext cx="237744" cy="237744"/>
          </a:xfrm>
          <a:prstGeom prst="ellipse">
            <a:avLst/>
          </a:prstGeom>
          <a:solidFill>
            <a:srgbClr val="1D6B62"/>
          </a:solidFill>
          <a:ln w="12700">
            <a:solidFill>
              <a:srgbClr val="1D6B62"/>
            </a:solidFill>
            <a:prstDash val="solid"/>
          </a:ln>
        </p:spPr>
      </p:sp>
      <p:sp>
        <p:nvSpPr>
          <p:cNvPr id="49" name="Text 47"/>
          <p:cNvSpPr/>
          <p:nvPr/>
        </p:nvSpPr>
        <p:spPr>
          <a:xfrm>
            <a:off x="9400032" y="315468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0" name="Text 48"/>
          <p:cNvSpPr/>
          <p:nvPr/>
        </p:nvSpPr>
        <p:spPr>
          <a:xfrm>
            <a:off x="9747504" y="3145536"/>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openFDA + FSIS</a:t>
            </a:r>
            <a:endParaRPr lang="en-US" sz="1150" dirty="0"/>
          </a:p>
        </p:txBody>
      </p:sp>
      <p:sp>
        <p:nvSpPr>
          <p:cNvPr id="51" name="Text 49"/>
          <p:cNvSpPr/>
          <p:nvPr/>
        </p:nvSpPr>
        <p:spPr>
          <a:xfrm>
            <a:off x="9747504" y="3392424"/>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live authority incidents</a:t>
            </a:r>
            <a:endParaRPr lang="en-US" sz="950" dirty="0"/>
          </a:p>
        </p:txBody>
      </p:sp>
      <p:sp>
        <p:nvSpPr>
          <p:cNvPr id="52" name="Shape 50"/>
          <p:cNvSpPr/>
          <p:nvPr/>
        </p:nvSpPr>
        <p:spPr>
          <a:xfrm>
            <a:off x="9400032" y="3794760"/>
            <a:ext cx="237744" cy="237744"/>
          </a:xfrm>
          <a:prstGeom prst="ellipse">
            <a:avLst/>
          </a:prstGeom>
          <a:solidFill>
            <a:srgbClr val="1D6B62"/>
          </a:solidFill>
          <a:ln w="12700">
            <a:solidFill>
              <a:srgbClr val="1D6B62"/>
            </a:solidFill>
            <a:prstDash val="solid"/>
          </a:ln>
        </p:spPr>
      </p:sp>
      <p:sp>
        <p:nvSpPr>
          <p:cNvPr id="53" name="Text 51"/>
          <p:cNvSpPr/>
          <p:nvPr/>
        </p:nvSpPr>
        <p:spPr>
          <a:xfrm>
            <a:off x="9400032" y="37856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4" name="Text 52"/>
          <p:cNvSpPr/>
          <p:nvPr/>
        </p:nvSpPr>
        <p:spPr>
          <a:xfrm>
            <a:off x="9747504" y="3776472"/>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SQLite + NetworkX</a:t>
            </a:r>
            <a:endParaRPr lang="en-US" sz="1150" dirty="0"/>
          </a:p>
        </p:txBody>
      </p:sp>
      <p:sp>
        <p:nvSpPr>
          <p:cNvPr id="55" name="Text 53"/>
          <p:cNvSpPr/>
          <p:nvPr/>
        </p:nvSpPr>
        <p:spPr>
          <a:xfrm>
            <a:off x="9747504" y="4023360"/>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auditable state + lineage</a:t>
            </a:r>
            <a:endParaRPr lang="en-US" sz="950" dirty="0"/>
          </a:p>
        </p:txBody>
      </p:sp>
      <p:sp>
        <p:nvSpPr>
          <p:cNvPr id="56" name="Shape 54"/>
          <p:cNvSpPr/>
          <p:nvPr/>
        </p:nvSpPr>
        <p:spPr>
          <a:xfrm>
            <a:off x="9400032" y="4425696"/>
            <a:ext cx="237744" cy="237744"/>
          </a:xfrm>
          <a:prstGeom prst="ellipse">
            <a:avLst/>
          </a:prstGeom>
          <a:solidFill>
            <a:srgbClr val="1D6B62"/>
          </a:solidFill>
          <a:ln w="12700">
            <a:solidFill>
              <a:srgbClr val="1D6B62"/>
            </a:solidFill>
            <a:prstDash val="solid"/>
          </a:ln>
        </p:spPr>
      </p:sp>
      <p:sp>
        <p:nvSpPr>
          <p:cNvPr id="57" name="Text 55"/>
          <p:cNvSpPr/>
          <p:nvPr/>
        </p:nvSpPr>
        <p:spPr>
          <a:xfrm>
            <a:off x="9400032" y="441655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8" name="Text 56"/>
          <p:cNvSpPr/>
          <p:nvPr/>
        </p:nvSpPr>
        <p:spPr>
          <a:xfrm>
            <a:off x="9747504" y="4407408"/>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Linear program</a:t>
            </a:r>
            <a:endParaRPr lang="en-US" sz="1150" dirty="0"/>
          </a:p>
        </p:txBody>
      </p:sp>
      <p:sp>
        <p:nvSpPr>
          <p:cNvPr id="59" name="Text 57"/>
          <p:cNvSpPr/>
          <p:nvPr/>
        </p:nvSpPr>
        <p:spPr>
          <a:xfrm>
            <a:off x="9747504" y="4654296"/>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feasible recovery plan</a:t>
            </a:r>
            <a:endParaRPr lang="en-US" sz="950" dirty="0"/>
          </a:p>
        </p:txBody>
      </p:sp>
      <p:sp>
        <p:nvSpPr>
          <p:cNvPr id="60" name="Shape 58"/>
          <p:cNvSpPr/>
          <p:nvPr/>
        </p:nvSpPr>
        <p:spPr>
          <a:xfrm>
            <a:off x="9400032" y="5056632"/>
            <a:ext cx="237744" cy="237744"/>
          </a:xfrm>
          <a:prstGeom prst="ellipse">
            <a:avLst/>
          </a:prstGeom>
          <a:solidFill>
            <a:srgbClr val="B94735"/>
          </a:solidFill>
          <a:ln w="12700">
            <a:solidFill>
              <a:srgbClr val="B94735"/>
            </a:solidFill>
            <a:prstDash val="solid"/>
          </a:ln>
        </p:spPr>
      </p:sp>
      <p:sp>
        <p:nvSpPr>
          <p:cNvPr id="61" name="Text 59"/>
          <p:cNvSpPr/>
          <p:nvPr/>
        </p:nvSpPr>
        <p:spPr>
          <a:xfrm>
            <a:off x="9400032" y="5047488"/>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62" name="Text 60"/>
          <p:cNvSpPr/>
          <p:nvPr/>
        </p:nvSpPr>
        <p:spPr>
          <a:xfrm>
            <a:off x="9747504" y="5038344"/>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Streamlit</a:t>
            </a:r>
            <a:endParaRPr lang="en-US" sz="1150" dirty="0"/>
          </a:p>
        </p:txBody>
      </p:sp>
      <p:sp>
        <p:nvSpPr>
          <p:cNvPr id="63" name="Text 61"/>
          <p:cNvSpPr/>
          <p:nvPr/>
        </p:nvSpPr>
        <p:spPr>
          <a:xfrm>
            <a:off x="9747504" y="5285232"/>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review and approval UI</a:t>
            </a:r>
            <a:endParaRPr lang="en-US" sz="950" dirty="0"/>
          </a:p>
        </p:txBody>
      </p:sp>
      <p:sp>
        <p:nvSpPr>
          <p:cNvPr id="64" name="Text 6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Authority incidents are real; operational records and computed impacts remain synthetic.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Technical architecture" history="1" highlightClick="0" endSnd="0">
                  <a:extLst>
                    <a:ext uri="{A12FA001-AC4F-418D-AE19-62706E023703}">
                      <ahyp:hlinkClr xmlns:ahyp="http://schemas.microsoft.com/office/drawing/2018/hyperlinkcolor" val="tx"/>
                    </a:ext>
                  </a:extLst>
                </a:hlinkClick>
              </a:rPr>
              <a:t>Technical architecture</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Official source adapters" history="1" highlightClick="0" endSnd="0">
                  <a:extLst>
                    <a:ext uri="{A12FA001-AC4F-418D-AE19-62706E023703}">
                      <ahyp:hlinkClr xmlns:ahyp="http://schemas.microsoft.com/office/drawing/2018/hyperlinkcolor" val="tx"/>
                    </a:ext>
                  </a:extLst>
                </a:hlinkClick>
              </a:rPr>
              <a:t>Official source adapters</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Approval implementation" history="1" highlightClick="0" endSnd="0">
                  <a:extLst>
                    <a:ext uri="{A12FA001-AC4F-418D-AE19-62706E023703}">
                      <ahyp:hlinkClr xmlns:ahyp="http://schemas.microsoft.com/office/drawing/2018/hyperlinkcolor" val="tx"/>
                    </a:ext>
                  </a:extLst>
                </a:hlinkClick>
              </a:rPr>
              <a:t>Approval implementation</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PRODUCT PROOF</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Every claim can be traced back to evidence.</a:t>
            </a:r>
            <a:endParaRPr lang="en-US" sz="3600" dirty="0"/>
          </a:p>
        </p:txBody>
      </p:sp>
      <p:sp>
        <p:nvSpPr>
          <p:cNvPr id="4" name="Text 2"/>
          <p:cNvSpPr/>
          <p:nvPr/>
        </p:nvSpPr>
        <p:spPr>
          <a:xfrm>
            <a:off x="658368" y="1572768"/>
            <a:ext cx="10698480" cy="502920"/>
          </a:xfrm>
          <a:prstGeom prst="rect">
            <a:avLst/>
          </a:prstGeom>
          <a:noFill/>
          <a:ln/>
        </p:spPr>
        <p:txBody>
          <a:bodyPr wrap="square" lIns="0" tIns="0" rIns="0" bIns="0" rtlCol="0" anchor="t">
            <a:normAutofit/>
          </a:bodyPr>
          <a:lstStyle/>
          <a:p>
            <a:pPr indent="0" marL="0">
              <a:buNone/>
            </a:pPr>
            <a:r>
              <a:rPr lang="en-US" sz="1520" dirty="0">
                <a:solidFill>
                  <a:srgbClr val="61706D"/>
                </a:solidFill>
                <a:latin typeface="Aptos" pitchFamily="34" charset="0"/>
                <a:ea typeface="Aptos" pitchFamily="34" charset="-122"/>
                <a:cs typeface="Aptos" pitchFamily="34" charset="-120"/>
              </a:rPr>
              <a:t>API facts survive only with retained source support. SYN-LIVE records stay visibly synthetic, while untouched-network mode can stop honestly at zero exposure.</a:t>
            </a:r>
            <a:endParaRPr lang="en-US" sz="152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sp>
        <p:nvSpPr>
          <p:cNvPr id="6" name="Text 4"/>
          <p:cNvSpPr/>
          <p:nvPr/>
        </p:nvSpPr>
        <p:spPr>
          <a:xfrm>
            <a:off x="932688" y="2523744"/>
            <a:ext cx="2331720" cy="219456"/>
          </a:xfrm>
          <a:prstGeom prst="rect">
            <a:avLst/>
          </a:prstGeom>
          <a:noFill/>
          <a:ln/>
        </p:spPr>
        <p:txBody>
          <a:bodyPr wrap="square" lIns="0" tIns="0" rIns="0" bIns="0" rtlCol="0" anchor="ctr">
            <a:normAutofit/>
          </a:bodyPr>
          <a:lstStyle/>
          <a:p>
            <a:pPr indent="0" marL="0">
              <a:buNone/>
            </a:pPr>
            <a:r>
              <a:rPr lang="en-US" sz="950" b="1" spc="100" kern="0" dirty="0">
                <a:solidFill>
                  <a:srgbClr val="B94735"/>
                </a:solidFill>
                <a:latin typeface="Aptos" pitchFamily="34" charset="0"/>
                <a:ea typeface="Aptos" pitchFamily="34" charset="-122"/>
                <a:cs typeface="Aptos" pitchFamily="34" charset="-120"/>
              </a:rPr>
              <a:t>NORMALIZED FACT</a:t>
            </a:r>
            <a:endParaRPr lang="en-US" sz="950" dirty="0"/>
          </a:p>
        </p:txBody>
      </p:sp>
      <p:sp>
        <p:nvSpPr>
          <p:cNvPr id="7" name="Text 5"/>
          <p:cNvSpPr/>
          <p:nvPr/>
        </p:nvSpPr>
        <p:spPr>
          <a:xfrm>
            <a:off x="3913632" y="2523744"/>
            <a:ext cx="4206240" cy="219456"/>
          </a:xfrm>
          <a:prstGeom prst="rect">
            <a:avLst/>
          </a:prstGeom>
          <a:noFill/>
          <a:ln/>
        </p:spPr>
        <p:txBody>
          <a:bodyPr wrap="square" lIns="0" tIns="0" rIns="0" bIns="0" rtlCol="0" anchor="ctr">
            <a:normAutofit/>
          </a:bodyPr>
          <a:lstStyle/>
          <a:p>
            <a:pPr indent="0" marL="0">
              <a:buNone/>
            </a:pPr>
            <a:r>
              <a:rPr lang="en-US" sz="950" b="1" spc="100" kern="0" dirty="0">
                <a:solidFill>
                  <a:srgbClr val="1D6B62"/>
                </a:solidFill>
                <a:latin typeface="Aptos" pitchFamily="34" charset="0"/>
                <a:ea typeface="Aptos" pitchFamily="34" charset="-122"/>
                <a:cs typeface="Aptos" pitchFamily="34" charset="-120"/>
              </a:rPr>
              <a:t>VERBATIM SOURCE EVIDENCE</a:t>
            </a:r>
            <a:endParaRPr lang="en-US" sz="950" dirty="0"/>
          </a:p>
        </p:txBody>
      </p:sp>
      <p:sp>
        <p:nvSpPr>
          <p:cNvPr id="8" name="Shape 6"/>
          <p:cNvSpPr/>
          <p:nvPr/>
        </p:nvSpPr>
        <p:spPr>
          <a:xfrm>
            <a:off x="932688" y="2889504"/>
            <a:ext cx="2423160" cy="722376"/>
          </a:xfrm>
          <a:prstGeom prst="roundRect">
            <a:avLst>
              <a:gd name="adj" fmla="val 10127"/>
            </a:avLst>
          </a:prstGeom>
          <a:solidFill>
            <a:srgbClr val="F1D5CC"/>
          </a:solidFill>
          <a:ln w="12700">
            <a:solidFill>
              <a:srgbClr val="D9D2C2"/>
            </a:solidFill>
            <a:prstDash val="solid"/>
          </a:ln>
        </p:spPr>
      </p:sp>
      <p:sp>
        <p:nvSpPr>
          <p:cNvPr id="9" name="Text 7"/>
          <p:cNvSpPr/>
          <p:nvPr/>
        </p:nvSpPr>
        <p:spPr>
          <a:xfrm>
            <a:off x="1133856" y="2999232"/>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supplier_names</a:t>
            </a:r>
            <a:endParaRPr lang="en-US" sz="880" dirty="0"/>
          </a:p>
        </p:txBody>
      </p:sp>
      <p:sp>
        <p:nvSpPr>
          <p:cNvPr id="10" name="Text 8"/>
          <p:cNvSpPr/>
          <p:nvPr/>
        </p:nvSpPr>
        <p:spPr>
          <a:xfrm>
            <a:off x="1133856" y="3218688"/>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Golden Valley Produce LLC</a:t>
            </a:r>
            <a:endParaRPr lang="en-US" sz="1180" dirty="0"/>
          </a:p>
        </p:txBody>
      </p:sp>
      <p:sp>
        <p:nvSpPr>
          <p:cNvPr id="11" name="Shape 9"/>
          <p:cNvSpPr/>
          <p:nvPr/>
        </p:nvSpPr>
        <p:spPr>
          <a:xfrm>
            <a:off x="3465576" y="3255264"/>
            <a:ext cx="301752" cy="0"/>
          </a:xfrm>
          <a:prstGeom prst="line">
            <a:avLst/>
          </a:prstGeom>
          <a:noFill/>
          <a:ln w="22860">
            <a:solidFill>
              <a:srgbClr val="B94735"/>
            </a:solidFill>
            <a:prstDash val="solid"/>
            <a:headEnd type="none"/>
            <a:tailEnd type="triangle"/>
          </a:ln>
        </p:spPr>
      </p:sp>
      <p:sp>
        <p:nvSpPr>
          <p:cNvPr id="12" name="Shape 10"/>
          <p:cNvSpPr/>
          <p:nvPr/>
        </p:nvSpPr>
        <p:spPr>
          <a:xfrm>
            <a:off x="3913632" y="2889504"/>
            <a:ext cx="4251960" cy="722376"/>
          </a:xfrm>
          <a:prstGeom prst="roundRect">
            <a:avLst>
              <a:gd name="adj" fmla="val 10127"/>
            </a:avLst>
          </a:prstGeom>
          <a:solidFill>
            <a:srgbClr val="E8EEE9"/>
          </a:solidFill>
          <a:ln w="12700">
            <a:solidFill>
              <a:srgbClr val="D9D2C2"/>
            </a:solidFill>
            <a:prstDash val="solid"/>
          </a:ln>
        </p:spPr>
      </p:sp>
      <p:sp>
        <p:nvSpPr>
          <p:cNvPr id="13" name="Text 11"/>
          <p:cNvSpPr/>
          <p:nvPr/>
        </p:nvSpPr>
        <p:spPr>
          <a:xfrm>
            <a:off x="4160520" y="2999232"/>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“Golden Valley Produce LLC of Salinas, California is voluntarily recalling”</a:t>
            </a:r>
            <a:endParaRPr lang="en-US" sz="1200" dirty="0"/>
          </a:p>
        </p:txBody>
      </p:sp>
      <p:sp>
        <p:nvSpPr>
          <p:cNvPr id="14" name="Shape 12"/>
          <p:cNvSpPr/>
          <p:nvPr/>
        </p:nvSpPr>
        <p:spPr>
          <a:xfrm>
            <a:off x="932688" y="3822192"/>
            <a:ext cx="2423160" cy="722376"/>
          </a:xfrm>
          <a:prstGeom prst="roundRect">
            <a:avLst>
              <a:gd name="adj" fmla="val 10127"/>
            </a:avLst>
          </a:prstGeom>
          <a:solidFill>
            <a:srgbClr val="F1D5CC"/>
          </a:solidFill>
          <a:ln w="12700">
            <a:solidFill>
              <a:srgbClr val="D9D2C2"/>
            </a:solidFill>
            <a:prstDash val="solid"/>
          </a:ln>
        </p:spPr>
      </p:sp>
      <p:sp>
        <p:nvSpPr>
          <p:cNvPr id="15" name="Text 13"/>
          <p:cNvSpPr/>
          <p:nvPr/>
        </p:nvSpPr>
        <p:spPr>
          <a:xfrm>
            <a:off x="1133856" y="3931920"/>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lot_codes</a:t>
            </a:r>
            <a:endParaRPr lang="en-US" sz="880" dirty="0"/>
          </a:p>
        </p:txBody>
      </p:sp>
      <p:sp>
        <p:nvSpPr>
          <p:cNvPr id="16" name="Text 14"/>
          <p:cNvSpPr/>
          <p:nvPr/>
        </p:nvSpPr>
        <p:spPr>
          <a:xfrm>
            <a:off x="1133856" y="4151376"/>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GVP-8842, GVP-8843</a:t>
            </a:r>
            <a:endParaRPr lang="en-US" sz="1180" dirty="0"/>
          </a:p>
        </p:txBody>
      </p:sp>
      <p:sp>
        <p:nvSpPr>
          <p:cNvPr id="17" name="Shape 15"/>
          <p:cNvSpPr/>
          <p:nvPr/>
        </p:nvSpPr>
        <p:spPr>
          <a:xfrm>
            <a:off x="3465576" y="4187952"/>
            <a:ext cx="301752" cy="0"/>
          </a:xfrm>
          <a:prstGeom prst="line">
            <a:avLst/>
          </a:prstGeom>
          <a:noFill/>
          <a:ln w="22860">
            <a:solidFill>
              <a:srgbClr val="B94735"/>
            </a:solidFill>
            <a:prstDash val="solid"/>
            <a:headEnd type="none"/>
            <a:tailEnd type="triangle"/>
          </a:ln>
        </p:spPr>
      </p:sp>
      <p:sp>
        <p:nvSpPr>
          <p:cNvPr id="18" name="Shape 16"/>
          <p:cNvSpPr/>
          <p:nvPr/>
        </p:nvSpPr>
        <p:spPr>
          <a:xfrm>
            <a:off x="3913632" y="3822192"/>
            <a:ext cx="4251960" cy="722376"/>
          </a:xfrm>
          <a:prstGeom prst="roundRect">
            <a:avLst>
              <a:gd name="adj" fmla="val 10127"/>
            </a:avLst>
          </a:prstGeom>
          <a:solidFill>
            <a:srgbClr val="E8EEE9"/>
          </a:solidFill>
          <a:ln w="12700">
            <a:solidFill>
              <a:srgbClr val="D9D2C2"/>
            </a:solidFill>
            <a:prstDash val="solid"/>
          </a:ln>
        </p:spPr>
      </p:sp>
      <p:sp>
        <p:nvSpPr>
          <p:cNvPr id="19" name="Text 17"/>
          <p:cNvSpPr/>
          <p:nvPr/>
        </p:nvSpPr>
        <p:spPr>
          <a:xfrm>
            <a:off x="4160520" y="3931920"/>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“lot codes GVP-8842 and GVP-8843”</a:t>
            </a:r>
            <a:endParaRPr lang="en-US" sz="1200" dirty="0"/>
          </a:p>
        </p:txBody>
      </p:sp>
      <p:sp>
        <p:nvSpPr>
          <p:cNvPr id="20" name="Shape 18"/>
          <p:cNvSpPr/>
          <p:nvPr/>
        </p:nvSpPr>
        <p:spPr>
          <a:xfrm>
            <a:off x="932688" y="4754880"/>
            <a:ext cx="2423160" cy="722376"/>
          </a:xfrm>
          <a:prstGeom prst="roundRect">
            <a:avLst>
              <a:gd name="adj" fmla="val 10127"/>
            </a:avLst>
          </a:prstGeom>
          <a:solidFill>
            <a:srgbClr val="F1D5CC"/>
          </a:solidFill>
          <a:ln w="12700">
            <a:solidFill>
              <a:srgbClr val="D9D2C2"/>
            </a:solidFill>
            <a:prstDash val="solid"/>
          </a:ln>
        </p:spPr>
      </p:sp>
      <p:sp>
        <p:nvSpPr>
          <p:cNvPr id="21" name="Text 19"/>
          <p:cNvSpPr/>
          <p:nvPr/>
        </p:nvSpPr>
        <p:spPr>
          <a:xfrm>
            <a:off x="1133856" y="4864608"/>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production window</a:t>
            </a:r>
            <a:endParaRPr lang="en-US" sz="880" dirty="0"/>
          </a:p>
        </p:txBody>
      </p:sp>
      <p:sp>
        <p:nvSpPr>
          <p:cNvPr id="22" name="Text 20"/>
          <p:cNvSpPr/>
          <p:nvPr/>
        </p:nvSpPr>
        <p:spPr>
          <a:xfrm>
            <a:off x="1133856" y="5084064"/>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2026-06-20 → 2026-07-02</a:t>
            </a:r>
            <a:endParaRPr lang="en-US" sz="1180" dirty="0"/>
          </a:p>
        </p:txBody>
      </p:sp>
      <p:sp>
        <p:nvSpPr>
          <p:cNvPr id="23" name="Shape 21"/>
          <p:cNvSpPr/>
          <p:nvPr/>
        </p:nvSpPr>
        <p:spPr>
          <a:xfrm>
            <a:off x="3465576" y="5120640"/>
            <a:ext cx="301752" cy="0"/>
          </a:xfrm>
          <a:prstGeom prst="line">
            <a:avLst/>
          </a:prstGeom>
          <a:noFill/>
          <a:ln w="22860">
            <a:solidFill>
              <a:srgbClr val="B94735"/>
            </a:solidFill>
            <a:prstDash val="solid"/>
            <a:headEnd type="none"/>
            <a:tailEnd type="triangle"/>
          </a:ln>
        </p:spPr>
      </p:sp>
      <p:sp>
        <p:nvSpPr>
          <p:cNvPr id="24" name="Shape 22"/>
          <p:cNvSpPr/>
          <p:nvPr/>
        </p:nvSpPr>
        <p:spPr>
          <a:xfrm>
            <a:off x="3913632" y="4754880"/>
            <a:ext cx="4251960" cy="722376"/>
          </a:xfrm>
          <a:prstGeom prst="roundRect">
            <a:avLst>
              <a:gd name="adj" fmla="val 10127"/>
            </a:avLst>
          </a:prstGeom>
          <a:solidFill>
            <a:srgbClr val="E8EEE9"/>
          </a:solidFill>
          <a:ln w="12700">
            <a:solidFill>
              <a:srgbClr val="D9D2C2"/>
            </a:solidFill>
            <a:prstDash val="solid"/>
          </a:ln>
        </p:spPr>
      </p:sp>
      <p:sp>
        <p:nvSpPr>
          <p:cNvPr id="25" name="Text 23"/>
          <p:cNvSpPr/>
          <p:nvPr/>
        </p:nvSpPr>
        <p:spPr>
          <a:xfrm>
            <a:off x="4160520" y="4864608"/>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“between June 20, 2026 and July 2, 2026”</a:t>
            </a:r>
            <a:endParaRPr lang="en-US" sz="1200" dirty="0"/>
          </a:p>
        </p:txBody>
      </p:sp>
      <p:sp>
        <p:nvSpPr>
          <p:cNvPr id="26" name="Shape 24"/>
          <p:cNvSpPr/>
          <p:nvPr/>
        </p:nvSpPr>
        <p:spPr>
          <a:xfrm>
            <a:off x="8796528" y="2267712"/>
            <a:ext cx="2743200" cy="3794760"/>
          </a:xfrm>
          <a:prstGeom prst="roundRect">
            <a:avLst>
              <a:gd name="adj" fmla="val 2667"/>
            </a:avLst>
          </a:prstGeom>
          <a:solidFill>
            <a:srgbClr val="E8EEE9"/>
          </a:solidFill>
          <a:ln w="12700">
            <a:solidFill>
              <a:srgbClr val="1D6B62"/>
            </a:solidFill>
            <a:prstDash val="solid"/>
          </a:ln>
        </p:spPr>
      </p:sp>
      <p:sp>
        <p:nvSpPr>
          <p:cNvPr id="27" name="Text 25"/>
          <p:cNvSpPr/>
          <p:nvPr/>
        </p:nvSpPr>
        <p:spPr>
          <a:xfrm>
            <a:off x="9107424" y="2596896"/>
            <a:ext cx="2057400" cy="292608"/>
          </a:xfrm>
          <a:prstGeom prst="rect">
            <a:avLst/>
          </a:prstGeom>
          <a:noFill/>
          <a:ln/>
        </p:spPr>
        <p:txBody>
          <a:bodyPr wrap="square" lIns="0" tIns="0" rIns="0" bIns="0" rtlCol="0" anchor="ctr">
            <a:normAutofit/>
          </a:bodyPr>
          <a:lstStyle/>
          <a:p>
            <a:pPr indent="0" marL="0">
              <a:buNone/>
            </a:pPr>
            <a:r>
              <a:rPr lang="en-US" sz="1500" b="1" dirty="0">
                <a:solidFill>
                  <a:srgbClr val="132524"/>
                </a:solidFill>
                <a:latin typeface="Aptos" pitchFamily="34" charset="0"/>
                <a:ea typeface="Aptos" pitchFamily="34" charset="-122"/>
                <a:cs typeface="Aptos" pitchFamily="34" charset="-120"/>
              </a:rPr>
              <a:t>Evidence contract</a:t>
            </a:r>
            <a:endParaRPr lang="en-US" sz="1500" dirty="0"/>
          </a:p>
        </p:txBody>
      </p:sp>
      <p:sp>
        <p:nvSpPr>
          <p:cNvPr id="28" name="Shape 26"/>
          <p:cNvSpPr/>
          <p:nvPr/>
        </p:nvSpPr>
        <p:spPr>
          <a:xfrm>
            <a:off x="9107424" y="3127248"/>
            <a:ext cx="237744" cy="237744"/>
          </a:xfrm>
          <a:prstGeom prst="ellipse">
            <a:avLst/>
          </a:prstGeom>
          <a:solidFill>
            <a:srgbClr val="1D6B62"/>
          </a:solidFill>
          <a:ln w="12700">
            <a:solidFill>
              <a:srgbClr val="1D6B62"/>
            </a:solidFill>
            <a:prstDash val="solid"/>
          </a:ln>
        </p:spPr>
      </p:sp>
      <p:sp>
        <p:nvSpPr>
          <p:cNvPr id="29" name="Text 27"/>
          <p:cNvSpPr/>
          <p:nvPr/>
        </p:nvSpPr>
        <p:spPr>
          <a:xfrm>
            <a:off x="9107424" y="3118104"/>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0" name="Text 28"/>
          <p:cNvSpPr/>
          <p:nvPr/>
        </p:nvSpPr>
        <p:spPr>
          <a:xfrm>
            <a:off x="9454896" y="3108960"/>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Source snapshot retained</a:t>
            </a:r>
            <a:endParaRPr lang="en-US" sz="1150" dirty="0"/>
          </a:p>
        </p:txBody>
      </p:sp>
      <p:sp>
        <p:nvSpPr>
          <p:cNvPr id="31" name="Text 29"/>
          <p:cNvSpPr/>
          <p:nvPr/>
        </p:nvSpPr>
        <p:spPr>
          <a:xfrm>
            <a:off x="9454896" y="3355848"/>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input remains inspectable</a:t>
            </a:r>
            <a:endParaRPr lang="en-US" sz="950" dirty="0"/>
          </a:p>
        </p:txBody>
      </p:sp>
      <p:sp>
        <p:nvSpPr>
          <p:cNvPr id="32" name="Shape 30"/>
          <p:cNvSpPr/>
          <p:nvPr/>
        </p:nvSpPr>
        <p:spPr>
          <a:xfrm>
            <a:off x="9107424" y="3803904"/>
            <a:ext cx="237744" cy="237744"/>
          </a:xfrm>
          <a:prstGeom prst="ellipse">
            <a:avLst/>
          </a:prstGeom>
          <a:solidFill>
            <a:srgbClr val="1D6B62"/>
          </a:solidFill>
          <a:ln w="12700">
            <a:solidFill>
              <a:srgbClr val="1D6B62"/>
            </a:solidFill>
            <a:prstDash val="solid"/>
          </a:ln>
        </p:spPr>
      </p:sp>
      <p:sp>
        <p:nvSpPr>
          <p:cNvPr id="33" name="Text 31"/>
          <p:cNvSpPr/>
          <p:nvPr/>
        </p:nvSpPr>
        <p:spPr>
          <a:xfrm>
            <a:off x="9107424" y="379476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4" name="Text 32"/>
          <p:cNvSpPr/>
          <p:nvPr/>
        </p:nvSpPr>
        <p:spPr>
          <a:xfrm>
            <a:off x="9454896" y="378561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Field-level quote</a:t>
            </a:r>
            <a:endParaRPr lang="en-US" sz="1150" dirty="0"/>
          </a:p>
        </p:txBody>
      </p:sp>
      <p:sp>
        <p:nvSpPr>
          <p:cNvPr id="35" name="Text 33"/>
          <p:cNvSpPr/>
          <p:nvPr/>
        </p:nvSpPr>
        <p:spPr>
          <a:xfrm>
            <a:off x="9454896" y="403250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each value has supporting text</a:t>
            </a:r>
            <a:endParaRPr lang="en-US" sz="950" dirty="0"/>
          </a:p>
        </p:txBody>
      </p:sp>
      <p:sp>
        <p:nvSpPr>
          <p:cNvPr id="36" name="Shape 34"/>
          <p:cNvSpPr/>
          <p:nvPr/>
        </p:nvSpPr>
        <p:spPr>
          <a:xfrm>
            <a:off x="9107424" y="4480560"/>
            <a:ext cx="237744" cy="237744"/>
          </a:xfrm>
          <a:prstGeom prst="ellipse">
            <a:avLst/>
          </a:prstGeom>
          <a:solidFill>
            <a:srgbClr val="B94735"/>
          </a:solidFill>
          <a:ln w="12700">
            <a:solidFill>
              <a:srgbClr val="B94735"/>
            </a:solidFill>
            <a:prstDash val="solid"/>
          </a:ln>
        </p:spPr>
      </p:sp>
      <p:sp>
        <p:nvSpPr>
          <p:cNvPr id="37" name="Text 35"/>
          <p:cNvSpPr/>
          <p:nvPr/>
        </p:nvSpPr>
        <p:spPr>
          <a:xfrm>
            <a:off x="9107424" y="44714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8" name="Text 36"/>
          <p:cNvSpPr/>
          <p:nvPr/>
        </p:nvSpPr>
        <p:spPr>
          <a:xfrm>
            <a:off x="9454896" y="446227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Unsupported value dropped</a:t>
            </a:r>
            <a:endParaRPr lang="en-US" sz="1150" dirty="0"/>
          </a:p>
        </p:txBody>
      </p:sp>
      <p:sp>
        <p:nvSpPr>
          <p:cNvPr id="39" name="Text 37"/>
          <p:cNvSpPr/>
          <p:nvPr/>
        </p:nvSpPr>
        <p:spPr>
          <a:xfrm>
            <a:off x="9454896" y="470916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verifier removes weak provenance</a:t>
            </a:r>
            <a:endParaRPr lang="en-US" sz="950" dirty="0"/>
          </a:p>
        </p:txBody>
      </p:sp>
      <p:sp>
        <p:nvSpPr>
          <p:cNvPr id="40" name="Shape 38"/>
          <p:cNvSpPr/>
          <p:nvPr/>
        </p:nvSpPr>
        <p:spPr>
          <a:xfrm>
            <a:off x="9107424" y="5157216"/>
            <a:ext cx="237744" cy="237744"/>
          </a:xfrm>
          <a:prstGeom prst="ellipse">
            <a:avLst/>
          </a:prstGeom>
          <a:solidFill>
            <a:srgbClr val="1D6B62"/>
          </a:solidFill>
          <a:ln w="12700">
            <a:solidFill>
              <a:srgbClr val="1D6B62"/>
            </a:solidFill>
            <a:prstDash val="solid"/>
          </a:ln>
        </p:spPr>
      </p:sp>
      <p:sp>
        <p:nvSpPr>
          <p:cNvPr id="41" name="Text 39"/>
          <p:cNvSpPr/>
          <p:nvPr/>
        </p:nvSpPr>
        <p:spPr>
          <a:xfrm>
            <a:off x="9107424" y="514807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42" name="Text 40"/>
          <p:cNvSpPr/>
          <p:nvPr/>
        </p:nvSpPr>
        <p:spPr>
          <a:xfrm>
            <a:off x="9454896" y="513892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Exact operational join</a:t>
            </a:r>
            <a:endParaRPr lang="en-US" sz="1150" dirty="0"/>
          </a:p>
        </p:txBody>
      </p:sp>
      <p:sp>
        <p:nvSpPr>
          <p:cNvPr id="43" name="Text 41"/>
          <p:cNvSpPr/>
          <p:nvPr/>
        </p:nvSpPr>
        <p:spPr>
          <a:xfrm>
            <a:off x="9454896" y="538581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lot or inbound PO drives impact</a:t>
            </a:r>
            <a:endParaRPr lang="en-US" sz="95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Curated source-evidence pairs shown at presentation scale; live incidents retain the same provenance contract.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Live exposure queue" history="1" highlightClick="0" endSnd="0">
                  <a:extLst>
                    <a:ext uri="{A12FA001-AC4F-418D-AE19-62706E023703}">
                      <ahyp:hlinkClr xmlns:ahyp="http://schemas.microsoft.com/office/drawing/2018/hyperlinkcolor" val="tx"/>
                    </a:ext>
                  </a:extLst>
                </a:hlinkClick>
              </a:rPr>
              <a:t>Live exposure queue</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xtraction verifier" history="1" highlightClick="0" endSnd="0">
                  <a:extLst>
                    <a:ext uri="{A12FA001-AC4F-418D-AE19-62706E023703}">
                      <ahyp:hlinkClr xmlns:ahyp="http://schemas.microsoft.com/office/drawing/2018/hyperlinkcolor" val="tx"/>
                    </a:ext>
                  </a:extLst>
                </a:hlinkClick>
              </a:rPr>
              <a:t>Extraction verifier</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MEASURED DEMO RUN</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recovery plan restores service without breaking safety.</a:t>
            </a:r>
            <a:endParaRPr lang="en-US" sz="3600" dirty="0"/>
          </a:p>
        </p:txBody>
      </p:sp>
      <p:sp>
        <p:nvSpPr>
          <p:cNvPr id="4" name="Text 2"/>
          <p:cNvSpPr/>
          <p:nvPr/>
        </p:nvSpPr>
        <p:spPr>
          <a:xfrm>
            <a:off x="658368" y="1572768"/>
            <a:ext cx="10607040" cy="438912"/>
          </a:xfrm>
          <a:prstGeom prst="rect">
            <a:avLst/>
          </a:prstGeom>
          <a:noFill/>
          <a:ln/>
        </p:spPr>
        <p:txBody>
          <a:bodyPr wrap="square" lIns="0" tIns="0" rIns="0" bIns="0" rtlCol="0" anchor="ctr">
            <a:normAutofit/>
          </a:bodyPr>
          <a:lstStyle/>
          <a:p>
            <a:pPr indent="0" marL="0">
              <a:buNone/>
            </a:pPr>
            <a:r>
              <a:rPr lang="en-US" sz="1550" dirty="0">
                <a:solidFill>
                  <a:srgbClr val="61706D"/>
                </a:solidFill>
                <a:latin typeface="Aptos" pitchFamily="34" charset="0"/>
                <a:ea typeface="Aptos" pitchFamily="34" charset="-122"/>
                <a:cs typeface="Aptos" pitchFamily="34" charset="-120"/>
              </a:rPr>
              <a:t>Baseline and recommended scenarios use the same seven-day synthetic demand. Confirmed recall states are excluded from both.</a:t>
            </a:r>
            <a:endParaRPr lang="en-US" sz="1550" dirty="0"/>
          </a:p>
        </p:txBody>
      </p:sp>
      <p:sp>
        <p:nvSpPr>
          <p:cNvPr id="5" name="Shape 3"/>
          <p:cNvSpPr/>
          <p:nvPr/>
        </p:nvSpPr>
        <p:spPr>
          <a:xfrm>
            <a:off x="658368" y="2212848"/>
            <a:ext cx="6629400" cy="3611880"/>
          </a:xfrm>
          <a:prstGeom prst="roundRect">
            <a:avLst>
              <a:gd name="adj" fmla="val 2025"/>
            </a:avLst>
          </a:prstGeom>
          <a:solidFill>
            <a:srgbClr val="FFFDF8"/>
          </a:solidFill>
          <a:ln w="12700">
            <a:solidFill>
              <a:srgbClr val="D9D2C2"/>
            </a:solidFill>
            <a:prstDash val="solid"/>
          </a:ln>
        </p:spPr>
      </p:sp>
      <p:sp>
        <p:nvSpPr>
          <p:cNvPr id="6" name="Text 4"/>
          <p:cNvSpPr/>
          <p:nvPr/>
        </p:nvSpPr>
        <p:spPr>
          <a:xfrm>
            <a:off x="960120" y="2487168"/>
            <a:ext cx="3840480" cy="292608"/>
          </a:xfrm>
          <a:prstGeom prst="rect">
            <a:avLst/>
          </a:prstGeom>
          <a:noFill/>
          <a:ln/>
        </p:spPr>
        <p:txBody>
          <a:bodyPr wrap="square" lIns="0" tIns="0" rIns="0" bIns="0" rtlCol="0" anchor="ctr">
            <a:normAutofit/>
          </a:bodyPr>
          <a:lstStyle/>
          <a:p>
            <a:pPr indent="0" marL="0">
              <a:buNone/>
            </a:pPr>
            <a:r>
              <a:rPr lang="en-US" sz="1300" b="1" dirty="0">
                <a:solidFill>
                  <a:srgbClr val="132524"/>
                </a:solidFill>
                <a:latin typeface="Aptos" pitchFamily="34" charset="0"/>
                <a:ea typeface="Aptos" pitchFamily="34" charset="-122"/>
                <a:cs typeface="Aptos" pitchFamily="34" charset="-120"/>
              </a:rPr>
              <a:t>Seven-day service outcome (lb)</a:t>
            </a:r>
            <a:endParaRPr lang="en-US" sz="1300" dirty="0"/>
          </a:p>
        </p:txBody>
      </p:sp>
      <p:graphicFrame>
        <p:nvGraphicFramePr>
          <p:cNvPr id="7" name="Chart 0" descr=""/>
          <p:cNvGraphicFramePr/>
          <p:nvPr/>
        </p:nvGraphicFramePr>
        <p:xfrm>
          <a:off x="914400" y="2862072"/>
          <a:ext cx="6053328" cy="2560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07808" y="2212848"/>
            <a:ext cx="1847088" cy="1051560"/>
          </a:xfrm>
          <a:prstGeom prst="roundRect">
            <a:avLst>
              <a:gd name="adj" fmla="val 6957"/>
            </a:avLst>
          </a:prstGeom>
          <a:solidFill>
            <a:srgbClr val="FFFDF8"/>
          </a:solidFill>
          <a:ln w="12700">
            <a:solidFill>
              <a:srgbClr val="D9D2C2"/>
            </a:solidFill>
            <a:prstDash val="solid"/>
          </a:ln>
        </p:spPr>
      </p:sp>
      <p:sp>
        <p:nvSpPr>
          <p:cNvPr id="9" name="Shape 6"/>
          <p:cNvSpPr/>
          <p:nvPr/>
        </p:nvSpPr>
        <p:spPr>
          <a:xfrm>
            <a:off x="7607808" y="2212848"/>
            <a:ext cx="73152" cy="1051560"/>
          </a:xfrm>
          <a:prstGeom prst="rect">
            <a:avLst/>
          </a:prstGeom>
          <a:solidFill>
            <a:srgbClr val="1D6B62"/>
          </a:solidFill>
          <a:ln w="12700">
            <a:solidFill>
              <a:srgbClr val="1D6B62"/>
            </a:solidFill>
            <a:prstDash val="solid"/>
          </a:ln>
        </p:spPr>
      </p:sp>
      <p:sp>
        <p:nvSpPr>
          <p:cNvPr id="10" name="Text 7"/>
          <p:cNvSpPr/>
          <p:nvPr/>
        </p:nvSpPr>
        <p:spPr>
          <a:xfrm>
            <a:off x="7790688"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86.1%</a:t>
            </a:r>
            <a:endParaRPr lang="en-US" sz="2500" dirty="0"/>
          </a:p>
        </p:txBody>
      </p:sp>
      <p:sp>
        <p:nvSpPr>
          <p:cNvPr id="11" name="Text 8"/>
          <p:cNvSpPr/>
          <p:nvPr/>
        </p:nvSpPr>
        <p:spPr>
          <a:xfrm>
            <a:off x="7790688"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worst pantry fill</a:t>
            </a:r>
            <a:endParaRPr lang="en-US" sz="1050" dirty="0"/>
          </a:p>
        </p:txBody>
      </p:sp>
      <p:sp>
        <p:nvSpPr>
          <p:cNvPr id="12" name="Text 9"/>
          <p:cNvSpPr/>
          <p:nvPr/>
        </p:nvSpPr>
        <p:spPr>
          <a:xfrm>
            <a:off x="7790688"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70.6%</a:t>
            </a:r>
            <a:endParaRPr lang="en-US" sz="850" dirty="0"/>
          </a:p>
        </p:txBody>
      </p:sp>
      <p:sp>
        <p:nvSpPr>
          <p:cNvPr id="13" name="Shape 10"/>
          <p:cNvSpPr/>
          <p:nvPr/>
        </p:nvSpPr>
        <p:spPr>
          <a:xfrm>
            <a:off x="9674352" y="2212848"/>
            <a:ext cx="1847088" cy="1051560"/>
          </a:xfrm>
          <a:prstGeom prst="roundRect">
            <a:avLst>
              <a:gd name="adj" fmla="val 6957"/>
            </a:avLst>
          </a:prstGeom>
          <a:solidFill>
            <a:srgbClr val="FFFDF8"/>
          </a:solidFill>
          <a:ln w="12700">
            <a:solidFill>
              <a:srgbClr val="D9D2C2"/>
            </a:solidFill>
            <a:prstDash val="solid"/>
          </a:ln>
        </p:spPr>
      </p:sp>
      <p:sp>
        <p:nvSpPr>
          <p:cNvPr id="14" name="Shape 11"/>
          <p:cNvSpPr/>
          <p:nvPr/>
        </p:nvSpPr>
        <p:spPr>
          <a:xfrm>
            <a:off x="9674352" y="2212848"/>
            <a:ext cx="73152" cy="1051560"/>
          </a:xfrm>
          <a:prstGeom prst="rect">
            <a:avLst/>
          </a:prstGeom>
          <a:solidFill>
            <a:srgbClr val="1D6B62"/>
          </a:solidFill>
          <a:ln w="12700">
            <a:solidFill>
              <a:srgbClr val="1D6B62"/>
            </a:solidFill>
            <a:prstDash val="solid"/>
          </a:ln>
        </p:spPr>
      </p:sp>
      <p:sp>
        <p:nvSpPr>
          <p:cNvPr id="15" name="Text 12"/>
          <p:cNvSpPr/>
          <p:nvPr/>
        </p:nvSpPr>
        <p:spPr>
          <a:xfrm>
            <a:off x="9857232"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68</a:t>
            </a:r>
            <a:endParaRPr lang="en-US" sz="2500" dirty="0"/>
          </a:p>
        </p:txBody>
      </p:sp>
      <p:sp>
        <p:nvSpPr>
          <p:cNvPr id="16" name="Text 13"/>
          <p:cNvSpPr/>
          <p:nvPr/>
        </p:nvSpPr>
        <p:spPr>
          <a:xfrm>
            <a:off x="9857232"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boxes disrupted</a:t>
            </a:r>
            <a:endParaRPr lang="en-US" sz="1050" dirty="0"/>
          </a:p>
        </p:txBody>
      </p:sp>
      <p:sp>
        <p:nvSpPr>
          <p:cNvPr id="17" name="Text 14"/>
          <p:cNvSpPr/>
          <p:nvPr/>
        </p:nvSpPr>
        <p:spPr>
          <a:xfrm>
            <a:off x="9857232"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168</a:t>
            </a:r>
            <a:endParaRPr lang="en-US" sz="850" dirty="0"/>
          </a:p>
        </p:txBody>
      </p:sp>
      <p:sp>
        <p:nvSpPr>
          <p:cNvPr id="18" name="Shape 15"/>
          <p:cNvSpPr/>
          <p:nvPr/>
        </p:nvSpPr>
        <p:spPr>
          <a:xfrm>
            <a:off x="7607808" y="3502152"/>
            <a:ext cx="1847088" cy="1051560"/>
          </a:xfrm>
          <a:prstGeom prst="roundRect">
            <a:avLst>
              <a:gd name="adj" fmla="val 6957"/>
            </a:avLst>
          </a:prstGeom>
          <a:solidFill>
            <a:srgbClr val="FFFDF8"/>
          </a:solidFill>
          <a:ln w="12700">
            <a:solidFill>
              <a:srgbClr val="D9D2C2"/>
            </a:solidFill>
            <a:prstDash val="solid"/>
          </a:ln>
        </p:spPr>
      </p:sp>
      <p:sp>
        <p:nvSpPr>
          <p:cNvPr id="19" name="Shape 16"/>
          <p:cNvSpPr/>
          <p:nvPr/>
        </p:nvSpPr>
        <p:spPr>
          <a:xfrm>
            <a:off x="7607808" y="3502152"/>
            <a:ext cx="73152" cy="1051560"/>
          </a:xfrm>
          <a:prstGeom prst="rect">
            <a:avLst/>
          </a:prstGeom>
          <a:solidFill>
            <a:srgbClr val="C88C2C"/>
          </a:solidFill>
          <a:ln w="12700">
            <a:solidFill>
              <a:srgbClr val="C88C2C"/>
            </a:solidFill>
            <a:prstDash val="solid"/>
          </a:ln>
        </p:spPr>
      </p:sp>
      <p:sp>
        <p:nvSpPr>
          <p:cNvPr id="20" name="Text 17"/>
          <p:cNvSpPr/>
          <p:nvPr/>
        </p:nvSpPr>
        <p:spPr>
          <a:xfrm>
            <a:off x="7790688"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$550</a:t>
            </a:r>
            <a:endParaRPr lang="en-US" sz="2500" dirty="0"/>
          </a:p>
        </p:txBody>
      </p:sp>
      <p:sp>
        <p:nvSpPr>
          <p:cNvPr id="21" name="Text 18"/>
          <p:cNvSpPr/>
          <p:nvPr/>
        </p:nvSpPr>
        <p:spPr>
          <a:xfrm>
            <a:off x="7790688"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procurement cost</a:t>
            </a:r>
            <a:endParaRPr lang="en-US" sz="1050" dirty="0"/>
          </a:p>
        </p:txBody>
      </p:sp>
      <p:sp>
        <p:nvSpPr>
          <p:cNvPr id="22" name="Text 19"/>
          <p:cNvSpPr/>
          <p:nvPr/>
        </p:nvSpPr>
        <p:spPr>
          <a:xfrm>
            <a:off x="7790688"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recommended plan</a:t>
            </a:r>
            <a:endParaRPr lang="en-US" sz="850" dirty="0"/>
          </a:p>
        </p:txBody>
      </p:sp>
      <p:sp>
        <p:nvSpPr>
          <p:cNvPr id="23" name="Shape 20"/>
          <p:cNvSpPr/>
          <p:nvPr/>
        </p:nvSpPr>
        <p:spPr>
          <a:xfrm>
            <a:off x="9674352" y="3502152"/>
            <a:ext cx="1847088" cy="1051560"/>
          </a:xfrm>
          <a:prstGeom prst="roundRect">
            <a:avLst>
              <a:gd name="adj" fmla="val 6957"/>
            </a:avLst>
          </a:prstGeom>
          <a:solidFill>
            <a:srgbClr val="FFFDF8"/>
          </a:solidFill>
          <a:ln w="12700">
            <a:solidFill>
              <a:srgbClr val="D9D2C2"/>
            </a:solidFill>
            <a:prstDash val="solid"/>
          </a:ln>
        </p:spPr>
      </p:sp>
      <p:sp>
        <p:nvSpPr>
          <p:cNvPr id="24" name="Shape 21"/>
          <p:cNvSpPr/>
          <p:nvPr/>
        </p:nvSpPr>
        <p:spPr>
          <a:xfrm>
            <a:off x="9674352" y="3502152"/>
            <a:ext cx="73152" cy="1051560"/>
          </a:xfrm>
          <a:prstGeom prst="rect">
            <a:avLst/>
          </a:prstGeom>
          <a:solidFill>
            <a:srgbClr val="1D6B62"/>
          </a:solidFill>
          <a:ln w="12700">
            <a:solidFill>
              <a:srgbClr val="1D6B62"/>
            </a:solidFill>
            <a:prstDash val="solid"/>
          </a:ln>
        </p:spPr>
      </p:sp>
      <p:sp>
        <p:nvSpPr>
          <p:cNvPr id="25" name="Text 22"/>
          <p:cNvSpPr/>
          <p:nvPr/>
        </p:nvSpPr>
        <p:spPr>
          <a:xfrm>
            <a:off x="9857232"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7+</a:t>
            </a:r>
            <a:endParaRPr lang="en-US" sz="2500" dirty="0"/>
          </a:p>
        </p:txBody>
      </p:sp>
      <p:sp>
        <p:nvSpPr>
          <p:cNvPr id="26" name="Text 23"/>
          <p:cNvSpPr/>
          <p:nvPr/>
        </p:nvSpPr>
        <p:spPr>
          <a:xfrm>
            <a:off x="9857232"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produce days</a:t>
            </a:r>
            <a:endParaRPr lang="en-US" sz="1050" dirty="0"/>
          </a:p>
        </p:txBody>
      </p:sp>
      <p:sp>
        <p:nvSpPr>
          <p:cNvPr id="27" name="Text 24"/>
          <p:cNvSpPr/>
          <p:nvPr/>
        </p:nvSpPr>
        <p:spPr>
          <a:xfrm>
            <a:off x="9857232"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5.8</a:t>
            </a:r>
            <a:endParaRPr lang="en-US" sz="850" dirty="0"/>
          </a:p>
        </p:txBody>
      </p:sp>
      <p:sp>
        <p:nvSpPr>
          <p:cNvPr id="28" name="Shape 25"/>
          <p:cNvSpPr/>
          <p:nvPr/>
        </p:nvSpPr>
        <p:spPr>
          <a:xfrm>
            <a:off x="7607808" y="4791456"/>
            <a:ext cx="1847088" cy="1051560"/>
          </a:xfrm>
          <a:prstGeom prst="roundRect">
            <a:avLst>
              <a:gd name="adj" fmla="val 6957"/>
            </a:avLst>
          </a:prstGeom>
          <a:solidFill>
            <a:srgbClr val="FFFDF8"/>
          </a:solidFill>
          <a:ln w="12700">
            <a:solidFill>
              <a:srgbClr val="D9D2C2"/>
            </a:solidFill>
            <a:prstDash val="solid"/>
          </a:ln>
        </p:spPr>
      </p:sp>
      <p:sp>
        <p:nvSpPr>
          <p:cNvPr id="29" name="Shape 26"/>
          <p:cNvSpPr/>
          <p:nvPr/>
        </p:nvSpPr>
        <p:spPr>
          <a:xfrm>
            <a:off x="7607808" y="4791456"/>
            <a:ext cx="73152" cy="1051560"/>
          </a:xfrm>
          <a:prstGeom prst="rect">
            <a:avLst/>
          </a:prstGeom>
          <a:solidFill>
            <a:srgbClr val="1D6B62"/>
          </a:solidFill>
          <a:ln w="12700">
            <a:solidFill>
              <a:srgbClr val="1D6B62"/>
            </a:solidFill>
            <a:prstDash val="solid"/>
          </a:ln>
        </p:spPr>
      </p:sp>
      <p:sp>
        <p:nvSpPr>
          <p:cNvPr id="30" name="Text 27"/>
          <p:cNvSpPr/>
          <p:nvPr/>
        </p:nvSpPr>
        <p:spPr>
          <a:xfrm>
            <a:off x="7790688"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31" name="Text 28"/>
          <p:cNvSpPr/>
          <p:nvPr/>
        </p:nvSpPr>
        <p:spPr>
          <a:xfrm>
            <a:off x="7790688"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hard violations</a:t>
            </a:r>
            <a:endParaRPr lang="en-US" sz="1050" dirty="0"/>
          </a:p>
        </p:txBody>
      </p:sp>
      <p:sp>
        <p:nvSpPr>
          <p:cNvPr id="32" name="Text 29"/>
          <p:cNvSpPr/>
          <p:nvPr/>
        </p:nvSpPr>
        <p:spPr>
          <a:xfrm>
            <a:off x="7790688"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approval gate</a:t>
            </a:r>
            <a:endParaRPr lang="en-US" sz="850" dirty="0"/>
          </a:p>
        </p:txBody>
      </p:sp>
      <p:sp>
        <p:nvSpPr>
          <p:cNvPr id="33" name="Shape 30"/>
          <p:cNvSpPr/>
          <p:nvPr/>
        </p:nvSpPr>
        <p:spPr>
          <a:xfrm>
            <a:off x="9674352" y="4791456"/>
            <a:ext cx="1847088" cy="1051560"/>
          </a:xfrm>
          <a:prstGeom prst="roundRect">
            <a:avLst>
              <a:gd name="adj" fmla="val 6957"/>
            </a:avLst>
          </a:prstGeom>
          <a:solidFill>
            <a:srgbClr val="FFFDF8"/>
          </a:solidFill>
          <a:ln w="12700">
            <a:solidFill>
              <a:srgbClr val="D9D2C2"/>
            </a:solidFill>
            <a:prstDash val="solid"/>
          </a:ln>
        </p:spPr>
      </p:sp>
      <p:sp>
        <p:nvSpPr>
          <p:cNvPr id="34" name="Shape 31"/>
          <p:cNvSpPr/>
          <p:nvPr/>
        </p:nvSpPr>
        <p:spPr>
          <a:xfrm>
            <a:off x="9674352" y="4791456"/>
            <a:ext cx="73152" cy="1051560"/>
          </a:xfrm>
          <a:prstGeom prst="rect">
            <a:avLst/>
          </a:prstGeom>
          <a:solidFill>
            <a:srgbClr val="1D6B62"/>
          </a:solidFill>
          <a:ln w="12700">
            <a:solidFill>
              <a:srgbClr val="1D6B62"/>
            </a:solidFill>
            <a:prstDash val="solid"/>
          </a:ln>
        </p:spPr>
      </p:sp>
      <p:sp>
        <p:nvSpPr>
          <p:cNvPr id="35" name="Text 32"/>
          <p:cNvSpPr/>
          <p:nvPr/>
        </p:nvSpPr>
        <p:spPr>
          <a:xfrm>
            <a:off x="9857232"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0.10s</a:t>
            </a:r>
            <a:endParaRPr lang="en-US" sz="2500" dirty="0"/>
          </a:p>
        </p:txBody>
      </p:sp>
      <p:sp>
        <p:nvSpPr>
          <p:cNvPr id="36" name="Text 33"/>
          <p:cNvSpPr/>
          <p:nvPr/>
        </p:nvSpPr>
        <p:spPr>
          <a:xfrm>
            <a:off x="9857232"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7" name="Text 34"/>
          <p:cNvSpPr/>
          <p:nvPr/>
        </p:nvSpPr>
        <p:spPr>
          <a:xfrm>
            <a:off x="9857232"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deployed seeded run</a:t>
            </a:r>
            <a:endParaRPr lang="en-US" sz="850" dirty="0"/>
          </a:p>
        </p:txBody>
      </p:sp>
      <p:sp>
        <p:nvSpPr>
          <p:cNvPr id="38" name="Text 35"/>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Measured on the deployed synthetic scenario. No comparison to the hypothetical 2.0 staff-hour task model is claimed.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Deterministic demo runner" history="1" highlightClick="0" endSnd="0">
                  <a:extLst>
                    <a:ext uri="{A12FA001-AC4F-418D-AE19-62706E023703}">
                      <ahyp:hlinkClr xmlns:ahyp="http://schemas.microsoft.com/office/drawing/2018/hyperlinkcolor" val="tx"/>
                    </a:ext>
                  </a:extLst>
                </a:hlinkClick>
              </a:rPr>
              <a:t>Deterministic demo runner</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cenario database" history="1" highlightClick="0" endSnd="0">
                  <a:extLst>
                    <a:ext uri="{A12FA001-AC4F-418D-AE19-62706E023703}">
                      <ahyp:hlinkClr xmlns:ahyp="http://schemas.microsoft.com/office/drawing/2018/hyperlinkcolor" val="tx"/>
                    </a:ext>
                  </a:extLst>
                </a:hlinkClick>
              </a:rPr>
              <a:t>Scenario database</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CONTROL</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Human approval is a transaction, not a button.</a:t>
            </a:r>
            <a:endParaRPr lang="en-US" sz="3600" dirty="0"/>
          </a:p>
        </p:txBody>
      </p:sp>
      <p:sp>
        <p:nvSpPr>
          <p:cNvPr id="4" name="Text 2"/>
          <p:cNvSpPr/>
          <p:nvPr/>
        </p:nvSpPr>
        <p:spPr>
          <a:xfrm>
            <a:off x="658368" y="1572768"/>
            <a:ext cx="10652760" cy="502920"/>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Approval re-reads current state, rejects stale or altered drafts, and commits one auditable transition only after every hard constraint still passes.</a:t>
            </a:r>
            <a:endParaRPr lang="en-US" sz="155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sp>
        <p:nvSpPr>
          <p:cNvPr id="6" name="Text 4"/>
          <p:cNvSpPr/>
          <p:nvPr/>
        </p:nvSpPr>
        <p:spPr>
          <a:xfrm>
            <a:off x="932688" y="2542032"/>
            <a:ext cx="3200400" cy="219456"/>
          </a:xfrm>
          <a:prstGeom prst="rect">
            <a:avLst/>
          </a:prstGeom>
          <a:noFill/>
          <a:ln/>
        </p:spPr>
        <p:txBody>
          <a:bodyPr wrap="square" lIns="0" tIns="0" rIns="0" bIns="0" rtlCol="0" anchor="ctr">
            <a:normAutofit/>
          </a:bodyPr>
          <a:lstStyle/>
          <a:p>
            <a:pPr indent="0" marL="0">
              <a:buNone/>
            </a:pPr>
            <a:r>
              <a:rPr lang="en-US" sz="950" b="1" spc="100" kern="0" dirty="0">
                <a:solidFill>
                  <a:srgbClr val="B94735"/>
                </a:solidFill>
                <a:latin typeface="Aptos" pitchFamily="34" charset="0"/>
                <a:ea typeface="Aptos" pitchFamily="34" charset="-122"/>
                <a:cs typeface="Aptos" pitchFamily="34" charset="-120"/>
              </a:rPr>
              <a:t>EXECUTABLE APPROVAL PATH</a:t>
            </a:r>
            <a:endParaRPr lang="en-US" sz="950" dirty="0"/>
          </a:p>
        </p:txBody>
      </p:sp>
      <p:sp>
        <p:nvSpPr>
          <p:cNvPr id="7" name="Shape 5"/>
          <p:cNvSpPr/>
          <p:nvPr/>
        </p:nvSpPr>
        <p:spPr>
          <a:xfrm>
            <a:off x="932688" y="2953512"/>
            <a:ext cx="2112264" cy="2468880"/>
          </a:xfrm>
          <a:prstGeom prst="roundRect">
            <a:avLst>
              <a:gd name="adj" fmla="val 3463"/>
            </a:avLst>
          </a:prstGeom>
          <a:solidFill>
            <a:srgbClr val="FFFDF8"/>
          </a:solidFill>
          <a:ln w="17780">
            <a:solidFill>
              <a:srgbClr val="64757A"/>
            </a:solidFill>
            <a:prstDash val="solid"/>
          </a:ln>
        </p:spPr>
      </p:sp>
      <p:sp>
        <p:nvSpPr>
          <p:cNvPr id="8" name="Shape 6"/>
          <p:cNvSpPr/>
          <p:nvPr/>
        </p:nvSpPr>
        <p:spPr>
          <a:xfrm>
            <a:off x="1115568" y="3182112"/>
            <a:ext cx="1325880" cy="274320"/>
          </a:xfrm>
          <a:prstGeom prst="roundRect">
            <a:avLst/>
          </a:prstGeom>
          <a:solidFill>
            <a:srgbClr val="64757A"/>
          </a:solidFill>
          <a:ln w="12700">
            <a:solidFill>
              <a:srgbClr val="64757A"/>
            </a:solidFill>
            <a:prstDash val="solid"/>
          </a:ln>
        </p:spPr>
      </p:sp>
      <p:sp>
        <p:nvSpPr>
          <p:cNvPr id="9" name="Text 7"/>
          <p:cNvSpPr/>
          <p:nvPr/>
        </p:nvSpPr>
        <p:spPr>
          <a:xfrm>
            <a:off x="1188720"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1 · DRAFT</a:t>
            </a:r>
            <a:endParaRPr lang="en-US" sz="900" dirty="0"/>
          </a:p>
        </p:txBody>
      </p:sp>
      <p:sp>
        <p:nvSpPr>
          <p:cNvPr id="10" name="Text 8"/>
          <p:cNvSpPr/>
          <p:nvPr/>
        </p:nvSpPr>
        <p:spPr>
          <a:xfrm>
            <a:off x="1115568" y="3685032"/>
            <a:ext cx="1746504" cy="502920"/>
          </a:xfrm>
          <a:prstGeom prst="rect">
            <a:avLst/>
          </a:prstGeom>
          <a:noFill/>
          <a:ln/>
        </p:spPr>
        <p:txBody>
          <a:bodyPr wrap="square" lIns="0" tIns="0" rIns="0" bIns="0" rtlCol="0" anchor="t">
            <a:normAutofit/>
          </a:bodyPr>
          <a:lstStyle/>
          <a:p>
            <a:pPr indent="0" marL="0">
              <a:buNone/>
            </a:pPr>
            <a:r>
              <a:rPr lang="en-US" sz="1000" b="1" dirty="0">
                <a:solidFill>
                  <a:srgbClr val="132524"/>
                </a:solidFill>
                <a:latin typeface="Aptos" pitchFamily="34" charset="0"/>
                <a:ea typeface="Aptos" pitchFamily="34" charset="-122"/>
                <a:cs typeface="Aptos" pitchFamily="34" charset="-120"/>
              </a:rPr>
              <a:t>PLAN-RECOMMENDED-002</a:t>
            </a:r>
            <a:endParaRPr lang="en-US" sz="1000" dirty="0"/>
          </a:p>
        </p:txBody>
      </p:sp>
      <p:sp>
        <p:nvSpPr>
          <p:cNvPr id="11" name="Text 9"/>
          <p:cNvSpPr/>
          <p:nvPr/>
        </p:nvSpPr>
        <p:spPr>
          <a:xfrm>
            <a:off x="1115568"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$550 procurement</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0 hard violations</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review gaps surfaced</a:t>
            </a:r>
            <a:endParaRPr lang="en-US" sz="1050" dirty="0"/>
          </a:p>
        </p:txBody>
      </p:sp>
      <p:sp>
        <p:nvSpPr>
          <p:cNvPr id="12" name="Shape 10"/>
          <p:cNvSpPr/>
          <p:nvPr/>
        </p:nvSpPr>
        <p:spPr>
          <a:xfrm>
            <a:off x="3108960" y="4215384"/>
            <a:ext cx="237744" cy="0"/>
          </a:xfrm>
          <a:prstGeom prst="line">
            <a:avLst/>
          </a:prstGeom>
          <a:noFill/>
          <a:ln w="22860">
            <a:solidFill>
              <a:srgbClr val="B94735"/>
            </a:solidFill>
            <a:prstDash val="solid"/>
            <a:headEnd type="none"/>
            <a:tailEnd type="triangle"/>
          </a:ln>
        </p:spPr>
      </p:sp>
      <p:sp>
        <p:nvSpPr>
          <p:cNvPr id="13" name="Shape 11"/>
          <p:cNvSpPr/>
          <p:nvPr/>
        </p:nvSpPr>
        <p:spPr>
          <a:xfrm>
            <a:off x="3410712" y="2953512"/>
            <a:ext cx="2112264" cy="2468880"/>
          </a:xfrm>
          <a:prstGeom prst="roundRect">
            <a:avLst>
              <a:gd name="adj" fmla="val 3463"/>
            </a:avLst>
          </a:prstGeom>
          <a:solidFill>
            <a:srgbClr val="FFFDF8"/>
          </a:solidFill>
          <a:ln w="17780">
            <a:solidFill>
              <a:srgbClr val="C88C2C"/>
            </a:solidFill>
            <a:prstDash val="solid"/>
          </a:ln>
        </p:spPr>
      </p:sp>
      <p:sp>
        <p:nvSpPr>
          <p:cNvPr id="14" name="Shape 12"/>
          <p:cNvSpPr/>
          <p:nvPr/>
        </p:nvSpPr>
        <p:spPr>
          <a:xfrm>
            <a:off x="3593592" y="3182112"/>
            <a:ext cx="1325880" cy="274320"/>
          </a:xfrm>
          <a:prstGeom prst="roundRect">
            <a:avLst/>
          </a:prstGeom>
          <a:solidFill>
            <a:srgbClr val="C88C2C"/>
          </a:solidFill>
          <a:ln w="12700">
            <a:solidFill>
              <a:srgbClr val="C88C2C"/>
            </a:solidFill>
            <a:prstDash val="solid"/>
          </a:ln>
        </p:spPr>
      </p:sp>
      <p:sp>
        <p:nvSpPr>
          <p:cNvPr id="15" name="Text 13"/>
          <p:cNvSpPr/>
          <p:nvPr/>
        </p:nvSpPr>
        <p:spPr>
          <a:xfrm>
            <a:off x="3666744"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2 · REVALIDATE</a:t>
            </a:r>
            <a:endParaRPr lang="en-US" sz="900" dirty="0"/>
          </a:p>
        </p:txBody>
      </p:sp>
      <p:sp>
        <p:nvSpPr>
          <p:cNvPr id="16" name="Text 14"/>
          <p:cNvSpPr/>
          <p:nvPr/>
        </p:nvSpPr>
        <p:spPr>
          <a:xfrm>
            <a:off x="3593592" y="3685032"/>
            <a:ext cx="1746504" cy="502920"/>
          </a:xfrm>
          <a:prstGeom prst="rect">
            <a:avLst/>
          </a:prstGeom>
          <a:noFill/>
          <a:ln/>
        </p:spPr>
        <p:txBody>
          <a:bodyPr wrap="square" lIns="0" tIns="0" rIns="0" bIns="0" rtlCol="0" anchor="t">
            <a:normAutofit/>
          </a:bodyPr>
          <a:lstStyle/>
          <a:p>
            <a:pPr indent="0" marL="0">
              <a:buNone/>
            </a:pPr>
            <a:r>
              <a:rPr lang="en-US" sz="1320" b="1" dirty="0">
                <a:solidFill>
                  <a:srgbClr val="132524"/>
                </a:solidFill>
                <a:latin typeface="Aptos" pitchFamily="34" charset="0"/>
                <a:ea typeface="Aptos" pitchFamily="34" charset="-122"/>
                <a:cs typeface="Aptos" pitchFamily="34" charset="-120"/>
              </a:rPr>
              <a:t>Read current state again</a:t>
            </a:r>
            <a:endParaRPr lang="en-US" sz="1320" dirty="0"/>
          </a:p>
        </p:txBody>
      </p:sp>
      <p:sp>
        <p:nvSpPr>
          <p:cNvPr id="17" name="Text 15"/>
          <p:cNvSpPr/>
          <p:nvPr/>
        </p:nvSpPr>
        <p:spPr>
          <a:xfrm>
            <a:off x="3593592"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latest plan + payload</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live offers + timing</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all hard constraints</a:t>
            </a:r>
            <a:endParaRPr lang="en-US" sz="1050" dirty="0"/>
          </a:p>
        </p:txBody>
      </p:sp>
      <p:sp>
        <p:nvSpPr>
          <p:cNvPr id="18" name="Shape 16"/>
          <p:cNvSpPr/>
          <p:nvPr/>
        </p:nvSpPr>
        <p:spPr>
          <a:xfrm>
            <a:off x="5586984" y="4215384"/>
            <a:ext cx="237744" cy="0"/>
          </a:xfrm>
          <a:prstGeom prst="line">
            <a:avLst/>
          </a:prstGeom>
          <a:noFill/>
          <a:ln w="22860">
            <a:solidFill>
              <a:srgbClr val="B94735"/>
            </a:solidFill>
            <a:prstDash val="solid"/>
            <a:headEnd type="none"/>
            <a:tailEnd type="triangle"/>
          </a:ln>
        </p:spPr>
      </p:sp>
      <p:sp>
        <p:nvSpPr>
          <p:cNvPr id="19" name="Shape 17"/>
          <p:cNvSpPr/>
          <p:nvPr/>
        </p:nvSpPr>
        <p:spPr>
          <a:xfrm>
            <a:off x="5888736" y="2953512"/>
            <a:ext cx="2112264" cy="2468880"/>
          </a:xfrm>
          <a:prstGeom prst="roundRect">
            <a:avLst>
              <a:gd name="adj" fmla="val 3463"/>
            </a:avLst>
          </a:prstGeom>
          <a:solidFill>
            <a:srgbClr val="E8EEE9"/>
          </a:solidFill>
          <a:ln w="17780">
            <a:solidFill>
              <a:srgbClr val="1D6B62"/>
            </a:solidFill>
            <a:prstDash val="solid"/>
          </a:ln>
        </p:spPr>
      </p:sp>
      <p:sp>
        <p:nvSpPr>
          <p:cNvPr id="20" name="Shape 18"/>
          <p:cNvSpPr/>
          <p:nvPr/>
        </p:nvSpPr>
        <p:spPr>
          <a:xfrm>
            <a:off x="6071616" y="3182112"/>
            <a:ext cx="1325880" cy="274320"/>
          </a:xfrm>
          <a:prstGeom prst="roundRect">
            <a:avLst/>
          </a:prstGeom>
          <a:solidFill>
            <a:srgbClr val="1D6B62"/>
          </a:solidFill>
          <a:ln w="12700">
            <a:solidFill>
              <a:srgbClr val="1D6B62"/>
            </a:solidFill>
            <a:prstDash val="solid"/>
          </a:ln>
        </p:spPr>
      </p:sp>
      <p:sp>
        <p:nvSpPr>
          <p:cNvPr id="21" name="Text 19"/>
          <p:cNvSpPr/>
          <p:nvPr/>
        </p:nvSpPr>
        <p:spPr>
          <a:xfrm>
            <a:off x="6144768"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3 · COMMIT ONCE</a:t>
            </a:r>
            <a:endParaRPr lang="en-US" sz="900" dirty="0"/>
          </a:p>
        </p:txBody>
      </p:sp>
      <p:sp>
        <p:nvSpPr>
          <p:cNvPr id="22" name="Text 20"/>
          <p:cNvSpPr/>
          <p:nvPr/>
        </p:nvSpPr>
        <p:spPr>
          <a:xfrm>
            <a:off x="6071616" y="3685032"/>
            <a:ext cx="1746504" cy="502920"/>
          </a:xfrm>
          <a:prstGeom prst="rect">
            <a:avLst/>
          </a:prstGeom>
          <a:noFill/>
          <a:ln/>
        </p:spPr>
        <p:txBody>
          <a:bodyPr wrap="square" lIns="0" tIns="0" rIns="0" bIns="0" rtlCol="0" anchor="t">
            <a:normAutofit/>
          </a:bodyPr>
          <a:lstStyle/>
          <a:p>
            <a:pPr indent="0" marL="0">
              <a:buNone/>
            </a:pPr>
            <a:r>
              <a:rPr lang="en-US" sz="1320" b="1" dirty="0">
                <a:solidFill>
                  <a:srgbClr val="132524"/>
                </a:solidFill>
                <a:latin typeface="Aptos" pitchFamily="34" charset="0"/>
                <a:ea typeface="Aptos" pitchFamily="34" charset="-122"/>
                <a:cs typeface="Aptos" pitchFamily="34" charset="-120"/>
              </a:rPr>
              <a:t>Approved + audited</a:t>
            </a:r>
            <a:endParaRPr lang="en-US" sz="1320" dirty="0"/>
          </a:p>
        </p:txBody>
      </p:sp>
      <p:sp>
        <p:nvSpPr>
          <p:cNvPr id="23" name="Text 21"/>
          <p:cNvSpPr/>
          <p:nvPr/>
        </p:nvSpPr>
        <p:spPr>
          <a:xfrm>
            <a:off x="6071616"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operator + timestamp</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single status transition</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scoped communications</a:t>
            </a:r>
            <a:endParaRPr lang="en-US" sz="1050" dirty="0"/>
          </a:p>
        </p:txBody>
      </p:sp>
      <p:sp>
        <p:nvSpPr>
          <p:cNvPr id="24" name="Text 22"/>
          <p:cNvSpPr/>
          <p:nvPr/>
        </p:nvSpPr>
        <p:spPr>
          <a:xfrm>
            <a:off x="932688" y="5650992"/>
            <a:ext cx="7068312" cy="219456"/>
          </a:xfrm>
          <a:prstGeom prst="rect">
            <a:avLst/>
          </a:prstGeom>
          <a:noFill/>
          <a:ln/>
        </p:spPr>
        <p:txBody>
          <a:bodyPr wrap="square" lIns="0" tIns="0" rIns="0" bIns="0" rtlCol="0" anchor="ctr">
            <a:normAutofit/>
          </a:bodyPr>
          <a:lstStyle/>
          <a:p>
            <a:pPr algn="ctr" indent="0" marL="0">
              <a:buNone/>
            </a:pPr>
            <a:r>
              <a:rPr lang="en-US" sz="1000" b="1" spc="50" kern="0" dirty="0">
                <a:solidFill>
                  <a:srgbClr val="B94735"/>
                </a:solidFill>
                <a:latin typeface="Aptos" pitchFamily="34" charset="0"/>
                <a:ea typeface="Aptos" pitchFamily="34" charset="-122"/>
                <a:cs typeface="Aptos" pitchFamily="34" charset="-120"/>
              </a:rPr>
              <a:t>ANY MISMATCH  →  REJECT WITH NO PARTIAL SIDE EFFECTS</a:t>
            </a:r>
            <a:endParaRPr lang="en-US" sz="1000" dirty="0"/>
          </a:p>
        </p:txBody>
      </p:sp>
      <p:sp>
        <p:nvSpPr>
          <p:cNvPr id="25" name="Shape 23"/>
          <p:cNvSpPr/>
          <p:nvPr/>
        </p:nvSpPr>
        <p:spPr>
          <a:xfrm>
            <a:off x="8796528" y="2267712"/>
            <a:ext cx="2743200" cy="2267712"/>
          </a:xfrm>
          <a:prstGeom prst="roundRect">
            <a:avLst>
              <a:gd name="adj" fmla="val 3226"/>
            </a:avLst>
          </a:prstGeom>
          <a:solidFill>
            <a:srgbClr val="E8EEE9"/>
          </a:solidFill>
          <a:ln w="12700">
            <a:solidFill>
              <a:srgbClr val="D9D2C2"/>
            </a:solidFill>
            <a:prstDash val="solid"/>
          </a:ln>
        </p:spPr>
      </p:sp>
      <p:sp>
        <p:nvSpPr>
          <p:cNvPr id="26" name="Text 24"/>
          <p:cNvSpPr/>
          <p:nvPr/>
        </p:nvSpPr>
        <p:spPr>
          <a:xfrm>
            <a:off x="9107424" y="2523744"/>
            <a:ext cx="2029968" cy="274320"/>
          </a:xfrm>
          <a:prstGeom prst="rect">
            <a:avLst/>
          </a:prstGeom>
          <a:noFill/>
          <a:ln/>
        </p:spPr>
        <p:txBody>
          <a:bodyPr wrap="square" lIns="0" tIns="0" rIns="0" bIns="0" rtlCol="0" anchor="ctr">
            <a:normAutofit/>
          </a:bodyPr>
          <a:lstStyle/>
          <a:p>
            <a:pPr indent="0" marL="0">
              <a:buNone/>
            </a:pPr>
            <a:r>
              <a:rPr lang="en-US" sz="1400" b="1" dirty="0">
                <a:solidFill>
                  <a:srgbClr val="132524"/>
                </a:solidFill>
                <a:latin typeface="Aptos" pitchFamily="34" charset="0"/>
                <a:ea typeface="Aptos" pitchFamily="34" charset="-122"/>
                <a:cs typeface="Aptos" pitchFamily="34" charset="-120"/>
              </a:rPr>
              <a:t>Approval gates</a:t>
            </a:r>
            <a:endParaRPr lang="en-US" sz="1400" dirty="0"/>
          </a:p>
        </p:txBody>
      </p:sp>
      <p:sp>
        <p:nvSpPr>
          <p:cNvPr id="27" name="Shape 25"/>
          <p:cNvSpPr/>
          <p:nvPr/>
        </p:nvSpPr>
        <p:spPr>
          <a:xfrm>
            <a:off x="9107424" y="2962656"/>
            <a:ext cx="237744" cy="237744"/>
          </a:xfrm>
          <a:prstGeom prst="ellipse">
            <a:avLst/>
          </a:prstGeom>
          <a:solidFill>
            <a:srgbClr val="1D6B62"/>
          </a:solidFill>
          <a:ln w="12700">
            <a:solidFill>
              <a:srgbClr val="1D6B62"/>
            </a:solidFill>
            <a:prstDash val="solid"/>
          </a:ln>
        </p:spPr>
      </p:sp>
      <p:sp>
        <p:nvSpPr>
          <p:cNvPr id="28" name="Text 26"/>
          <p:cNvSpPr/>
          <p:nvPr/>
        </p:nvSpPr>
        <p:spPr>
          <a:xfrm>
            <a:off x="9107424" y="295351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9" name="Text 27"/>
          <p:cNvSpPr/>
          <p:nvPr/>
        </p:nvSpPr>
        <p:spPr>
          <a:xfrm>
            <a:off x="9454896" y="294436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Latest recommendation</a:t>
            </a:r>
            <a:endParaRPr lang="en-US" sz="1150" dirty="0"/>
          </a:p>
        </p:txBody>
      </p:sp>
      <p:sp>
        <p:nvSpPr>
          <p:cNvPr id="30" name="Text 28"/>
          <p:cNvSpPr/>
          <p:nvPr/>
        </p:nvSpPr>
        <p:spPr>
          <a:xfrm>
            <a:off x="9454896" y="319125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stale drafts rejected</a:t>
            </a:r>
            <a:endParaRPr lang="en-US" sz="950" dirty="0"/>
          </a:p>
        </p:txBody>
      </p:sp>
      <p:sp>
        <p:nvSpPr>
          <p:cNvPr id="31" name="Shape 29"/>
          <p:cNvSpPr/>
          <p:nvPr/>
        </p:nvSpPr>
        <p:spPr>
          <a:xfrm>
            <a:off x="9107424" y="3474720"/>
            <a:ext cx="237744" cy="237744"/>
          </a:xfrm>
          <a:prstGeom prst="ellipse">
            <a:avLst/>
          </a:prstGeom>
          <a:solidFill>
            <a:srgbClr val="1D6B62"/>
          </a:solidFill>
          <a:ln w="12700">
            <a:solidFill>
              <a:srgbClr val="1D6B62"/>
            </a:solidFill>
            <a:prstDash val="solid"/>
          </a:ln>
        </p:spPr>
      </p:sp>
      <p:sp>
        <p:nvSpPr>
          <p:cNvPr id="32" name="Text 30"/>
          <p:cNvSpPr/>
          <p:nvPr/>
        </p:nvSpPr>
        <p:spPr>
          <a:xfrm>
            <a:off x="9107424" y="346557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3" name="Text 31"/>
          <p:cNvSpPr/>
          <p:nvPr/>
        </p:nvSpPr>
        <p:spPr>
          <a:xfrm>
            <a:off x="9454896" y="345643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Plan lines re-evaluated</a:t>
            </a:r>
            <a:endParaRPr lang="en-US" sz="1150" dirty="0"/>
          </a:p>
        </p:txBody>
      </p:sp>
      <p:sp>
        <p:nvSpPr>
          <p:cNvPr id="34" name="Text 32"/>
          <p:cNvSpPr/>
          <p:nvPr/>
        </p:nvSpPr>
        <p:spPr>
          <a:xfrm>
            <a:off x="9454896" y="370332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offers, timing, constraints checked</a:t>
            </a:r>
            <a:endParaRPr lang="en-US" sz="950" dirty="0"/>
          </a:p>
        </p:txBody>
      </p:sp>
      <p:sp>
        <p:nvSpPr>
          <p:cNvPr id="35" name="Shape 33"/>
          <p:cNvSpPr/>
          <p:nvPr/>
        </p:nvSpPr>
        <p:spPr>
          <a:xfrm>
            <a:off x="9107424" y="3986784"/>
            <a:ext cx="237744" cy="237744"/>
          </a:xfrm>
          <a:prstGeom prst="ellipse">
            <a:avLst/>
          </a:prstGeom>
          <a:solidFill>
            <a:srgbClr val="B94735"/>
          </a:solidFill>
          <a:ln w="12700">
            <a:solidFill>
              <a:srgbClr val="B94735"/>
            </a:solidFill>
            <a:prstDash val="solid"/>
          </a:ln>
        </p:spPr>
      </p:sp>
      <p:sp>
        <p:nvSpPr>
          <p:cNvPr id="36" name="Text 34"/>
          <p:cNvSpPr/>
          <p:nvPr/>
        </p:nvSpPr>
        <p:spPr>
          <a:xfrm>
            <a:off x="9107424" y="397764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7" name="Text 35"/>
          <p:cNvSpPr/>
          <p:nvPr/>
        </p:nvSpPr>
        <p:spPr>
          <a:xfrm>
            <a:off x="9454896" y="396849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Zero hard violations</a:t>
            </a:r>
            <a:endParaRPr lang="en-US" sz="1150" dirty="0"/>
          </a:p>
        </p:txBody>
      </p:sp>
      <p:sp>
        <p:nvSpPr>
          <p:cNvPr id="38" name="Text 36"/>
          <p:cNvSpPr/>
          <p:nvPr/>
        </p:nvSpPr>
        <p:spPr>
          <a:xfrm>
            <a:off x="9454896" y="421538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state checked again</a:t>
            </a:r>
            <a:endParaRPr lang="en-US" sz="950" dirty="0"/>
          </a:p>
        </p:txBody>
      </p:sp>
      <p:sp>
        <p:nvSpPr>
          <p:cNvPr id="39" name="Shape 37"/>
          <p:cNvSpPr/>
          <p:nvPr/>
        </p:nvSpPr>
        <p:spPr>
          <a:xfrm>
            <a:off x="8796528" y="4773168"/>
            <a:ext cx="2743200" cy="1289304"/>
          </a:xfrm>
          <a:prstGeom prst="roundRect">
            <a:avLst>
              <a:gd name="adj" fmla="val 5674"/>
            </a:avLst>
          </a:prstGeom>
          <a:solidFill>
            <a:srgbClr val="143B37"/>
          </a:solidFill>
          <a:ln w="12700">
            <a:solidFill>
              <a:srgbClr val="143B37"/>
            </a:solidFill>
            <a:prstDash val="solid"/>
          </a:ln>
        </p:spPr>
      </p:sp>
      <p:sp>
        <p:nvSpPr>
          <p:cNvPr id="40" name="Text 38"/>
          <p:cNvSpPr/>
          <p:nvPr/>
        </p:nvSpPr>
        <p:spPr>
          <a:xfrm>
            <a:off x="9107424" y="5010912"/>
            <a:ext cx="2029968" cy="246888"/>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After approval</a:t>
            </a:r>
            <a:endParaRPr lang="en-US" sz="1300" dirty="0"/>
          </a:p>
        </p:txBody>
      </p:sp>
      <p:sp>
        <p:nvSpPr>
          <p:cNvPr id="41" name="Text 39"/>
          <p:cNvSpPr/>
          <p:nvPr/>
        </p:nvSpPr>
        <p:spPr>
          <a:xfrm>
            <a:off x="9107424" y="5340096"/>
            <a:ext cx="2011680" cy="566928"/>
          </a:xfrm>
          <a:prstGeom prst="rect">
            <a:avLst/>
          </a:prstGeom>
          <a:noFill/>
          <a:ln/>
        </p:spPr>
        <p:txBody>
          <a:bodyPr wrap="square" lIns="0" tIns="0" rIns="0" bIns="0" rtlCol="0" anchor="t">
            <a:normAutofit/>
          </a:bodyPr>
          <a:lstStyle/>
          <a:p>
            <a:pPr indent="0" marL="0">
              <a:buNone/>
            </a:pPr>
            <a:r>
              <a:rPr lang="en-US" sz="1030" dirty="0">
                <a:solidFill>
                  <a:srgbClr val="D7E7E1"/>
                </a:solidFill>
                <a:latin typeface="Aptos" pitchFamily="34" charset="0"/>
                <a:ea typeface="Aptos" pitchFamily="34" charset="-122"/>
                <a:cs typeface="Aptos" pitchFamily="34" charset="-120"/>
              </a:rPr>
              <a:t>Lot-specific pantry notices</a:t>
            </a:r>
            <a:endParaRPr lang="en-US" sz="1030" dirty="0"/>
          </a:p>
          <a:p>
            <a:pPr indent="0" marL="0">
              <a:buNone/>
            </a:pPr>
            <a:r>
              <a:rPr lang="en-US" sz="1030" dirty="0">
                <a:solidFill>
                  <a:srgbClr val="D7E7E1"/>
                </a:solidFill>
                <a:latin typeface="Aptos" pitchFamily="34" charset="0"/>
                <a:ea typeface="Aptos" pitchFamily="34" charset="-122"/>
                <a:cs typeface="Aptos" pitchFamily="34" charset="-120"/>
              </a:rPr>
              <a:t>Purchase instructions</a:t>
            </a:r>
            <a:endParaRPr lang="en-US" sz="1030" dirty="0"/>
          </a:p>
          <a:p>
            <a:pPr indent="0" marL="0">
              <a:buNone/>
            </a:pPr>
            <a:r>
              <a:rPr lang="en-US" sz="1030" dirty="0">
                <a:solidFill>
                  <a:srgbClr val="D7E7E1"/>
                </a:solidFill>
                <a:latin typeface="Aptos" pitchFamily="34" charset="0"/>
                <a:ea typeface="Aptos" pitchFamily="34" charset="-122"/>
                <a:cs typeface="Aptos" pitchFamily="34" charset="-120"/>
              </a:rPr>
              <a:t>Auditable approval event</a:t>
            </a:r>
            <a:endParaRPr lang="en-US" sz="1030" dirty="0"/>
          </a:p>
        </p:txBody>
      </p:sp>
      <p:sp>
        <p:nvSpPr>
          <p:cNvPr id="42" name="Text 40"/>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Diagram maps the executed approval path; no model or UI click bypasses revalidation.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Live approval flow" history="1" highlightClick="0" endSnd="0">
                  <a:extLst>
                    <a:ext uri="{A12FA001-AC4F-418D-AE19-62706E023703}">
                      <ahyp:hlinkClr xmlns:ahyp="http://schemas.microsoft.com/office/drawing/2018/hyperlinkcolor" val="tx"/>
                    </a:ext>
                  </a:extLst>
                </a:hlinkClick>
              </a:rPr>
              <a:t>Live approval flow</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Approval regression tests" history="1" highlightClick="0" endSnd="0">
                  <a:extLst>
                    <a:ext uri="{A12FA001-AC4F-418D-AE19-62706E023703}">
                      <ahyp:hlinkClr xmlns:ahyp="http://schemas.microsoft.com/office/drawing/2018/hyperlinkcolor" val="tx"/>
                    </a:ext>
                  </a:extLst>
                </a:hlinkClick>
              </a:rPr>
              <a:t>Approval regression tests</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VALIDATION STATUS</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Evidence is separated from ambition.</a:t>
            </a:r>
            <a:endParaRPr lang="en-US" sz="3600" dirty="0"/>
          </a:p>
        </p:txBody>
      </p:sp>
      <p:sp>
        <p:nvSpPr>
          <p:cNvPr id="4" name="Text 2"/>
          <p:cNvSpPr/>
          <p:nvPr/>
        </p:nvSpPr>
        <p:spPr>
          <a:xfrm>
            <a:off x="658368" y="1572768"/>
            <a:ext cx="10698480" cy="475488"/>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Measured behavior, evaluation readiness, and future validation are reported as different categories. No unavailable result is converted into a claim.</a:t>
            </a:r>
            <a:endParaRPr lang="en-US" sz="1550" dirty="0"/>
          </a:p>
        </p:txBody>
      </p:sp>
      <p:sp>
        <p:nvSpPr>
          <p:cNvPr id="5" name="Shape 3"/>
          <p:cNvSpPr/>
          <p:nvPr/>
        </p:nvSpPr>
        <p:spPr>
          <a:xfrm>
            <a:off x="658368" y="2359152"/>
            <a:ext cx="3246120" cy="3611880"/>
          </a:xfrm>
          <a:prstGeom prst="roundRect">
            <a:avLst>
              <a:gd name="adj" fmla="val 2254"/>
            </a:avLst>
          </a:prstGeom>
          <a:solidFill>
            <a:srgbClr val="E8EEE9"/>
          </a:solidFill>
          <a:ln w="17780">
            <a:solidFill>
              <a:srgbClr val="1D6B62"/>
            </a:solidFill>
            <a:prstDash val="solid"/>
          </a:ln>
        </p:spPr>
      </p:sp>
      <p:sp>
        <p:nvSpPr>
          <p:cNvPr id="6" name="Shape 4"/>
          <p:cNvSpPr/>
          <p:nvPr/>
        </p:nvSpPr>
        <p:spPr>
          <a:xfrm>
            <a:off x="950976" y="2651760"/>
            <a:ext cx="1417320" cy="274320"/>
          </a:xfrm>
          <a:prstGeom prst="roundRect">
            <a:avLst/>
          </a:prstGeom>
          <a:solidFill>
            <a:srgbClr val="1D6B62"/>
          </a:solidFill>
          <a:ln w="12700">
            <a:solidFill>
              <a:srgbClr val="1D6B62"/>
            </a:solidFill>
            <a:prstDash val="solid"/>
          </a:ln>
        </p:spPr>
      </p:sp>
      <p:sp>
        <p:nvSpPr>
          <p:cNvPr id="7" name="Text 5"/>
          <p:cNvSpPr/>
          <p:nvPr/>
        </p:nvSpPr>
        <p:spPr>
          <a:xfrm>
            <a:off x="1024128"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MEASURED</a:t>
            </a:r>
            <a:endParaRPr lang="en-US" sz="900" dirty="0"/>
          </a:p>
        </p:txBody>
      </p:sp>
      <p:sp>
        <p:nvSpPr>
          <p:cNvPr id="8" name="Text 6"/>
          <p:cNvSpPr/>
          <p:nvPr/>
        </p:nvSpPr>
        <p:spPr>
          <a:xfrm>
            <a:off x="950976"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Implemented + measured</a:t>
            </a:r>
            <a:endParaRPr lang="en-US" sz="1450" dirty="0"/>
          </a:p>
        </p:txBody>
      </p:sp>
      <p:sp>
        <p:nvSpPr>
          <p:cNvPr id="9" name="Text 7"/>
          <p:cNvSpPr/>
          <p:nvPr/>
        </p:nvSpPr>
        <p:spPr>
          <a:xfrm>
            <a:off x="950976"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2 feeds</a:t>
            </a:r>
            <a:endParaRPr lang="en-US" sz="1250" dirty="0"/>
          </a:p>
        </p:txBody>
      </p:sp>
      <p:sp>
        <p:nvSpPr>
          <p:cNvPr id="10" name="Text 8"/>
          <p:cNvSpPr/>
          <p:nvPr/>
        </p:nvSpPr>
        <p:spPr>
          <a:xfrm>
            <a:off x="2231136"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on-demand openFDA + FSIS</a:t>
            </a:r>
            <a:endParaRPr lang="en-US" sz="960" dirty="0"/>
          </a:p>
        </p:txBody>
      </p:sp>
      <p:sp>
        <p:nvSpPr>
          <p:cNvPr id="11" name="Text 9"/>
          <p:cNvSpPr/>
          <p:nvPr/>
        </p:nvSpPr>
        <p:spPr>
          <a:xfrm>
            <a:off x="950976"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107 tests</a:t>
            </a:r>
            <a:endParaRPr lang="en-US" sz="1250" dirty="0"/>
          </a:p>
        </p:txBody>
      </p:sp>
      <p:sp>
        <p:nvSpPr>
          <p:cNvPr id="12" name="Text 10"/>
          <p:cNvSpPr/>
          <p:nvPr/>
        </p:nvSpPr>
        <p:spPr>
          <a:xfrm>
            <a:off x="2231136"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deterministic regression suite</a:t>
            </a:r>
            <a:endParaRPr lang="en-US" sz="960" dirty="0"/>
          </a:p>
        </p:txBody>
      </p:sp>
      <p:sp>
        <p:nvSpPr>
          <p:cNvPr id="13" name="Text 11"/>
          <p:cNvSpPr/>
          <p:nvPr/>
        </p:nvSpPr>
        <p:spPr>
          <a:xfrm>
            <a:off x="950976"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0</a:t>
            </a:r>
            <a:endParaRPr lang="en-US" sz="1250" dirty="0"/>
          </a:p>
        </p:txBody>
      </p:sp>
      <p:sp>
        <p:nvSpPr>
          <p:cNvPr id="14" name="Text 12"/>
          <p:cNvSpPr/>
          <p:nvPr/>
        </p:nvSpPr>
        <p:spPr>
          <a:xfrm>
            <a:off x="2231136"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hard-constraint violations</a:t>
            </a:r>
            <a:endParaRPr lang="en-US" sz="960" dirty="0"/>
          </a:p>
        </p:txBody>
      </p:sp>
      <p:sp>
        <p:nvSpPr>
          <p:cNvPr id="15" name="Text 13"/>
          <p:cNvSpPr/>
          <p:nvPr/>
        </p:nvSpPr>
        <p:spPr>
          <a:xfrm>
            <a:off x="950976"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+1,000 lb</a:t>
            </a:r>
            <a:endParaRPr lang="en-US" sz="1250" dirty="0"/>
          </a:p>
        </p:txBody>
      </p:sp>
      <p:sp>
        <p:nvSpPr>
          <p:cNvPr id="16" name="Text 14"/>
          <p:cNvSpPr/>
          <p:nvPr/>
        </p:nvSpPr>
        <p:spPr>
          <a:xfrm>
            <a:off x="2231136"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curated recovery vs baseline</a:t>
            </a:r>
            <a:endParaRPr lang="en-US" sz="960" dirty="0"/>
          </a:p>
        </p:txBody>
      </p:sp>
      <p:sp>
        <p:nvSpPr>
          <p:cNvPr id="17" name="Shape 15"/>
          <p:cNvSpPr/>
          <p:nvPr/>
        </p:nvSpPr>
        <p:spPr>
          <a:xfrm>
            <a:off x="4471416" y="2359152"/>
            <a:ext cx="3246120" cy="3611880"/>
          </a:xfrm>
          <a:prstGeom prst="roundRect">
            <a:avLst>
              <a:gd name="adj" fmla="val 2254"/>
            </a:avLst>
          </a:prstGeom>
          <a:solidFill>
            <a:srgbClr val="F7E9CB"/>
          </a:solidFill>
          <a:ln w="17780">
            <a:solidFill>
              <a:srgbClr val="C88C2C"/>
            </a:solidFill>
            <a:prstDash val="solid"/>
          </a:ln>
        </p:spPr>
      </p:sp>
      <p:sp>
        <p:nvSpPr>
          <p:cNvPr id="18" name="Shape 16"/>
          <p:cNvSpPr/>
          <p:nvPr/>
        </p:nvSpPr>
        <p:spPr>
          <a:xfrm>
            <a:off x="4764024" y="2651760"/>
            <a:ext cx="1417320" cy="274320"/>
          </a:xfrm>
          <a:prstGeom prst="roundRect">
            <a:avLst/>
          </a:prstGeom>
          <a:solidFill>
            <a:srgbClr val="C88C2C"/>
          </a:solidFill>
          <a:ln w="12700">
            <a:solidFill>
              <a:srgbClr val="C88C2C"/>
            </a:solidFill>
            <a:prstDash val="solid"/>
          </a:ln>
        </p:spPr>
      </p:sp>
      <p:sp>
        <p:nvSpPr>
          <p:cNvPr id="19" name="Text 17"/>
          <p:cNvSpPr/>
          <p:nvPr/>
        </p:nvSpPr>
        <p:spPr>
          <a:xfrm>
            <a:off x="4837176"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READY / NOT RUN</a:t>
            </a:r>
            <a:endParaRPr lang="en-US" sz="900" dirty="0"/>
          </a:p>
        </p:txBody>
      </p:sp>
      <p:sp>
        <p:nvSpPr>
          <p:cNvPr id="20" name="Text 18"/>
          <p:cNvSpPr/>
          <p:nvPr/>
        </p:nvSpPr>
        <p:spPr>
          <a:xfrm>
            <a:off x="4764024"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Extraction evaluation</a:t>
            </a:r>
            <a:endParaRPr lang="en-US" sz="1450" dirty="0"/>
          </a:p>
        </p:txBody>
      </p:sp>
      <p:sp>
        <p:nvSpPr>
          <p:cNvPr id="21" name="Text 19"/>
          <p:cNvSpPr/>
          <p:nvPr/>
        </p:nvSpPr>
        <p:spPr>
          <a:xfrm>
            <a:off x="4764024"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5 notices</a:t>
            </a:r>
            <a:endParaRPr lang="en-US" sz="1250" dirty="0"/>
          </a:p>
        </p:txBody>
      </p:sp>
      <p:sp>
        <p:nvSpPr>
          <p:cNvPr id="22" name="Text 20"/>
          <p:cNvSpPr/>
          <p:nvPr/>
        </p:nvSpPr>
        <p:spPr>
          <a:xfrm>
            <a:off x="6044184"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frozen official gold set</a:t>
            </a:r>
            <a:endParaRPr lang="en-US" sz="960" dirty="0"/>
          </a:p>
        </p:txBody>
      </p:sp>
      <p:sp>
        <p:nvSpPr>
          <p:cNvPr id="23" name="Text 21"/>
          <p:cNvSpPr/>
          <p:nvPr/>
        </p:nvSpPr>
        <p:spPr>
          <a:xfrm>
            <a:off x="4764024"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Exact match</a:t>
            </a:r>
            <a:endParaRPr lang="en-US" sz="1250" dirty="0"/>
          </a:p>
        </p:txBody>
      </p:sp>
      <p:sp>
        <p:nvSpPr>
          <p:cNvPr id="24" name="Text 22"/>
          <p:cNvSpPr/>
          <p:nvPr/>
        </p:nvSpPr>
        <p:spPr>
          <a:xfrm>
            <a:off x="6044184"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field-level scorer</a:t>
            </a:r>
            <a:endParaRPr lang="en-US" sz="960" dirty="0"/>
          </a:p>
        </p:txBody>
      </p:sp>
      <p:sp>
        <p:nvSpPr>
          <p:cNvPr id="25" name="Text 23"/>
          <p:cNvSpPr/>
          <p:nvPr/>
        </p:nvSpPr>
        <p:spPr>
          <a:xfrm>
            <a:off x="4764024"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Provenance</a:t>
            </a:r>
            <a:endParaRPr lang="en-US" sz="1250" dirty="0"/>
          </a:p>
        </p:txBody>
      </p:sp>
      <p:sp>
        <p:nvSpPr>
          <p:cNvPr id="26" name="Text 24"/>
          <p:cNvSpPr/>
          <p:nvPr/>
        </p:nvSpPr>
        <p:spPr>
          <a:xfrm>
            <a:off x="6044184"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raw + verified outputs</a:t>
            </a:r>
            <a:endParaRPr lang="en-US" sz="960" dirty="0"/>
          </a:p>
        </p:txBody>
      </p:sp>
      <p:sp>
        <p:nvSpPr>
          <p:cNvPr id="27" name="Text 25"/>
          <p:cNvSpPr/>
          <p:nvPr/>
        </p:nvSpPr>
        <p:spPr>
          <a:xfrm>
            <a:off x="4764024"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No rate</a:t>
            </a:r>
            <a:endParaRPr lang="en-US" sz="1250" dirty="0"/>
          </a:p>
        </p:txBody>
      </p:sp>
      <p:sp>
        <p:nvSpPr>
          <p:cNvPr id="28" name="Text 26"/>
          <p:cNvSpPr/>
          <p:nvPr/>
        </p:nvSpPr>
        <p:spPr>
          <a:xfrm>
            <a:off x="6044184"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live model eval not run</a:t>
            </a:r>
            <a:endParaRPr lang="en-US" sz="960" dirty="0"/>
          </a:p>
        </p:txBody>
      </p:sp>
      <p:sp>
        <p:nvSpPr>
          <p:cNvPr id="29" name="Shape 27"/>
          <p:cNvSpPr/>
          <p:nvPr/>
        </p:nvSpPr>
        <p:spPr>
          <a:xfrm>
            <a:off x="8284464" y="2359152"/>
            <a:ext cx="3246120" cy="3611880"/>
          </a:xfrm>
          <a:prstGeom prst="roundRect">
            <a:avLst>
              <a:gd name="adj" fmla="val 2254"/>
            </a:avLst>
          </a:prstGeom>
          <a:solidFill>
            <a:srgbClr val="E9ECEC"/>
          </a:solidFill>
          <a:ln w="17780">
            <a:solidFill>
              <a:srgbClr val="64757A"/>
            </a:solidFill>
            <a:prstDash val="solid"/>
          </a:ln>
        </p:spPr>
      </p:sp>
      <p:sp>
        <p:nvSpPr>
          <p:cNvPr id="30" name="Shape 28"/>
          <p:cNvSpPr/>
          <p:nvPr/>
        </p:nvSpPr>
        <p:spPr>
          <a:xfrm>
            <a:off x="8577072" y="2651760"/>
            <a:ext cx="1417320" cy="274320"/>
          </a:xfrm>
          <a:prstGeom prst="roundRect">
            <a:avLst/>
          </a:prstGeom>
          <a:solidFill>
            <a:srgbClr val="64757A"/>
          </a:solidFill>
          <a:ln w="12700">
            <a:solidFill>
              <a:srgbClr val="64757A"/>
            </a:solidFill>
            <a:prstDash val="solid"/>
          </a:ln>
        </p:spPr>
      </p:sp>
      <p:sp>
        <p:nvSpPr>
          <p:cNvPr id="31" name="Text 29"/>
          <p:cNvSpPr/>
          <p:nvPr/>
        </p:nvSpPr>
        <p:spPr>
          <a:xfrm>
            <a:off x="8650224"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NOT YET VALIDATED</a:t>
            </a:r>
            <a:endParaRPr lang="en-US" sz="900" dirty="0"/>
          </a:p>
        </p:txBody>
      </p:sp>
      <p:sp>
        <p:nvSpPr>
          <p:cNvPr id="32" name="Text 30"/>
          <p:cNvSpPr/>
          <p:nvPr/>
        </p:nvSpPr>
        <p:spPr>
          <a:xfrm>
            <a:off x="8577072"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In live operations</a:t>
            </a:r>
            <a:endParaRPr lang="en-US" sz="1450" dirty="0"/>
          </a:p>
        </p:txBody>
      </p:sp>
      <p:sp>
        <p:nvSpPr>
          <p:cNvPr id="33" name="Text 31"/>
          <p:cNvSpPr/>
          <p:nvPr/>
        </p:nvSpPr>
        <p:spPr>
          <a:xfrm>
            <a:off x="8577072"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0 interviews</a:t>
            </a:r>
            <a:endParaRPr lang="en-US" sz="1250" dirty="0"/>
          </a:p>
        </p:txBody>
      </p:sp>
      <p:sp>
        <p:nvSpPr>
          <p:cNvPr id="34" name="Text 32"/>
          <p:cNvSpPr/>
          <p:nvPr/>
        </p:nvSpPr>
        <p:spPr>
          <a:xfrm>
            <a:off x="9857232"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food-bank operator discovery</a:t>
            </a:r>
            <a:endParaRPr lang="en-US" sz="960" dirty="0"/>
          </a:p>
        </p:txBody>
      </p:sp>
      <p:sp>
        <p:nvSpPr>
          <p:cNvPr id="35" name="Text 33"/>
          <p:cNvSpPr/>
          <p:nvPr/>
        </p:nvSpPr>
        <p:spPr>
          <a:xfrm>
            <a:off x="8577072"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No timing study</a:t>
            </a:r>
            <a:endParaRPr lang="en-US" sz="1250" dirty="0"/>
          </a:p>
        </p:txBody>
      </p:sp>
      <p:sp>
        <p:nvSpPr>
          <p:cNvPr id="36" name="Text 34"/>
          <p:cNvSpPr/>
          <p:nvPr/>
        </p:nvSpPr>
        <p:spPr>
          <a:xfrm>
            <a:off x="9857232"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manual response comparator</a:t>
            </a:r>
            <a:endParaRPr lang="en-US" sz="960" dirty="0"/>
          </a:p>
        </p:txBody>
      </p:sp>
      <p:sp>
        <p:nvSpPr>
          <p:cNvPr id="37" name="Text 35"/>
          <p:cNvSpPr/>
          <p:nvPr/>
        </p:nvSpPr>
        <p:spPr>
          <a:xfrm>
            <a:off x="8577072"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No client data</a:t>
            </a:r>
            <a:endParaRPr lang="en-US" sz="1250" dirty="0"/>
          </a:p>
        </p:txBody>
      </p:sp>
      <p:sp>
        <p:nvSpPr>
          <p:cNvPr id="38" name="Text 36"/>
          <p:cNvSpPr/>
          <p:nvPr/>
        </p:nvSpPr>
        <p:spPr>
          <a:xfrm>
            <a:off x="9857232"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production performance</a:t>
            </a:r>
            <a:endParaRPr lang="en-US" sz="960" dirty="0"/>
          </a:p>
        </p:txBody>
      </p:sp>
      <p:sp>
        <p:nvSpPr>
          <p:cNvPr id="39" name="Text 37"/>
          <p:cNvSpPr/>
          <p:nvPr/>
        </p:nvSpPr>
        <p:spPr>
          <a:xfrm>
            <a:off x="8577072"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Pilot needed</a:t>
            </a:r>
            <a:endParaRPr lang="en-US" sz="1250" dirty="0"/>
          </a:p>
        </p:txBody>
      </p:sp>
      <p:sp>
        <p:nvSpPr>
          <p:cNvPr id="40" name="Text 38"/>
          <p:cNvSpPr/>
          <p:nvPr/>
        </p:nvSpPr>
        <p:spPr>
          <a:xfrm>
            <a:off x="9857232"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workflow and impact validation</a:t>
            </a:r>
            <a:endParaRPr lang="en-US" sz="960" dirty="0"/>
          </a:p>
        </p:txBody>
      </p:sp>
      <p:sp>
        <p:nvSpPr>
          <p:cNvPr id="41" name="Shape 39"/>
          <p:cNvSpPr/>
          <p:nvPr/>
        </p:nvSpPr>
        <p:spPr>
          <a:xfrm>
            <a:off x="4764024" y="5605272"/>
            <a:ext cx="2788920" cy="256032"/>
          </a:xfrm>
          <a:prstGeom prst="roundRect">
            <a:avLst/>
          </a:prstGeom>
          <a:solidFill>
            <a:srgbClr val="C88C2C"/>
          </a:solidFill>
          <a:ln w="12700">
            <a:solidFill>
              <a:srgbClr val="C88C2C"/>
            </a:solidFill>
            <a:prstDash val="solid"/>
          </a:ln>
        </p:spPr>
      </p:sp>
      <p:sp>
        <p:nvSpPr>
          <p:cNvPr id="42" name="Text 40"/>
          <p:cNvSpPr/>
          <p:nvPr/>
        </p:nvSpPr>
        <p:spPr>
          <a:xfrm>
            <a:off x="4882896" y="5632704"/>
            <a:ext cx="2551176" cy="182880"/>
          </a:xfrm>
          <a:prstGeom prst="rect">
            <a:avLst/>
          </a:prstGeom>
          <a:noFill/>
          <a:ln/>
        </p:spPr>
        <p:txBody>
          <a:bodyPr wrap="square" lIns="0" tIns="0" rIns="0" bIns="0" rtlCol="0" anchor="ctr">
            <a:normAutofit/>
          </a:bodyPr>
          <a:lstStyle/>
          <a:p>
            <a:pPr algn="ctr" indent="0" marL="0">
              <a:buNone/>
            </a:pPr>
            <a:r>
              <a:rPr lang="en-US" sz="910" b="1" dirty="0">
                <a:solidFill>
                  <a:srgbClr val="FFFFFF"/>
                </a:solidFill>
                <a:latin typeface="Aptos" pitchFamily="34" charset="0"/>
                <a:ea typeface="Aptos" pitchFamily="34" charset="-122"/>
                <a:cs typeface="Aptos" pitchFamily="34" charset="-120"/>
              </a:rPr>
              <a:t>MODEL ACCURACY / NOT CLAIMED</a:t>
            </a:r>
            <a:endParaRPr lang="en-US" sz="910" dirty="0"/>
          </a:p>
        </p:txBody>
      </p:sp>
      <p:sp>
        <p:nvSpPr>
          <p:cNvPr id="43" name="Text 4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900" dirty="0">
                <a:solidFill>
                  <a:srgbClr val="61706D"/>
                </a:solidFill>
                <a:latin typeface="Aptos" pitchFamily="34" charset="0"/>
                <a:ea typeface="Aptos" pitchFamily="34" charset="-122"/>
                <a:cs typeface="Aptos" pitchFamily="34" charset="-120"/>
              </a:rPr>
              <a:t>Published evidence is a fallback for discovery, not a substitute for operator interviews.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Frozen gold set" history="1" highlightClick="0" endSnd="0">
                  <a:extLst>
                    <a:ext uri="{A12FA001-AC4F-418D-AE19-62706E023703}">
                      <ahyp:hlinkClr xmlns:ahyp="http://schemas.microsoft.com/office/drawing/2018/hyperlinkcolor" val="tx"/>
                    </a:ext>
                  </a:extLst>
                </a:hlinkClick>
              </a:rPr>
              <a:t>Frozen gold set</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valuation runner" history="1" highlightClick="0" endSnd="0">
                  <a:extLst>
                    <a:ext uri="{A12FA001-AC4F-418D-AE19-62706E023703}">
                      <ahyp:hlinkClr xmlns:ahyp="http://schemas.microsoft.com/office/drawing/2018/hyperlinkcolor" val="tx"/>
                    </a:ext>
                  </a:extLst>
                </a:hlinkClick>
              </a:rPr>
              <a:t>Evaluation runner</a:t>
            </a:r>
            <a:pPr indent="0" marL="0">
              <a:buNone/>
            </a:pPr>
            <a:r>
              <a:rPr lang="en-US" sz="900" dirty="0">
                <a:solidFill>
                  <a:srgbClr val="D9D2C2"/>
                </a:solidFill>
                <a:latin typeface="Aptos" pitchFamily="34" charset="0"/>
                <a:ea typeface="Aptos" pitchFamily="34" charset="-122"/>
                <a:cs typeface="Aptos" pitchFamily="34" charset="-120"/>
              </a:rPr>
              <a:t>  |  </a:t>
            </a:r>
            <a:pPr indent="0" marL="0">
              <a:buNone/>
            </a:pPr>
            <a:r>
              <a:rPr lang="en-US" sz="90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afety tests" history="1" highlightClick="0" endSnd="0">
                  <a:extLst>
                    <a:ext uri="{A12FA001-AC4F-418D-AE19-62706E023703}">
                      <ahyp:hlinkClr xmlns:ahyp="http://schemas.microsoft.com/office/drawing/2018/hyperlinkcolor" val="tx"/>
                    </a:ext>
                  </a:extLst>
                </a:hlinkClick>
              </a:rPr>
              <a:t>Safety tests</a:t>
            </a:r>
            <a:endParaRPr lang="en-US" sz="9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658368" y="530352"/>
            <a:ext cx="384048" cy="384048"/>
          </a:xfrm>
          <a:prstGeom prst="rect">
            <a:avLst/>
          </a:prstGeom>
          <a:solidFill>
            <a:srgbClr val="FFFDF8">
              <a:alpha val="0"/>
            </a:srgbClr>
          </a:solidFill>
          <a:ln w="12700">
            <a:solidFill>
              <a:srgbClr val="FFFDF8"/>
            </a:solidFill>
            <a:prstDash val="solid"/>
          </a:ln>
        </p:spPr>
      </p:sp>
      <p:sp>
        <p:nvSpPr>
          <p:cNvPr id="4" name="Text 2"/>
          <p:cNvSpPr/>
          <p:nvPr/>
        </p:nvSpPr>
        <p:spPr>
          <a:xfrm>
            <a:off x="658368" y="585216"/>
            <a:ext cx="384048" cy="228600"/>
          </a:xfrm>
          <a:prstGeom prst="rect">
            <a:avLst/>
          </a:prstGeom>
          <a:noFill/>
          <a:ln/>
        </p:spPr>
        <p:txBody>
          <a:bodyPr wrap="square" lIns="0" tIns="0" rIns="0" bIns="0" rtlCol="0" anchor="ctr">
            <a:normAutofit/>
          </a:bodyPr>
          <a:lstStyle/>
          <a:p>
            <a:pPr algn="ctr" indent="0" marL="0">
              <a:buNone/>
            </a:pPr>
            <a:r>
              <a:rPr lang="en-US" sz="850" b="1" dirty="0">
                <a:solidFill>
                  <a:srgbClr val="FFFDF8"/>
                </a:solidFill>
                <a:latin typeface="Aptos" pitchFamily="34" charset="0"/>
                <a:ea typeface="Aptos" pitchFamily="34" charset="-122"/>
                <a:cs typeface="Aptos" pitchFamily="34" charset="-120"/>
              </a:rPr>
              <a:t>FFF</a:t>
            </a:r>
            <a:endParaRPr lang="en-US" sz="850" dirty="0"/>
          </a:p>
        </p:txBody>
      </p:sp>
      <p:sp>
        <p:nvSpPr>
          <p:cNvPr id="5" name="Text 3"/>
          <p:cNvSpPr/>
          <p:nvPr/>
        </p:nvSpPr>
        <p:spPr>
          <a:xfrm>
            <a:off x="1188720" y="557784"/>
            <a:ext cx="1828800" cy="27432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Farms for Food</a:t>
            </a:r>
            <a:endParaRPr lang="en-US" sz="1300" dirty="0"/>
          </a:p>
        </p:txBody>
      </p:sp>
      <p:sp>
        <p:nvSpPr>
          <p:cNvPr id="6" name="Text 4"/>
          <p:cNvSpPr/>
          <p:nvPr/>
        </p:nvSpPr>
        <p:spPr>
          <a:xfrm>
            <a:off x="658368" y="1097280"/>
            <a:ext cx="5989320" cy="1234440"/>
          </a:xfrm>
          <a:prstGeom prst="rect">
            <a:avLst/>
          </a:prstGeom>
          <a:noFill/>
          <a:ln/>
        </p:spPr>
        <p:txBody>
          <a:bodyPr wrap="square" lIns="0" tIns="0" rIns="0" bIns="0" rtlCol="0" anchor="t">
            <a:normAutofit/>
          </a:bodyPr>
          <a:lstStyle/>
          <a:p>
            <a:pPr indent="0" marL="0">
              <a:buNone/>
            </a:pPr>
            <a:r>
              <a:rPr lang="en-US" sz="3900" b="1" dirty="0">
                <a:solidFill>
                  <a:srgbClr val="FFFDF8"/>
                </a:solidFill>
                <a:latin typeface="Aptos Display" pitchFamily="34" charset="0"/>
                <a:ea typeface="Aptos Display" pitchFamily="34" charset="-122"/>
                <a:cs typeface="Aptos Display" pitchFamily="34" charset="-120"/>
              </a:rPr>
              <a:t>Pilot one recall.</a:t>
            </a:r>
            <a:endParaRPr lang="en-US" sz="3900" dirty="0"/>
          </a:p>
          <a:p>
            <a:pPr indent="0" marL="0">
              <a:buNone/>
            </a:pPr>
            <a:r>
              <a:rPr lang="en-US" sz="3900" b="1" dirty="0">
                <a:solidFill>
                  <a:srgbClr val="FFFDF8"/>
                </a:solidFill>
                <a:latin typeface="Aptos Display" pitchFamily="34" charset="0"/>
                <a:ea typeface="Aptos Display" pitchFamily="34" charset="-122"/>
                <a:cs typeface="Aptos Display" pitchFamily="34" charset="-120"/>
              </a:rPr>
              <a:t>Prove the decision loop.</a:t>
            </a:r>
            <a:endParaRPr lang="en-US" sz="3900" dirty="0"/>
          </a:p>
        </p:txBody>
      </p:sp>
      <p:sp>
        <p:nvSpPr>
          <p:cNvPr id="7" name="Text 5"/>
          <p:cNvSpPr/>
          <p:nvPr/>
        </p:nvSpPr>
        <p:spPr>
          <a:xfrm>
            <a:off x="658368" y="2596896"/>
            <a:ext cx="5669280" cy="804672"/>
          </a:xfrm>
          <a:prstGeom prst="rect">
            <a:avLst/>
          </a:prstGeom>
          <a:noFill/>
          <a:ln/>
        </p:spPr>
        <p:txBody>
          <a:bodyPr wrap="square" lIns="0" tIns="0" rIns="0" bIns="0" rtlCol="0" anchor="t">
            <a:normAutofit/>
          </a:bodyPr>
          <a:lstStyle/>
          <a:p>
            <a:pPr indent="0" marL="0">
              <a:buNone/>
            </a:pPr>
            <a:r>
              <a:rPr lang="en-US" sz="1700" dirty="0">
                <a:solidFill>
                  <a:srgbClr val="D7E7E1"/>
                </a:solidFill>
                <a:latin typeface="Aptos" pitchFamily="34" charset="0"/>
                <a:ea typeface="Aptos" pitchFamily="34" charset="-122"/>
                <a:cs typeface="Aptos" pitchFamily="34" charset="-120"/>
              </a:rPr>
              <a:t>Start with one notice type, one warehouse, and one pantry network. Measure trace completeness, planning time, reviewer corrections, and service recovery.</a:t>
            </a:r>
            <a:endParaRPr lang="en-US" sz="1700" dirty="0"/>
          </a:p>
        </p:txBody>
      </p:sp>
      <p:sp>
        <p:nvSpPr>
          <p:cNvPr id="8" name="Shape 6"/>
          <p:cNvSpPr/>
          <p:nvPr/>
        </p:nvSpPr>
        <p:spPr>
          <a:xfrm>
            <a:off x="658368" y="3840480"/>
            <a:ext cx="384048" cy="384048"/>
          </a:xfrm>
          <a:prstGeom prst="ellipse">
            <a:avLst/>
          </a:prstGeom>
          <a:solidFill>
            <a:srgbClr val="1D6B62"/>
          </a:solidFill>
          <a:ln w="12700">
            <a:solidFill>
              <a:srgbClr val="1D6B62"/>
            </a:solidFill>
            <a:prstDash val="solid"/>
          </a:ln>
        </p:spPr>
      </p:sp>
      <p:sp>
        <p:nvSpPr>
          <p:cNvPr id="9" name="Text 7"/>
          <p:cNvSpPr/>
          <p:nvPr/>
        </p:nvSpPr>
        <p:spPr>
          <a:xfrm>
            <a:off x="658368" y="39136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01</a:t>
            </a:r>
            <a:endParaRPr lang="en-US" sz="950" dirty="0"/>
          </a:p>
        </p:txBody>
      </p:sp>
      <p:sp>
        <p:nvSpPr>
          <p:cNvPr id="10" name="Text 8"/>
          <p:cNvSpPr/>
          <p:nvPr/>
        </p:nvSpPr>
        <p:spPr>
          <a:xfrm>
            <a:off x="1225296" y="38313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Connect</a:t>
            </a:r>
            <a:endParaRPr lang="en-US" sz="1300" dirty="0"/>
          </a:p>
        </p:txBody>
      </p:sp>
      <p:sp>
        <p:nvSpPr>
          <p:cNvPr id="11" name="Text 9"/>
          <p:cNvSpPr/>
          <p:nvPr/>
        </p:nvSpPr>
        <p:spPr>
          <a:xfrm>
            <a:off x="2148840" y="3840480"/>
            <a:ext cx="3474720" cy="246888"/>
          </a:xfrm>
          <a:prstGeom prst="rect">
            <a:avLst/>
          </a:prstGeom>
          <a:noFill/>
          <a:ln/>
        </p:spPr>
        <p:txBody>
          <a:bodyPr wrap="square" lIns="0" tIns="0" rIns="0" bIns="0" rtlCol="0" anchor="ctr">
            <a:normAutofit/>
          </a:bodyPr>
          <a:lstStyle/>
          <a:p>
            <a:pPr indent="0" marL="0">
              <a:buNone/>
            </a:pPr>
            <a:r>
              <a:rPr lang="en-US" sz="1100" dirty="0">
                <a:solidFill>
                  <a:srgbClr val="D7E7E1"/>
                </a:solidFill>
                <a:latin typeface="Aptos" pitchFamily="34" charset="0"/>
                <a:ea typeface="Aptos" pitchFamily="34" charset="-122"/>
                <a:cs typeface="Aptos" pitchFamily="34" charset="-120"/>
              </a:rPr>
              <a:t>inventory, purchase orders, allocations</a:t>
            </a:r>
            <a:endParaRPr lang="en-US" sz="1100" dirty="0"/>
          </a:p>
        </p:txBody>
      </p:sp>
      <p:sp>
        <p:nvSpPr>
          <p:cNvPr id="12" name="Shape 10"/>
          <p:cNvSpPr/>
          <p:nvPr/>
        </p:nvSpPr>
        <p:spPr>
          <a:xfrm>
            <a:off x="658368" y="4526280"/>
            <a:ext cx="384048" cy="384048"/>
          </a:xfrm>
          <a:prstGeom prst="ellipse">
            <a:avLst/>
          </a:prstGeom>
          <a:solidFill>
            <a:srgbClr val="1D6B62"/>
          </a:solidFill>
          <a:ln w="12700">
            <a:solidFill>
              <a:srgbClr val="1D6B62"/>
            </a:solidFill>
            <a:prstDash val="solid"/>
          </a:ln>
        </p:spPr>
      </p:sp>
      <p:sp>
        <p:nvSpPr>
          <p:cNvPr id="13" name="Text 11"/>
          <p:cNvSpPr/>
          <p:nvPr/>
        </p:nvSpPr>
        <p:spPr>
          <a:xfrm>
            <a:off x="658368" y="45994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02</a:t>
            </a:r>
            <a:endParaRPr lang="en-US" sz="950" dirty="0"/>
          </a:p>
        </p:txBody>
      </p:sp>
      <p:sp>
        <p:nvSpPr>
          <p:cNvPr id="14" name="Text 12"/>
          <p:cNvSpPr/>
          <p:nvPr/>
        </p:nvSpPr>
        <p:spPr>
          <a:xfrm>
            <a:off x="1225296" y="45171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Shadow</a:t>
            </a:r>
            <a:endParaRPr lang="en-US" sz="1300" dirty="0"/>
          </a:p>
        </p:txBody>
      </p:sp>
      <p:sp>
        <p:nvSpPr>
          <p:cNvPr id="15" name="Text 13"/>
          <p:cNvSpPr/>
          <p:nvPr/>
        </p:nvSpPr>
        <p:spPr>
          <a:xfrm>
            <a:off x="2148840" y="4526280"/>
            <a:ext cx="3474720" cy="246888"/>
          </a:xfrm>
          <a:prstGeom prst="rect">
            <a:avLst/>
          </a:prstGeom>
          <a:noFill/>
          <a:ln/>
        </p:spPr>
        <p:txBody>
          <a:bodyPr wrap="square" lIns="0" tIns="0" rIns="0" bIns="0" rtlCol="0" anchor="ctr">
            <a:normAutofit/>
          </a:bodyPr>
          <a:lstStyle/>
          <a:p>
            <a:pPr indent="0" marL="0">
              <a:buNone/>
            </a:pPr>
            <a:r>
              <a:rPr lang="en-US" sz="1100" dirty="0">
                <a:solidFill>
                  <a:srgbClr val="D7E7E1"/>
                </a:solidFill>
                <a:latin typeface="Aptos" pitchFamily="34" charset="0"/>
                <a:ea typeface="Aptos" pitchFamily="34" charset="-122"/>
                <a:cs typeface="Aptos" pitchFamily="34" charset="-120"/>
              </a:rPr>
              <a:t>run beside the current recall process</a:t>
            </a:r>
            <a:endParaRPr lang="en-US" sz="1100" dirty="0"/>
          </a:p>
        </p:txBody>
      </p:sp>
      <p:sp>
        <p:nvSpPr>
          <p:cNvPr id="16" name="Shape 14"/>
          <p:cNvSpPr/>
          <p:nvPr/>
        </p:nvSpPr>
        <p:spPr>
          <a:xfrm>
            <a:off x="658368" y="5212080"/>
            <a:ext cx="384048" cy="384048"/>
          </a:xfrm>
          <a:prstGeom prst="ellipse">
            <a:avLst/>
          </a:prstGeom>
          <a:solidFill>
            <a:srgbClr val="1D6B62"/>
          </a:solidFill>
          <a:ln w="12700">
            <a:solidFill>
              <a:srgbClr val="1D6B62"/>
            </a:solidFill>
            <a:prstDash val="solid"/>
          </a:ln>
        </p:spPr>
      </p:sp>
      <p:sp>
        <p:nvSpPr>
          <p:cNvPr id="17" name="Text 15"/>
          <p:cNvSpPr/>
          <p:nvPr/>
        </p:nvSpPr>
        <p:spPr>
          <a:xfrm>
            <a:off x="658368" y="52852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03</a:t>
            </a:r>
            <a:endParaRPr lang="en-US" sz="950" dirty="0"/>
          </a:p>
        </p:txBody>
      </p:sp>
      <p:sp>
        <p:nvSpPr>
          <p:cNvPr id="18" name="Text 16"/>
          <p:cNvSpPr/>
          <p:nvPr/>
        </p:nvSpPr>
        <p:spPr>
          <a:xfrm>
            <a:off x="1225296" y="52029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Measure</a:t>
            </a:r>
            <a:endParaRPr lang="en-US" sz="1300" dirty="0"/>
          </a:p>
        </p:txBody>
      </p:sp>
      <p:sp>
        <p:nvSpPr>
          <p:cNvPr id="19" name="Text 17"/>
          <p:cNvSpPr/>
          <p:nvPr/>
        </p:nvSpPr>
        <p:spPr>
          <a:xfrm>
            <a:off x="2148840" y="5212080"/>
            <a:ext cx="3474720" cy="246888"/>
          </a:xfrm>
          <a:prstGeom prst="rect">
            <a:avLst/>
          </a:prstGeom>
          <a:noFill/>
          <a:ln/>
        </p:spPr>
        <p:txBody>
          <a:bodyPr wrap="square" lIns="0" tIns="0" rIns="0" bIns="0" rtlCol="0" anchor="ctr">
            <a:normAutofit/>
          </a:bodyPr>
          <a:lstStyle/>
          <a:p>
            <a:pPr indent="0" marL="0">
              <a:buNone/>
            </a:pPr>
            <a:r>
              <a:rPr lang="en-US" sz="1100" dirty="0">
                <a:solidFill>
                  <a:srgbClr val="D7E7E1"/>
                </a:solidFill>
                <a:latin typeface="Aptos" pitchFamily="34" charset="0"/>
                <a:ea typeface="Aptos" pitchFamily="34" charset="-122"/>
                <a:cs typeface="Aptos" pitchFamily="34" charset="-120"/>
              </a:rPr>
              <a:t>safety, speed, reviewer confidence</a:t>
            </a:r>
            <a:endParaRPr lang="en-US" sz="1100" dirty="0"/>
          </a:p>
        </p:txBody>
      </p:sp>
      <p:sp>
        <p:nvSpPr>
          <p:cNvPr id="20" name="Shape 18"/>
          <p:cNvSpPr/>
          <p:nvPr/>
        </p:nvSpPr>
        <p:spPr>
          <a:xfrm>
            <a:off x="7315200" y="841248"/>
            <a:ext cx="4224528" cy="5358384"/>
          </a:xfrm>
          <a:prstGeom prst="roundRect">
            <a:avLst>
              <a:gd name="adj" fmla="val 1732"/>
            </a:avLst>
          </a:prstGeom>
          <a:solidFill>
            <a:srgbClr val="FFFDF8"/>
          </a:solidFill>
          <a:ln w="12700">
            <a:solidFill>
              <a:srgbClr val="FFFDF8"/>
            </a:solidFill>
            <a:prstDash val="solid"/>
          </a:ln>
        </p:spPr>
      </p:sp>
      <p:sp>
        <p:nvSpPr>
          <p:cNvPr id="21" name="Text 19"/>
          <p:cNvSpPr/>
          <p:nvPr/>
        </p:nvSpPr>
        <p:spPr>
          <a:xfrm>
            <a:off x="7726680" y="1234440"/>
            <a:ext cx="3401568" cy="338328"/>
          </a:xfrm>
          <a:prstGeom prst="rect">
            <a:avLst/>
          </a:prstGeom>
          <a:noFill/>
          <a:ln/>
        </p:spPr>
        <p:txBody>
          <a:bodyPr wrap="square" lIns="0" tIns="0" rIns="0" bIns="0" rtlCol="0" anchor="ctr">
            <a:normAutofit/>
          </a:bodyPr>
          <a:lstStyle/>
          <a:p>
            <a:pPr algn="ctr" indent="0" marL="0">
              <a:buNone/>
            </a:pPr>
            <a:r>
              <a:rPr lang="en-US" sz="1600" b="1" dirty="0">
                <a:solidFill>
                  <a:srgbClr val="132524"/>
                </a:solidFill>
                <a:latin typeface="Aptos" pitchFamily="34" charset="0"/>
                <a:ea typeface="Aptos" pitchFamily="34" charset="-122"/>
                <a:cs typeface="Aptos" pitchFamily="34" charset="-120"/>
              </a:rPr>
              <a:t>Open the live command center</a:t>
            </a:r>
            <a:endParaRPr lang="en-US" sz="1600" dirty="0"/>
          </a:p>
        </p:txBody>
      </p:sp>
      <p:pic>
        <p:nvPicPr>
          <p:cNvPr id="22" name="Image 0" descr="QR code opening the Farms for Food live demo">
            <a:hlinkClick r:id="rId2" tooltip=""/>
          </p:cNvPr>
          <p:cNvPicPr>
            <a:picLocks noChangeAspect="1"/>
          </p:cNvPicPr>
          <p:nvPr/>
        </p:nvPicPr>
        <p:blipFill>
          <a:blip r:embed="rId1"/>
          <a:stretch>
            <a:fillRect/>
          </a:stretch>
        </p:blipFill>
        <p:spPr>
          <a:xfrm>
            <a:off x="8430768" y="1810512"/>
            <a:ext cx="1993392" cy="1993392"/>
          </a:xfrm>
          <a:prstGeom prst="rect">
            <a:avLst/>
          </a:prstGeom>
        </p:spPr>
      </p:pic>
      <p:sp>
        <p:nvSpPr>
          <p:cNvPr id="23" name="Text 20">
            <a:hlinkClick r:id="rId3" tooltip=""/>
          </p:cNvPr>
          <p:cNvSpPr/>
          <p:nvPr/>
        </p:nvSpPr>
        <p:spPr>
          <a:xfrm>
            <a:off x="7726680" y="4041648"/>
            <a:ext cx="3401568" cy="310896"/>
          </a:xfrm>
          <a:prstGeom prst="rect">
            <a:avLst/>
          </a:prstGeom>
          <a:noFill/>
          <a:ln/>
        </p:spPr>
        <p:txBody>
          <a:bodyPr wrap="square" lIns="0" tIns="0" rIns="0" bIns="0" rtlCol="0" anchor="ctr">
            <a:normAutofit/>
          </a:bodyPr>
          <a:lstStyle/>
          <a:p>
            <a:pPr algn="ctr" indent="0" marL="0">
              <a:buNone/>
            </a:pPr>
            <a:r>
              <a:rPr lang="en-US" sz="1250" b="1" u="sng" dirty="0">
                <a:solidFill>
                  <a:srgbClr val="1D6B62"/>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farmsforfood.sebastianalexis.com</a:t>
            </a:r>
            <a:endParaRPr lang="en-US" sz="1250" dirty="0"/>
          </a:p>
        </p:txBody>
      </p:sp>
      <p:sp>
        <p:nvSpPr>
          <p:cNvPr id="24" name="Text 21"/>
          <p:cNvSpPr/>
          <p:nvPr/>
        </p:nvSpPr>
        <p:spPr>
          <a:xfrm>
            <a:off x="7726680" y="4681728"/>
            <a:ext cx="1097280" cy="237744"/>
          </a:xfrm>
          <a:prstGeom prst="rect">
            <a:avLst/>
          </a:prstGeom>
          <a:noFill/>
          <a:ln/>
        </p:spPr>
        <p:txBody>
          <a:bodyPr wrap="square" lIns="0" tIns="0" rIns="0" bIns="0" rtlCol="0" anchor="ctr">
            <a:normAutofit/>
          </a:bodyPr>
          <a:lstStyle/>
          <a:p>
            <a:pPr indent="0" marL="0">
              <a:buNone/>
            </a:pPr>
            <a:r>
              <a:rPr lang="en-US" sz="1000" b="1" dirty="0">
                <a:solidFill>
                  <a:srgbClr val="61706D"/>
                </a:solidFill>
                <a:latin typeface="Aptos" pitchFamily="34" charset="0"/>
                <a:ea typeface="Aptos" pitchFamily="34" charset="-122"/>
                <a:cs typeface="Aptos" pitchFamily="34" charset="-120"/>
              </a:rPr>
              <a:t>Source code</a:t>
            </a:r>
            <a:endParaRPr lang="en-US" sz="1000" dirty="0"/>
          </a:p>
        </p:txBody>
      </p:sp>
      <p:sp>
        <p:nvSpPr>
          <p:cNvPr id="25" name="Text 22">
            <a:hlinkClick r:id="rId4" tooltip=""/>
          </p:cNvPr>
          <p:cNvSpPr/>
          <p:nvPr/>
        </p:nvSpPr>
        <p:spPr>
          <a:xfrm>
            <a:off x="8759952" y="4654296"/>
            <a:ext cx="2331720" cy="274320"/>
          </a:xfrm>
          <a:prstGeom prst="rect">
            <a:avLst/>
          </a:prstGeom>
          <a:noFill/>
          <a:ln/>
        </p:spPr>
        <p:txBody>
          <a:bodyPr wrap="square" lIns="0" tIns="0" rIns="0" bIns="0" rtlCol="0" anchor="ctr">
            <a:normAutofit/>
          </a:bodyPr>
          <a:lstStyle/>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Open repository on GitHub</a:t>
            </a:r>
            <a:endParaRPr lang="en-US" sz="1020" dirty="0"/>
          </a:p>
        </p:txBody>
      </p:sp>
      <p:sp>
        <p:nvSpPr>
          <p:cNvPr id="26" name="Shape 23"/>
          <p:cNvSpPr/>
          <p:nvPr/>
        </p:nvSpPr>
        <p:spPr>
          <a:xfrm>
            <a:off x="7726680" y="5532120"/>
            <a:ext cx="2286000" cy="274320"/>
          </a:xfrm>
          <a:prstGeom prst="roundRect">
            <a:avLst/>
          </a:prstGeom>
          <a:solidFill>
            <a:srgbClr val="1D6B62"/>
          </a:solidFill>
          <a:ln w="12700">
            <a:solidFill>
              <a:srgbClr val="1D6B62"/>
            </a:solidFill>
            <a:prstDash val="solid"/>
          </a:ln>
        </p:spPr>
      </p:sp>
      <p:sp>
        <p:nvSpPr>
          <p:cNvPr id="27" name="Text 24"/>
          <p:cNvSpPr/>
          <p:nvPr/>
        </p:nvSpPr>
        <p:spPr>
          <a:xfrm>
            <a:off x="7799832" y="5559552"/>
            <a:ext cx="213969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FEEDS · SYNTHETIC OPS</a:t>
            </a:r>
            <a:endParaRPr lang="en-US" sz="900" dirty="0"/>
          </a:p>
        </p:txBody>
      </p:sp>
      <p:sp>
        <p:nvSpPr>
          <p:cNvPr id="28" name="Text 25"/>
          <p:cNvSpPr/>
          <p:nvPr/>
        </p:nvSpPr>
        <p:spPr>
          <a:xfrm>
            <a:off x="10168128" y="5522976"/>
            <a:ext cx="1024128" cy="283464"/>
          </a:xfrm>
          <a:prstGeom prst="rect">
            <a:avLst/>
          </a:prstGeom>
          <a:noFill/>
          <a:ln/>
        </p:spPr>
        <p:txBody>
          <a:bodyPr wrap="square" lIns="0" tIns="0" rIns="0" bIns="0" rtlCol="0" anchor="ctr">
            <a:normAutofit/>
          </a:bodyPr>
          <a:lstStyle/>
          <a:p>
            <a:pPr indent="0" marL="0">
              <a:buNone/>
            </a:pPr>
            <a:r>
              <a:rPr lang="en-US" sz="920" dirty="0">
                <a:solidFill>
                  <a:srgbClr val="61706D"/>
                </a:solidFill>
                <a:latin typeface="Aptos" pitchFamily="34" charset="0"/>
                <a:ea typeface="Aptos" pitchFamily="34" charset="-122"/>
                <a:cs typeface="Aptos" pitchFamily="34" charset="-120"/>
              </a:rPr>
              <a:t>Human gate required.</a:t>
            </a:r>
            <a:endParaRPr lang="en-US" sz="920" dirty="0"/>
          </a:p>
        </p:txBody>
      </p:sp>
      <p:sp>
        <p:nvSpPr>
          <p:cNvPr id="29" name="Text 26"/>
          <p:cNvSpPr/>
          <p:nvPr/>
        </p:nvSpPr>
        <p:spPr>
          <a:xfrm>
            <a:off x="658368" y="6345936"/>
            <a:ext cx="6080760" cy="228600"/>
          </a:xfrm>
          <a:prstGeom prst="rect">
            <a:avLst/>
          </a:prstGeom>
          <a:noFill/>
          <a:ln/>
        </p:spPr>
        <p:txBody>
          <a:bodyPr wrap="square" lIns="0" tIns="0" rIns="0" bIns="0" rtlCol="0" anchor="ctr">
            <a:normAutofit/>
          </a:bodyPr>
          <a:lstStyle/>
          <a:p>
            <a:pPr indent="0" marL="0">
              <a:buNone/>
            </a:pPr>
            <a:r>
              <a:rPr lang="en-US" sz="900" b="1" dirty="0">
                <a:solidFill>
                  <a:srgbClr val="78B7A9"/>
                </a:solidFill>
                <a:latin typeface="Aptos" pitchFamily="34" charset="0"/>
                <a:ea typeface="Aptos" pitchFamily="34" charset="-122"/>
                <a:cs typeface="Aptos" pitchFamily="34" charset="-120"/>
              </a:rPr>
              <a:t>Sources: </a:t>
            </a:r>
            <a:pPr indent="0" marL="0">
              <a:buNone/>
            </a:pPr>
            <a:r>
              <a:rPr lang="en-US" sz="900" u="sng" dirty="0">
                <a:solidFill>
                  <a:srgbClr val="FFFDF8"/>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openFDA</a:t>
            </a:r>
            <a:pPr indent="0" marL="0">
              <a:buNone/>
            </a:pPr>
            <a:r>
              <a:rPr lang="en-US" sz="900" dirty="0">
                <a:solidFill>
                  <a:srgbClr val="48635E"/>
                </a:solidFill>
                <a:latin typeface="Aptos" pitchFamily="34" charset="0"/>
                <a:ea typeface="Aptos" pitchFamily="34" charset="-122"/>
                <a:cs typeface="Aptos" pitchFamily="34" charset="-120"/>
              </a:rPr>
              <a:t>  |  </a:t>
            </a:r>
            <a:pPr indent="0" marL="0">
              <a:buNone/>
            </a:pPr>
            <a:r>
              <a:rPr lang="en-US" sz="900" u="sng" dirty="0">
                <a:solidFill>
                  <a:srgbClr val="FFFDF8"/>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FSIS</a:t>
            </a:r>
            <a:pPr indent="0" marL="0">
              <a:buNone/>
            </a:pPr>
            <a:r>
              <a:rPr lang="en-US" sz="900" dirty="0">
                <a:solidFill>
                  <a:srgbClr val="48635E"/>
                </a:solidFill>
                <a:latin typeface="Aptos" pitchFamily="34" charset="0"/>
                <a:ea typeface="Aptos" pitchFamily="34" charset="-122"/>
                <a:cs typeface="Aptos" pitchFamily="34" charset="-120"/>
              </a:rPr>
              <a:t>  |  </a:t>
            </a:r>
            <a:pPr indent="0" marL="0">
              <a:buNone/>
            </a:pPr>
            <a:r>
              <a:rPr lang="en-US" sz="900" u="sng" dirty="0">
                <a:solidFill>
                  <a:srgbClr val="FFFDF8"/>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CDC/FDA</a:t>
            </a:r>
            <a:pPr indent="0" marL="0">
              <a:buNone/>
            </a:pPr>
            <a:r>
              <a:rPr lang="en-US" sz="900" dirty="0">
                <a:solidFill>
                  <a:srgbClr val="48635E"/>
                </a:solidFill>
                <a:latin typeface="Aptos" pitchFamily="34" charset="0"/>
                <a:ea typeface="Aptos" pitchFamily="34" charset="-122"/>
                <a:cs typeface="Aptos" pitchFamily="34" charset="-120"/>
              </a:rPr>
              <a:t>  |  </a:t>
            </a:r>
            <a:pPr indent="0" marL="0">
              <a:buNone/>
            </a:pPr>
            <a:r>
              <a:rPr lang="en-US" sz="900" u="sng" dirty="0">
                <a:solidFill>
                  <a:srgbClr val="FFFDF8"/>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SF-Marin</a:t>
            </a:r>
            <a:pPr indent="0" marL="0">
              <a:buNone/>
            </a:pPr>
            <a:r>
              <a:rPr lang="en-US" sz="900" dirty="0">
                <a:solidFill>
                  <a:srgbClr val="48635E"/>
                </a:solidFill>
                <a:latin typeface="Aptos" pitchFamily="34" charset="0"/>
                <a:ea typeface="Aptos" pitchFamily="34" charset="-122"/>
                <a:cs typeface="Aptos" pitchFamily="34" charset="-120"/>
              </a:rPr>
              <a:t>  |  </a:t>
            </a:r>
            <a:pPr indent="0" marL="0">
              <a:buNone/>
            </a:pPr>
            <a:r>
              <a:rPr lang="en-US" sz="900" u="sng" dirty="0">
                <a:solidFill>
                  <a:srgbClr val="FFFDF8"/>
                </a:solidFill>
                <a:latin typeface="Aptos" pitchFamily="34" charset="0"/>
                <a:ea typeface="Aptos" pitchFamily="34" charset="-122"/>
                <a:cs typeface="Aptos" pitchFamily="34" charset="-120"/>
                <a:hlinkClick r:id="rId9" invalidUrl="" action="" tgtFrame="" tooltip="" history="1" highlightClick="0" endSnd="0">
                  <a:extLst>
                    <a:ext uri="{A12FA001-AC4F-418D-AE19-62706E023703}">
                      <ahyp:hlinkClr xmlns:ahyp="http://schemas.microsoft.com/office/drawing/2018/hyperlinkcolor" val="tx"/>
                    </a:ext>
                  </a:extLst>
                </a:hlinkClick>
              </a:rPr>
              <a:t>RI Food Bank</a:t>
            </a:r>
            <a:endParaRPr lang="en-US" sz="900" dirty="0"/>
          </a:p>
        </p:txBody>
      </p:sp>
      <p:sp>
        <p:nvSpPr>
          <p:cNvPr id="30" name="Text 27"/>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Farms for Food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Farms for Food — recall response command center</dc:title>
  <dc:subject>Human-approved food-bank recall response and recovery planning</dc:subject>
  <dc:creator>Farms for Food</dc:creator>
  <cp:lastModifiedBy>Farms for Food</cp:lastModifiedBy>
  <cp:revision>1</cp:revision>
  <dcterms:created xsi:type="dcterms:W3CDTF">2026-07-17T15:49:55Z</dcterms:created>
  <dcterms:modified xsi:type="dcterms:W3CDTF">2026-07-17T15:49:55Z</dcterms:modified>
</cp:coreProperties>
</file>